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1a9c40804394171" /><Relationship Type="http://schemas.openxmlformats.org/officeDocument/2006/relationships/extended-properties" Target="/docProps/app.xml" Id="R220efd5c19434663" /><Relationship Type="http://schemas.openxmlformats.org/officeDocument/2006/relationships/officeDocument" Target="/ppt/presentation.xml" Id="Rd3915df90f904cad" /></Relationships>
</file>

<file path=ppt/presentation.xml><?xml version="1.0" encoding="utf-8"?>
<p:presentation xmlns:p="http://schemas.openxmlformats.org/presentationml/2006/main">
  <p:sldMasterIdLst>
    <p:sldMasterId xmlns:r="http://schemas.openxmlformats.org/officeDocument/2006/relationships" id="2147483648" r:id="Rcec8854de1914692"/>
  </p:sldMasterIdLst>
  <p:notesMasterIdLst>
    <p:notesMasterId xmlns:r="http://schemas.openxmlformats.org/officeDocument/2006/relationships" r:id="R624481f59ec742ed"/>
  </p:notesMasterIdLst>
  <p:sldIdLst>
    <p:sldId xmlns:r="http://schemas.openxmlformats.org/officeDocument/2006/relationships" id="256" r:id="R49eee3e5b13643f3"/>
    <p:sldId xmlns:r="http://schemas.openxmlformats.org/officeDocument/2006/relationships" id="257" r:id="Rbfd12ccf77e34e74"/>
    <p:sldId xmlns:r="http://schemas.openxmlformats.org/officeDocument/2006/relationships" id="258" r:id="R81fc1aeba8084e43"/>
    <p:sldId xmlns:r="http://schemas.openxmlformats.org/officeDocument/2006/relationships" id="259" r:id="R9711b8b2661945c9"/>
    <p:sldId xmlns:r="http://schemas.openxmlformats.org/officeDocument/2006/relationships" id="260" r:id="R286ddf096b8a452c"/>
    <p:sldId xmlns:r="http://schemas.openxmlformats.org/officeDocument/2006/relationships" id="261" r:id="Re8c14e116ed44505"/>
    <p:sldId xmlns:r="http://schemas.openxmlformats.org/officeDocument/2006/relationships" id="262" r:id="Rabbc4965cb1645aa"/>
    <p:sldId xmlns:r="http://schemas.openxmlformats.org/officeDocument/2006/relationships" id="263" r:id="R588757bfbad34f06"/>
    <p:sldId xmlns:r="http://schemas.openxmlformats.org/officeDocument/2006/relationships" id="264" r:id="R2a13e2f95a1447a7"/>
    <p:sldId xmlns:r="http://schemas.openxmlformats.org/officeDocument/2006/relationships" id="265" r:id="R4d215673ece34fdf"/>
    <p:sldId xmlns:r="http://schemas.openxmlformats.org/officeDocument/2006/relationships" id="266" r:id="Rb36bef5e4e194188"/>
    <p:sldId xmlns:r="http://schemas.openxmlformats.org/officeDocument/2006/relationships" id="267" r:id="Rf08365daf79c4967"/>
    <p:sldId xmlns:r="http://schemas.openxmlformats.org/officeDocument/2006/relationships" id="268" r:id="Rfc447303aa244071"/>
    <p:sldId xmlns:r="http://schemas.openxmlformats.org/officeDocument/2006/relationships" id="269" r:id="Rec282eb5f7b742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34ce1d0ac3449b" /><Relationship Type="http://schemas.openxmlformats.org/officeDocument/2006/relationships/slideMaster" Target="/ppt/slideMasters/slideMaster1.xml" Id="Rcec8854de1914692" /><Relationship Type="http://schemas.openxmlformats.org/officeDocument/2006/relationships/notesMaster" Target="/ppt/notesMasters/notesMaster1.xml" Id="R624481f59ec742ed" /><Relationship Type="http://schemas.openxmlformats.org/officeDocument/2006/relationships/presProps" Target="/ppt/presProps.xml" Id="R839d750d61e5455f" /><Relationship Type="http://schemas.openxmlformats.org/officeDocument/2006/relationships/tableStyles" Target="/ppt/tableStyles.xml" Id="Rd50aa2783519436a" /><Relationship Type="http://schemas.openxmlformats.org/officeDocument/2006/relationships/slide" Target="/ppt/slides/slide1.xml" Id="R49eee3e5b13643f3" /><Relationship Type="http://schemas.openxmlformats.org/officeDocument/2006/relationships/slide" Target="/ppt/slides/slide2.xml" Id="Rbfd12ccf77e34e74" /><Relationship Type="http://schemas.openxmlformats.org/officeDocument/2006/relationships/slide" Target="/ppt/slides/slide3.xml" Id="R81fc1aeba8084e43" /><Relationship Type="http://schemas.openxmlformats.org/officeDocument/2006/relationships/slide" Target="/ppt/slides/slide4.xml" Id="R9711b8b2661945c9" /><Relationship Type="http://schemas.openxmlformats.org/officeDocument/2006/relationships/slide" Target="/ppt/slides/slide5.xml" Id="R286ddf096b8a452c" /><Relationship Type="http://schemas.openxmlformats.org/officeDocument/2006/relationships/slide" Target="/ppt/slides/slide6.xml" Id="Re8c14e116ed44505" /><Relationship Type="http://schemas.openxmlformats.org/officeDocument/2006/relationships/slide" Target="/ppt/slides/slide7.xml" Id="Rabbc4965cb1645aa" /><Relationship Type="http://schemas.openxmlformats.org/officeDocument/2006/relationships/slide" Target="/ppt/slides/slide8.xml" Id="R588757bfbad34f06" /><Relationship Type="http://schemas.openxmlformats.org/officeDocument/2006/relationships/slide" Target="/ppt/slides/slide9.xml" Id="R2a13e2f95a1447a7" /><Relationship Type="http://schemas.openxmlformats.org/officeDocument/2006/relationships/slide" Target="/ppt/slides/slide10.xml" Id="R4d215673ece34fdf" /><Relationship Type="http://schemas.openxmlformats.org/officeDocument/2006/relationships/slide" Target="/ppt/slides/slide11.xml" Id="Rb36bef5e4e194188" /><Relationship Type="http://schemas.openxmlformats.org/officeDocument/2006/relationships/slide" Target="/ppt/slides/slide12.xml" Id="Rf08365daf79c4967" /><Relationship Type="http://schemas.openxmlformats.org/officeDocument/2006/relationships/slide" Target="/ppt/slides/slide13.xml" Id="Rfc447303aa244071" /><Relationship Type="http://schemas.openxmlformats.org/officeDocument/2006/relationships/slide" Target="/ppt/slides/slide14.xml" Id="Rec282eb5f7b742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cc96c715c343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b52132c19b4c82" /><Relationship Type="http://schemas.openxmlformats.org/officeDocument/2006/relationships/notesMaster" Target="/ppt/notesMasters/notesMaster1.xml" Id="Rf45b6d56a8c940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43d15c48d24c4a" /><Relationship Type="http://schemas.openxmlformats.org/officeDocument/2006/relationships/notesMaster" Target="/ppt/notesMasters/notesMaster1.xml" Id="R85306b91de3340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0f997c3beb4847" /><Relationship Type="http://schemas.openxmlformats.org/officeDocument/2006/relationships/notesMaster" Target="/ppt/notesMasters/notesMaster1.xml" Id="Rfa4bbf7740924d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2f24d17ea2418e" /><Relationship Type="http://schemas.openxmlformats.org/officeDocument/2006/relationships/notesMaster" Target="/ppt/notesMasters/notesMaster1.xml" Id="Re34bbf6308be48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9a9cceb58a4991" /><Relationship Type="http://schemas.openxmlformats.org/officeDocument/2006/relationships/notesMaster" Target="/ppt/notesMasters/notesMaster1.xml" Id="R19a1bf6e4ce94b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43061c89a14eff" /><Relationship Type="http://schemas.openxmlformats.org/officeDocument/2006/relationships/notesMaster" Target="/ppt/notesMasters/notesMaster1.xml" Id="Re4a481b93c2842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3a0be65ba94e16" /><Relationship Type="http://schemas.openxmlformats.org/officeDocument/2006/relationships/notesMaster" Target="/ppt/notesMasters/notesMaster1.xml" Id="R8de9357a34494d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6bdb0e61594c68" /><Relationship Type="http://schemas.openxmlformats.org/officeDocument/2006/relationships/notesMaster" Target="/ppt/notesMasters/notesMaster1.xml" Id="R1de2b6c1da6243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e77bcd2a1a4d8f" /><Relationship Type="http://schemas.openxmlformats.org/officeDocument/2006/relationships/notesMaster" Target="/ppt/notesMasters/notesMaster1.xml" Id="Rf7a6a9fd9def47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07b8fe5b514aeb" /><Relationship Type="http://schemas.openxmlformats.org/officeDocument/2006/relationships/notesMaster" Target="/ppt/notesMasters/notesMaster1.xml" Id="Rc24e7d37084349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3b96479f024ec9" /><Relationship Type="http://schemas.openxmlformats.org/officeDocument/2006/relationships/notesMaster" Target="/ppt/notesMasters/notesMaster1.xml" Id="Rd16baa85c69d4d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6c1cc634fa4af4" /><Relationship Type="http://schemas.openxmlformats.org/officeDocument/2006/relationships/notesMaster" Target="/ppt/notesMasters/notesMaster1.xml" Id="R5b18b2af326e42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0b8dc536044c40" /><Relationship Type="http://schemas.openxmlformats.org/officeDocument/2006/relationships/notesMaster" Target="/ppt/notesMasters/notesMaster1.xml" Id="R4f46ead2863546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527fa7a76b4563" /><Relationship Type="http://schemas.openxmlformats.org/officeDocument/2006/relationships/notesMaster" Target="/ppt/notesMasters/notesMaster1.xml" Id="Rb98ecce7040a49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Franco</a:t>
            </a:r>
          </a:p>
          <a:p xmlns:a="http://schemas.openxmlformats.org/drawingml/2006/main">
            <a:r>
              <a:t>TIEMPO: 25 segundos</a:t>
            </a:r>
          </a:p>
          <a:p xmlns:a="http://schemas.openxmlformats.org/drawingml/2006/main">
            <a:r>
              <a:t/>
            </a:r>
          </a:p>
          <a:p xmlns:a="http://schemas.openxmlformats.org/drawingml/2006/main">
            <a:r>
              <a:t>GUION</a:t>
            </a:r>
          </a:p>
          <a:p xmlns:a="http://schemas.openxmlformats.org/drawingml/2006/main">
            <a:r>
              <a:t>Somos Franco Roque Castillo y Granit Espinoza Salazar, del Grupo 5. Presentamos las pruebas del Caso 3, OpenCart. Evaluamos el flujo comercial y su relación con el panel administrativo. Explicaremos cómo priorizamos, qué evidencias obtuvimos y qué impide recomendar el sistema para producción.</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Portada y sección 1.</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Franco</a:t>
            </a:r>
          </a:p>
          <a:p xmlns:a="http://schemas.openxmlformats.org/drawingml/2006/main">
            <a:r>
              <a:t>TIEMPO: 45 segundos</a:t>
            </a:r>
          </a:p>
          <a:p xmlns:a="http://schemas.openxmlformats.org/drawingml/2006/main">
            <a:r>
              <a:t/>
            </a:r>
          </a:p>
          <a:p xmlns:a="http://schemas.openxmlformats.org/drawingml/2006/main">
            <a:r>
              <a:t>GUION</a:t>
            </a:r>
          </a:p>
          <a:p xmlns:a="http://schemas.openxmlformats.org/drawingml/2006/main">
            <a:r>
              <a:t>El alcance integra ocho funcionalidades y tres requisitos no funcionales. Diseñamos 18 casos para 11 requisitos y 26 condiciones. El nivel principal es sistema, sobre el demo desplegado. La integración se observa desde la interfaz, sin afirmar cobertura de APIs o código. Estimamos 24 horas entre ambos, incluida reserva por bloqueos. Antes de cada caso verificamos acceso, datos y permisos. Si falta una precondición, suspendemos ese caso y continuamos los independientes. Excluimos pagos reales, carga y modificación del código.</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Secciones 1.2 a 1.5 y 2.</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Franco</a:t>
            </a:r>
          </a:p>
          <a:p xmlns:a="http://schemas.openxmlformats.org/drawingml/2006/main">
            <a:r>
              <a:t>TIEMPO: 55 segundos</a:t>
            </a:r>
          </a:p>
          <a:p xmlns:a="http://schemas.openxmlformats.org/drawingml/2006/main">
            <a:r>
              <a:t/>
            </a:r>
          </a:p>
          <a:p xmlns:a="http://schemas.openxmlformats.org/drawingml/2006/main">
            <a:r>
              <a:t>GUION</a:t>
            </a:r>
          </a:p>
          <a:p xmlns:a="http://schemas.openxmlformats.org/drawingml/2006/main">
            <a:r>
              <a:t>Priorizamos el dinero, el inventario, los descuentos y la compra. La exposición combina probabilidad e impacto en una escala de uno a tres. Valores de seis a nueve son Alta. Para el riesgo monetario R03 asignamos tres por tres, nueve. La tabla muestra una cadena completa: el requisito pide recalcular el total, la condición exige coherencia monetaria y el caso cambia un iPod Nano de una a dos unidades. El resultado originó DEF-01. Esta relación permite justificar la prioridad y volver a la evidencia. Cubrir el requisito en diseño no significa que haya pasado.</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Sección 2, riesgo R03 y DEF-01.</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Franco</a:t>
            </a:r>
          </a:p>
          <a:p xmlns:a="http://schemas.openxmlformats.org/drawingml/2006/main">
            <a:r>
              <a:t>TIEMPO: 55 segundos</a:t>
            </a:r>
          </a:p>
          <a:p xmlns:a="http://schemas.openxmlformats.org/drawingml/2006/main">
            <a:r>
              <a:t/>
            </a:r>
          </a:p>
          <a:p xmlns:a="http://schemas.openxmlformats.org/drawingml/2006/main">
            <a:r>
              <a:t>GUION</a:t>
            </a:r>
          </a:p>
          <a:p xmlns:a="http://schemas.openxmlformats.org/drawingml/2006/main">
            <a:r>
              <a:t>Elegimos la técnica según el comportamiento. Partición de equivalencia permite representar opciones presentes y ausentes. Los límites prueban cero y uno, además del stock disponible y una unidad más. La tabla de decisión combina vigencia, elegibilidad y repetición del cupón. La transición de estados ayuda a comprobar si repetir una confirmación duplica una orden. Los casos de uso recorren la compra y su consulta administrativa. Las técnicas justifican el diseño. Algunas pruebas quedaron bloqueadas, por lo que no afirmamos que todas estas reglas se hayan verificado.</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Sección 3, CP-PRO-01, CP-CAR-02, CP-CUP-02, CP-CON-02 y CP-PED-01.</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Franco</a:t>
            </a:r>
          </a:p>
          <a:p xmlns:a="http://schemas.openxmlformats.org/drawingml/2006/main">
            <a:r>
              <a:t>TIEMPO: 55 segundos</a:t>
            </a:r>
          </a:p>
          <a:p xmlns:a="http://schemas.openxmlformats.org/drawingml/2006/main">
            <a:r>
              <a:t/>
            </a:r>
          </a:p>
          <a:p xmlns:a="http://schemas.openxmlformats.org/drawingml/2006/main">
            <a:r>
              <a:t>GUION</a:t>
            </a:r>
          </a:p>
          <a:p xmlns:a="http://schemas.openxmlformats.org/drawingml/2006/main">
            <a:r>
              <a:t>El orden por precio pasó en ambos sentidos para el mismo conjunto de 12 productos. En producto, aislamos la omisión de una opción obligatoria: Canon mostró Select required y no añadió el producto. La captura corresponde a esa validación. En cambio, el caso positivo de opciones y ajuste de precio quedó bloqueado: tres candidatos no permitían completar sus opciones. En cupones, los tres códigos leídos estaban deshabilitados y vencidos. Rechazamos códigos inexistentes y vencidos, pero eso no basta para aprobar un caso que también exige elegibilidad y duplicación con un cupón válido.</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Secciones 4.2 y 4.3. informe/evidencias/franco-20260925/CP-PRO-01_resultado_20260925.png</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Franco</a:t>
            </a:r>
          </a:p>
          <a:p xmlns:a="http://schemas.openxmlformats.org/drawingml/2006/main">
            <a:r>
              <a:t>TIEMPO: 75 segundos</a:t>
            </a:r>
          </a:p>
          <a:p xmlns:a="http://schemas.openxmlformats.org/drawingml/2006/main">
            <a:r>
              <a:t/>
            </a:r>
          </a:p>
          <a:p xmlns:a="http://schemas.openxmlformats.org/drawingml/2006/main">
            <a:r>
              <a:t>GUION</a:t>
            </a:r>
          </a:p>
          <a:p xmlns:a="http://schemas.openxmlformats.org/drawingml/2006/main">
            <a:r>
              <a:t>Añadimos un iPod Nano y actualizamos la cantidad a dos. Con una unidad, precio y línea mostraban 122 dólares. Con dos, el precio unitario se mantuvo en 122, la línea mostró 242 y el total general 244. El resultado esperado para la línea era 244 bajo la misma base fiscal. La captura permite ver todos los importes. La severidad y prioridad propuestas son Altas por el impacto monetario. El comportamiento se reprodujo el 25 de septiembre. Una tasa fija como Eco Tax podría intervenir, pero es una hipótesis: no inspeccionamos código ni confirmamos la causa raíz. El defecto permanece abierto.</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Sección 4.5, DEF-01. informe/evidencias/franco-20260925/CP-CAR-01_qty2_20260925.png</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Franco</a:t>
            </a:r>
          </a:p>
          <a:p xmlns:a="http://schemas.openxmlformats.org/drawingml/2006/main">
            <a:r>
              <a:t>TIEMPO: 50 segundos</a:t>
            </a:r>
          </a:p>
          <a:p xmlns:a="http://schemas.openxmlformats.org/drawingml/2006/main">
            <a:r>
              <a:t/>
            </a:r>
          </a:p>
          <a:p xmlns:a="http://schemas.openxmlformats.org/drawingml/2006/main">
            <a:r>
              <a:t>GUION</a:t>
            </a:r>
          </a:p>
          <a:p xmlns:a="http://schemas.openxmlformats.org/drawingml/2006/main">
            <a:r>
              <a:t>CP-CAR-02 pasó para integridad de cantidades y frontera de stock. Con stock observado de 147, esa cantidad no presentó la señal de insuficiencia. Con 148 apareció la marca de falta de stock y el intento de checkout devolvió al carrito. Cero, negativo y texto retiraron la línea; decimal y vacío se normalizaron a uno. Registramos la falta de mensaje específico como observación de usabilidad. Este resultado no demuestra que el cálculo monetario sea correcto ni que se completara una compra. Mis siete casos Alta cierran con tres Pasó, uno Falló y tres Bloqueados. Granit explicará ahora checkout y sus dependencias.</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Secciones 4.2 y 4.3, CP-CAR-02. informe/evidencias/franco-20260925/CP-CAR-02_stockSmas1_20260925.png</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Granit</a:t>
            </a:r>
          </a:p>
          <a:p xmlns:a="http://schemas.openxmlformats.org/drawingml/2006/main">
            <a:r>
              <a:t>TIEMPO: 65 segundos</a:t>
            </a:r>
          </a:p>
          <a:p xmlns:a="http://schemas.openxmlformats.org/drawingml/2006/main">
            <a:r>
              <a:t/>
            </a:r>
          </a:p>
          <a:p xmlns:a="http://schemas.openxmlformats.org/drawingml/2006/main">
            <a:r>
              <a:t>GUION</a:t>
            </a:r>
          </a:p>
          <a:p xmlns:a="http://schemas.openxmlformats.org/drawingml/2006/main">
            <a:r>
              <a:t>En checkout, el formulario identificó el apellido vacío y guardó los datos válidos del invitado. Al elegir el método de pago, mostró No Payment options are available. La confirmación quedó deshabilitada y CP-CHK-01 falló. El fallo tiene severidad Crítica para este recorrido y prioridad propuesta Alta. La captura histórica de Cash on Delivery habilitado en All Zones no demuestra que se cumplan todas las reglas de aplicabilidad. Debe investigarse la configuración. Nuestra conclusión se limita al recorrido y datos ensayados. Al no generar una orden propia, varios casos dependientes no pudieron completarse.</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Secciones 4.2 y 4.5, DEF-04. informe/evidencias/franco-20260925/CP-CHK-01_sin-pago_20260925.png</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Granit</a:t>
            </a:r>
          </a:p>
          <a:p xmlns:a="http://schemas.openxmlformats.org/drawingml/2006/main">
            <a:r>
              <a:t>TIEMPO: 55 segundos</a:t>
            </a:r>
          </a:p>
          <a:p xmlns:a="http://schemas.openxmlformats.org/drawingml/2006/main">
            <a:r>
              <a:t/>
            </a:r>
          </a:p>
          <a:p xmlns:a="http://schemas.openxmlformats.org/drawingml/2006/main">
            <a:r>
              <a:t>GUION</a:t>
            </a:r>
          </a:p>
          <a:p xmlns:a="http://schemas.openxmlformats.org/drawingml/2006/main">
            <a:r>
              <a:t>Cuatro casos dependen de una orden propia: confirmación y resumen, prevención de duplicados, consulta en pedidos y sincronización desde el sitio público. Todos quedaron bloqueados tras la falta de pago. La modificación administrativa se bloqueó por permisos de guardado. Rendimiento se bloqueó por falta de mediciones instrumentales verificables. Su protocolo exige 18 muestras, separando navegación fría y cálida, y carga completa inferior a dos segundos. No presentamos la antigua cifra de 1932 milisegundos como aprobación. En mi bloque hay un fallo y seis bloqueos entre los siete Alta. Compatibilidad Media quedó diseñada, sin ejecución actual.</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Secciones 3, CP-RNF-03, 4.2 y 4.4.</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Granit</a:t>
            </a:r>
          </a:p>
          <a:p xmlns:a="http://schemas.openxmlformats.org/drawingml/2006/main">
            <a:r>
              <a:t>TIEMPO: 60 segundos</a:t>
            </a:r>
          </a:p>
          <a:p xmlns:a="http://schemas.openxmlformats.org/drawingml/2006/main">
            <a:r>
              <a:t/>
            </a:r>
          </a:p>
          <a:p xmlns:a="http://schemas.openxmlformats.org/drawingml/2006/main">
            <a:r>
              <a:t>GUION</a:t>
            </a:r>
          </a:p>
          <a:p xmlns:a="http://schemas.openxmlformats.org/drawingml/2006/main">
            <a:r>
              <a:t>Diseñamos 18 casos: 14 Alta y cuatro Media. Los 14 Alta tienen registro, incluidos los nueve bloqueados. De ellos, tres pasaron y dos fallaron. Por eso la ejecución con veredicto concluyente es cinco sobre catorce, 35,7 por ciento. La tasa de aprobación se calcula sobre los concluyentes: tres sobre cinco, 60 por ciento. Los bloqueados son nueve sobre catorce, 64,3 por ciento. No confundimos el cien por ciento de registros con ejecución completa ni con aprobación. Los cuatro Media se diseñaron y no se ejecutaron en esta selección.</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Sección 4.4. Conteos: Pasó=3, Falló=2, Bloqueado=9.</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Granit</a:t>
            </a:r>
          </a:p>
          <a:p xmlns:a="http://schemas.openxmlformats.org/drawingml/2006/main">
            <a:r>
              <a:t>TIEMPO: 45 segundos</a:t>
            </a:r>
          </a:p>
          <a:p xmlns:a="http://schemas.openxmlformats.org/drawingml/2006/main">
            <a:r>
              <a:t/>
            </a:r>
          </a:p>
          <a:p xmlns:a="http://schemas.openxmlformats.org/drawingml/2006/main">
            <a:r>
              <a:t>GUION</a:t>
            </a:r>
          </a:p>
          <a:p xmlns:a="http://schemas.openxmlformats.org/drawingml/2006/main">
            <a:r>
              <a:t>El informe distingue defectos observables y limitaciones del ambiente. DEF-01 continúa abierto y reproducido. DEF-04 está abierto con causa o configuración en análisis. Severidad estima impacto y prioridad propone urgencia, sin atribuir la decisión a un responsable de negocio que no participó. Las opciones vacías, los cupones no vigentes y la normalización silenciosa tienen sus propias observaciones. No convertimos cada impedimento en un defecto de código. Para cerrar un defecto necesitaremos una corrección y una nueva ejecución satisfactoria. La confirmación repite el caso fallido; la regresión revisa funciones relacionadas.</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Sección 4.5, DEF-01, DEF-04, OBS-F01, OBS-F02 y OBS-F03.</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Granit</a:t>
            </a:r>
          </a:p>
          <a:p xmlns:a="http://schemas.openxmlformats.org/drawingml/2006/main">
            <a:r>
              <a:t>TIEMPO: 55 segundos</a:t>
            </a:r>
          </a:p>
          <a:p xmlns:a="http://schemas.openxmlformats.org/drawingml/2006/main">
            <a:r>
              <a:t/>
            </a:r>
          </a:p>
          <a:p xmlns:a="http://schemas.openxmlformats.org/drawingml/2006/main">
            <a:r>
              <a:t>GUION</a:t>
            </a:r>
          </a:p>
          <a:p xmlns:a="http://schemas.openxmlformats.org/drawingml/2006/main">
            <a:r>
              <a:t>Proponemos automatizar según lo observado. Primero CP-CAR-01 por el riesgo monetario, usando cálculos decimales y la misma base fiscal. CP-CAT-02 tiene una comparación repetible de precios. CP-PRO-01 ofrece una validación observable y determinista. CP-CAR-02 es candidato cuando podamos fijar y restaurar el stock, porque 147 no será estable en un demo compartido. Para cupones necesitamos datos vigentes y restaurables. Para pedidos necesitamos pago de prueba y permisos. Esto es una recomendación de automatización futura, no una suite ya implementada. La exploración de configuraciones ambiguas y la claridad de mensajes permanecen manuales.</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Sección 5.2.</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Granit</a:t>
            </a:r>
          </a:p>
          <a:p xmlns:a="http://schemas.openxmlformats.org/drawingml/2006/main">
            <a:r>
              <a:t>TIEMPO: 45 segundos</a:t>
            </a:r>
          </a:p>
          <a:p xmlns:a="http://schemas.openxmlformats.org/drawingml/2006/main">
            <a:r>
              <a:t/>
            </a:r>
          </a:p>
          <a:p xmlns:a="http://schemas.openxmlformats.org/drawingml/2006/main">
            <a:r>
              <a:t>GUION</a:t>
            </a:r>
          </a:p>
          <a:p xmlns:a="http://schemas.openxmlformats.org/drawingml/2006/main">
            <a:r>
              <a:t>El siguiente ciclo empieza por habilitar un ambiente controlado: opciones completas, cupón vigente, pago de prueba, permisos y medición exportable. Luego reejecutaremos los nueve bloqueados y repetiremos los casos fallidos cuando exista corrección. Conservaremos las evidencias anteriores y registraremos cada nueva corrida. Después aplicaremos regresión en carrito, checkout y pedidos, y recalcularemos los indicadores. Esa secuencia evita que un cambio en los datos del demo se confunda con una corrección. No recomendamos afirmar calidad de producción mientras los riesgos Alta permanezcan sin verificar.</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Secciones 1.4 y 5.</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Granit</a:t>
            </a:r>
          </a:p>
          <a:p xmlns:a="http://schemas.openxmlformats.org/drawingml/2006/main">
            <a:r>
              <a:t>TIEMPO: 35 segundos</a:t>
            </a:r>
          </a:p>
          <a:p xmlns:a="http://schemas.openxmlformats.org/drawingml/2006/main">
            <a:r>
              <a:t/>
            </a:r>
          </a:p>
          <a:p xmlns:a="http://schemas.openxmlformats.org/drawingml/2006/main">
            <a:r>
              <a:t>GUION</a:t>
            </a:r>
          </a:p>
          <a:p xmlns:a="http://schemas.openxmlformats.org/drawingml/2006/main">
            <a:r>
              <a:t>Nuestro aporte es un proceso trazable con 18 casos diseñados y resultados documentados para todos los de prioridad Alta. Observamos tres casos que pasaron, dos que fallaron y nueve bloqueados. Los fallos monetarios y de checkout, junto con los riesgos pendientes, impiden recomendar el sistema para producción. El informe deja claro qué probar de nuevo y bajo qué condiciones. Gracias. Estamos listos para sus preguntas. Las preguntas quedan fuera de los doce minutos de exposición acordados.</a:t>
            </a:r>
          </a:p>
          <a:p xmlns:a="http://schemas.openxmlformats.org/drawingml/2006/main">
            <a:r>
              <a:t/>
            </a:r>
          </a:p>
          <a:p xmlns:a="http://schemas.openxmlformats.org/drawingml/2006/main">
            <a:r>
              <a:t>FUENTES</a:t>
            </a:r>
          </a:p>
          <a:p xmlns:a="http://schemas.openxmlformats.org/drawingml/2006/main">
            <a:r>
              <a:t>entrega/Proyecto1_Caso3_Grupo5/Proyecto1_Caso3_Grupo5.pdf</a:t>
            </a:r>
          </a:p>
          <a:p xmlns:a="http://schemas.openxmlformats.org/drawingml/2006/main">
            <a:r>
              <a:t>Secciones 4.4 y 5.1.</a:t>
            </a:r>
          </a:p>
          <a:p xmlns:a="http://schemas.openxmlformats.org/drawingml/2006/main">
            <a:r>
              <a:t>Corte de resultados: 25/09/2026. Presentación basada en el informe final integrado, commit e1f8597.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d4d6f7129b4f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0cfbd693544032" /><Relationship Type="http://schemas.openxmlformats.org/officeDocument/2006/relationships/slideLayout" Target="/ppt/slideLayouts/slideLayout1.xml" Id="R45885e7f0f5f4d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885e7f0f5f4d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a1cd1889024300" /><Relationship Type="http://schemas.openxmlformats.org/officeDocument/2006/relationships/notesSlide" Target="/ppt/notesSlides/notesSlide1.xml" Id="R9bea728ffd5e42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5695eaea424b60" /><Relationship Type="http://schemas.openxmlformats.org/officeDocument/2006/relationships/notesSlide" Target="/ppt/notesSlides/notesSlide2.xml" Id="R03f3ee45123944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6f1ab0bb5341ee" /><Relationship Type="http://schemas.openxmlformats.org/officeDocument/2006/relationships/notesSlide" Target="/ppt/notesSlides/notesSlide3.xml" Id="Rd467d3280a7340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cad178951347c5" /><Relationship Type="http://schemas.openxmlformats.org/officeDocument/2006/relationships/notesSlide" Target="/ppt/notesSlides/notesSlide4.xml" Id="R41973ec3a85945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221c33b667452d" /><Relationship Type="http://schemas.openxmlformats.org/officeDocument/2006/relationships/image" Target="/ppt/media/image.jpeg" Id="R88306d886eba40dd" /><Relationship Type="http://schemas.openxmlformats.org/officeDocument/2006/relationships/notesSlide" Target="/ppt/notesSlides/notesSlide5.xml" Id="Radd8195ef0fd4a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b83bb12f13423c" /><Relationship Type="http://schemas.openxmlformats.org/officeDocument/2006/relationships/image" Target="/ppt/media/image2.jpeg" Id="R8ba33fd7cdc94575" /><Relationship Type="http://schemas.openxmlformats.org/officeDocument/2006/relationships/notesSlide" Target="/ppt/notesSlides/notesSlide6.xml" Id="R9efb15fd378246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2538dcd8e14d09" /><Relationship Type="http://schemas.openxmlformats.org/officeDocument/2006/relationships/image" Target="/ppt/media/image3.jpeg" Id="Rea8ca5d636b14f15" /><Relationship Type="http://schemas.openxmlformats.org/officeDocument/2006/relationships/notesSlide" Target="/ppt/notesSlides/notesSlide7.xml" Id="Rad083cef2bfb41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66b8a3b5fc49b7" /><Relationship Type="http://schemas.openxmlformats.org/officeDocument/2006/relationships/image" Target="/ppt/media/image4.jpeg" Id="R0be227c4f2274c2d" /><Relationship Type="http://schemas.openxmlformats.org/officeDocument/2006/relationships/notesSlide" Target="/ppt/notesSlides/notesSlide8.xml" Id="Ra8335795cc0648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bc06dbbdc44003" /><Relationship Type="http://schemas.openxmlformats.org/officeDocument/2006/relationships/notesSlide" Target="/ppt/notesSlides/notesSlide9.xml" Id="R7ed78f66040940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d307a47a404707" /><Relationship Type="http://schemas.openxmlformats.org/officeDocument/2006/relationships/chart" Target="/ppt/slides/charts/chart1.xml" Id="Re988239d45a7424f" /><Relationship Type="http://schemas.openxmlformats.org/officeDocument/2006/relationships/notesSlide" Target="/ppt/notesSlides/notesSlide10.xml" Id="Ra8d5a072249540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7a528d9724d4ff0" /><Relationship Type="http://schemas.openxmlformats.org/officeDocument/2006/relationships/notesSlide" Target="/ppt/notesSlides/notesSlide11.xml" Id="R6dab58302c3a4d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980aa9b7b344c0" /><Relationship Type="http://schemas.openxmlformats.org/officeDocument/2006/relationships/notesSlide" Target="/ppt/notesSlides/notesSlide12.xml" Id="Rd4c4f299e6c541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d6d61982154244" /><Relationship Type="http://schemas.openxmlformats.org/officeDocument/2006/relationships/notesSlide" Target="/ppt/notesSlides/notesSlide13.xml" Id="Rfb681874911d48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c9a1a7578e43d2" /><Relationship Type="http://schemas.openxmlformats.org/officeDocument/2006/relationships/notesSlide" Target="/ppt/notesSlides/notesSlide14.xml" Id="R6b75eeb6c8b9489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Casos Alta</c:v>
          </c:tx>
          <c:spPr>
            <a:solidFill xmlns:a="http://schemas.openxmlformats.org/drawingml/2006/main">
              <a:srgbClr val="007C9F"/>
            </a:solidFill>
          </c:spPr>
          <c:dPt>
            <c:idx val="0"/>
            <c:invertIfNegative val="0"/>
            <c:spPr>
              <a:solidFill xmlns:a="http://schemas.openxmlformats.org/drawingml/2006/main">
                <a:srgbClr val="18744D"/>
              </a:solidFill>
            </c:spPr>
          </c:dPt>
          <c:dPt>
            <c:idx val="1"/>
            <c:invertIfNegative val="0"/>
            <c:spPr>
              <a:solidFill xmlns:a="http://schemas.openxmlformats.org/drawingml/2006/main">
                <a:srgbClr val="BA3C3C"/>
              </a:solidFill>
            </c:spPr>
          </c:dPt>
          <c:dPt>
            <c:idx val="2"/>
            <c:invertIfNegative val="0"/>
            <c:spPr>
              <a:solidFill xmlns:a="http://schemas.openxmlformats.org/drawingml/2006/main">
                <a:srgbClr val="A46810"/>
              </a:solidFill>
            </c:spPr>
          </c:dPt>
          <c:cat>
            <c:strRef>
              <c:f>'Chart Data'!$A$2:$A$4</c:f>
              <c:strCache>
                <c:ptCount val="3"/>
                <c:pt idx="0">
                  <c:v>Pasó</c:v>
                </c:pt>
                <c:pt idx="1">
                  <c:v>Falló</c:v>
                </c:pt>
                <c:pt idx="2">
                  <c:v>Bloqueado</c:v>
                </c:pt>
              </c:strCache>
            </c:strRef>
          </c:cat>
          <c:val>
            <c:numRef>
              <c:f>'Chart Data'!$B$2:$B$4</c:f>
              <c:numCache>
                <c:formatCode>General</c:formatCode>
                <c:ptCount val="3"/>
                <c:pt idx="0">
                  <c:v>3</c:v>
                </c:pt>
                <c:pt idx="1">
                  <c:v>2</c:v>
                </c:pt>
                <c:pt idx="2">
                  <c:v>9</c:v>
                </c:pt>
              </c:numCache>
            </c:numRef>
          </c:val>
        </c:ser>
        <c:dLbls>
          <c:txPr>
            <a:bodyPr xmlns:a="http://schemas.openxmlformats.org/drawingml/2006/main" anchorCtr="1"/>
            <a:lstStyle xmlns:a="http://schemas.openxmlformats.org/drawingml/2006/main"/>
            <a:p xmlns:a="http://schemas.openxmlformats.org/drawingml/2006/main">
              <a:pPr>
                <a:defRPr sz="2100" b="1">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0">
            <a:solidFill>
              <a:srgbClr val="FFFFFF"/>
            </a:solidFill>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10"/>
          <c:min val="0"/>
        </c:scaling>
        <c:delete val="0"/>
        <c:axPos val="b"/>
        <c:majorGridlines>
          <c:spPr>
            <a:ln xmlns:a="http://schemas.openxmlformats.org/drawingml/2006/main" w="9525">
              <a:solidFill>
                <a:srgbClr val="E1E7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3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DEC456-B519-480E-917C-8D6A25DA3A14}"/>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6CBD5"/>
                </a:solidFill>
                <a:latin typeface="Helvetica Neue"/>
                <a:ea typeface="Helvetica Neue"/>
                <a:cs typeface="Helvetica Neue"/>
              </a:defRPr>
            </a:pPr>
            <a:r>
              <a:rPr sz="1350" b="0">
                <a:solidFill>
                  <a:srgbClr val="B6CBD5"/>
                </a:solidFill>
                <a:latin typeface="Helvetica Neue"/>
                <a:ea typeface="Helvetica Neue"/>
                <a:cs typeface="Helvetica Neue"/>
              </a:rPr>
              <a:t>Franco   01</a:t>
            </a:r>
          </a:p>
        </p:txBody>
      </p:sp>
      <p:sp>
        <p:nvSpPr>
          <p:cNvPr id="2" name="">
            <a:extLst xmlns:a="http://schemas.openxmlformats.org/drawingml/2006/main">
              <a:ext uri="{FF2B5EF4-FFF2-40B4-BE49-F238E27FC236}">
                <a16:creationId xmlns:a16="http://schemas.microsoft.com/office/drawing/2014/main" id="{B16349D1-D082-4A92-B619-ADFB17444070}"/>
              </a:ext>
            </a:extLst>
          </p:cNvPr>
          <p:cNvSpPr>
            <a:spLocks xmlns:a="http://schemas.openxmlformats.org/drawingml/2006/main" noGrp="1"/>
          </p:cNvSpPr>
          <p:nvPr/>
        </p:nvSpPr>
        <p:spPr>
          <a:xfrm xmlns:a="http://schemas.openxmlformats.org/drawingml/2006/main">
            <a:off x="609600" y="157162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Pruebas de software</a:t>
            </a:r>
          </a:p>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en OpenCart</a:t>
            </a:r>
          </a:p>
        </p:txBody>
      </p:sp>
      <p:sp>
        <p:nvSpPr>
          <p:cNvPr id="3" name="">
            <a:extLst xmlns:a="http://schemas.openxmlformats.org/drawingml/2006/main">
              <a:ext uri="{FF2B5EF4-FFF2-40B4-BE49-F238E27FC236}">
                <a16:creationId xmlns:a16="http://schemas.microsoft.com/office/drawing/2014/main" id="{4DAD73DE-2077-41E2-BB74-3ADB126691E7}"/>
              </a:ext>
            </a:extLst>
          </p:cNvPr>
          <p:cNvSpPr>
            <a:spLocks xmlns:a="http://schemas.openxmlformats.org/drawingml/2006/main" noGrp="1"/>
          </p:cNvSpPr>
          <p:nvPr/>
        </p:nvSpPr>
        <p:spPr>
          <a:xfrm xmlns:a="http://schemas.openxmlformats.org/drawingml/2006/main">
            <a:off x="609600" y="3619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83D8EA"/>
                </a:solidFill>
                <a:latin typeface="Helvetica Neue"/>
                <a:ea typeface="Helvetica Neue"/>
                <a:cs typeface="Helvetica Neue"/>
              </a:defRPr>
            </a:pPr>
            <a:r>
              <a:rPr sz="2400" b="0">
                <a:solidFill>
                  <a:srgbClr val="83D8EA"/>
                </a:solidFill>
                <a:latin typeface="Helvetica Neue"/>
                <a:ea typeface="Helvetica Neue"/>
                <a:cs typeface="Helvetica Neue"/>
              </a:rPr>
              <a:t>Proyecto 1 · Caso 3 · Grupo 5</a:t>
            </a:r>
          </a:p>
        </p:txBody>
      </p:sp>
      <p:sp>
        <p:nvSpPr>
          <p:cNvPr id="4" name="">
            <a:extLst xmlns:a="http://schemas.openxmlformats.org/drawingml/2006/main">
              <a:ext uri="{FF2B5EF4-FFF2-40B4-BE49-F238E27FC236}">
                <a16:creationId xmlns:a16="http://schemas.microsoft.com/office/drawing/2014/main" id="{7F6A835A-482E-47CC-9E60-45B96F960C33}"/>
              </a:ext>
            </a:extLst>
          </p:cNvPr>
          <p:cNvSpPr>
            <a:spLocks xmlns:a="http://schemas.openxmlformats.org/drawingml/2006/main" noGrp="1"/>
          </p:cNvSpPr>
          <p:nvPr/>
        </p:nvSpPr>
        <p:spPr>
          <a:xfrm xmlns:a="http://schemas.openxmlformats.org/drawingml/2006/main">
            <a:off x="609600" y="45053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Franco Roque Castillo</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Granit Espinoza Salazar</a:t>
            </a:r>
          </a:p>
        </p:txBody>
      </p:sp>
    </p:spTree>
    <p:extLst>
      <p:ext uri="{BB962C8B-B14F-4D97-AF65-F5344CB8AC3E}">
        <p14:creationId xmlns:p14="http://schemas.microsoft.com/office/powerpoint/2010/main" val="2183121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FE9B23-8F78-4917-9A6E-65C8B94762F7}"/>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Alcance y planificación</a:t>
            </a:r>
          </a:p>
        </p:txBody>
      </p:sp>
      <p:sp>
        <p:nvSpPr>
          <p:cNvPr id="2" name="">
            <a:extLst xmlns:a="http://schemas.openxmlformats.org/drawingml/2006/main">
              <a:ext uri="{FF2B5EF4-FFF2-40B4-BE49-F238E27FC236}">
                <a16:creationId xmlns:a16="http://schemas.microsoft.com/office/drawing/2014/main" id="{64857758-593B-4EF8-8CC8-F3095C1B76C8}"/>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Franco   02</a:t>
            </a:r>
          </a:p>
        </p:txBody>
      </p:sp>
      <p:sp>
        <p:nvSpPr>
          <p:cNvPr id="3" name="">
            <a:extLst xmlns:a="http://schemas.openxmlformats.org/drawingml/2006/main">
              <a:ext uri="{FF2B5EF4-FFF2-40B4-BE49-F238E27FC236}">
                <a16:creationId xmlns:a16="http://schemas.microsoft.com/office/drawing/2014/main" id="{E5D43BAF-7990-42EE-8CD6-981A6D13F451}"/>
              </a:ext>
            </a:extLst>
          </p:cNvPr>
          <p:cNvSpPr>
            <a:spLocks xmlns:a="http://schemas.openxmlformats.org/drawingml/2006/main" noGrp="1"/>
          </p:cNvSpPr>
          <p:nvPr/>
        </p:nvSpPr>
        <p:spPr>
          <a:xfrm xmlns:a="http://schemas.openxmlformats.org/drawingml/2006/main">
            <a:off x="609600" y="1762125"/>
            <a:ext cx="542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C9F"/>
                </a:solidFill>
                <a:latin typeface="Helvetica Neue"/>
                <a:ea typeface="Helvetica Neue"/>
                <a:cs typeface="Helvetica Neue"/>
              </a:defRPr>
            </a:pPr>
            <a:r>
              <a:rPr sz="3000" b="1">
                <a:solidFill>
                  <a:srgbClr val="007C9F"/>
                </a:solidFill>
                <a:latin typeface="Helvetica Neue"/>
                <a:ea typeface="Helvetica Neue"/>
                <a:cs typeface="Helvetica Neue"/>
              </a:rPr>
              <a:t>8 funcionalidades</a:t>
            </a:r>
          </a:p>
        </p:txBody>
      </p:sp>
      <p:sp>
        <p:nvSpPr>
          <p:cNvPr id="4" name="">
            <a:extLst xmlns:a="http://schemas.openxmlformats.org/drawingml/2006/main">
              <a:ext uri="{FF2B5EF4-FFF2-40B4-BE49-F238E27FC236}">
                <a16:creationId xmlns:a16="http://schemas.microsoft.com/office/drawing/2014/main" id="{8E3B690D-03FD-4186-B763-5509C0CC3B37}"/>
              </a:ext>
            </a:extLst>
          </p:cNvPr>
          <p:cNvSpPr>
            <a:spLocks xmlns:a="http://schemas.openxmlformats.org/drawingml/2006/main" noGrp="1"/>
          </p:cNvSpPr>
          <p:nvPr/>
        </p:nvSpPr>
        <p:spPr>
          <a:xfrm xmlns:a="http://schemas.openxmlformats.org/drawingml/2006/main">
            <a:off x="609600" y="2438400"/>
            <a:ext cx="10715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D3D"/>
                </a:solidFill>
                <a:latin typeface="Helvetica Neue"/>
                <a:ea typeface="Helvetica Neue"/>
                <a:cs typeface="Helvetica Neue"/>
              </a:defRPr>
            </a:pPr>
            <a:r>
              <a:rPr sz="2250" b="0">
                <a:solidFill>
                  <a:srgbClr val="142D3D"/>
                </a:solidFill>
                <a:latin typeface="Helvetica Neue"/>
                <a:ea typeface="Helvetica Neue"/>
                <a:cs typeface="Helvetica Neue"/>
              </a:rPr>
              <a:t>Catálogo, producto, carrito y cupones</a:t>
            </a:r>
          </a:p>
          <a:p xmlns:a="http://schemas.openxmlformats.org/drawingml/2006/main">
            <a:pPr>
              <a:defRPr sz="2250" b="0">
                <a:solidFill>
                  <a:srgbClr val="142D3D"/>
                </a:solidFill>
                <a:latin typeface="Helvetica Neue"/>
                <a:ea typeface="Helvetica Neue"/>
                <a:cs typeface="Helvetica Neue"/>
              </a:defRPr>
            </a:pPr>
            <a:r>
              <a:rPr sz="2250" b="0">
                <a:solidFill>
                  <a:srgbClr val="142D3D"/>
                </a:solidFill>
                <a:latin typeface="Helvetica Neue"/>
                <a:ea typeface="Helvetica Neue"/>
                <a:cs typeface="Helvetica Neue"/>
              </a:rPr>
              <a:t>Checkout, confirmación, stock y pedidos</a:t>
            </a:r>
          </a:p>
        </p:txBody>
      </p:sp>
      <p:sp>
        <p:nvSpPr>
          <p:cNvPr id="5" name="">
            <a:extLst xmlns:a="http://schemas.openxmlformats.org/drawingml/2006/main">
              <a:ext uri="{FF2B5EF4-FFF2-40B4-BE49-F238E27FC236}">
                <a16:creationId xmlns:a16="http://schemas.microsoft.com/office/drawing/2014/main" id="{54173987-80E5-48B8-BC50-8304448F683D}"/>
              </a:ext>
            </a:extLst>
          </p:cNvPr>
          <p:cNvSpPr>
            <a:spLocks xmlns:a="http://schemas.openxmlformats.org/drawingml/2006/main" noGrp="1"/>
          </p:cNvSpPr>
          <p:nvPr/>
        </p:nvSpPr>
        <p:spPr>
          <a:xfrm xmlns:a="http://schemas.openxmlformats.org/drawingml/2006/main">
            <a:off x="609600" y="36195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C9F"/>
                </a:solidFill>
                <a:latin typeface="Helvetica Neue"/>
                <a:ea typeface="Helvetica Neue"/>
                <a:cs typeface="Helvetica Neue"/>
              </a:defRPr>
            </a:pPr>
            <a:r>
              <a:rPr sz="3000" b="1">
                <a:solidFill>
                  <a:srgbClr val="007C9F"/>
                </a:solidFill>
                <a:latin typeface="Helvetica Neue"/>
                <a:ea typeface="Helvetica Neue"/>
                <a:cs typeface="Helvetica Neue"/>
              </a:rPr>
              <a:t>3 requisitos no funcionales</a:t>
            </a:r>
          </a:p>
        </p:txBody>
      </p:sp>
      <p:sp>
        <p:nvSpPr>
          <p:cNvPr id="6" name="">
            <a:extLst xmlns:a="http://schemas.openxmlformats.org/drawingml/2006/main">
              <a:ext uri="{FF2B5EF4-FFF2-40B4-BE49-F238E27FC236}">
                <a16:creationId xmlns:a16="http://schemas.microsoft.com/office/drawing/2014/main" id="{56714E85-1115-47DF-AA62-2E337F1DA31D}"/>
              </a:ext>
            </a:extLst>
          </p:cNvPr>
          <p:cNvSpPr>
            <a:spLocks xmlns:a="http://schemas.openxmlformats.org/drawingml/2006/main" noGrp="1"/>
          </p:cNvSpPr>
          <p:nvPr/>
        </p:nvSpPr>
        <p:spPr>
          <a:xfrm xmlns:a="http://schemas.openxmlformats.org/drawingml/2006/main">
            <a:off x="609600" y="42957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D3D"/>
                </a:solidFill>
                <a:latin typeface="Helvetica Neue"/>
                <a:ea typeface="Helvetica Neue"/>
                <a:cs typeface="Helvetica Neue"/>
              </a:defRPr>
            </a:pPr>
            <a:r>
              <a:rPr sz="2250" b="0">
                <a:solidFill>
                  <a:srgbClr val="142D3D"/>
                </a:solidFill>
                <a:latin typeface="Helvetica Neue"/>
                <a:ea typeface="Helvetica Neue"/>
                <a:cs typeface="Helvetica Neue"/>
              </a:rPr>
              <a:t>Sincronización, compatibilidad y rendimiento</a:t>
            </a:r>
          </a:p>
        </p:txBody>
      </p:sp>
      <p:sp>
        <p:nvSpPr>
          <p:cNvPr id="7" name="">
            <a:extLst xmlns:a="http://schemas.openxmlformats.org/drawingml/2006/main">
              <a:ext uri="{FF2B5EF4-FFF2-40B4-BE49-F238E27FC236}">
                <a16:creationId xmlns:a16="http://schemas.microsoft.com/office/drawing/2014/main" id="{6331D3E4-4307-41E6-BD00-A08283E3B5BC}"/>
              </a:ext>
            </a:extLst>
          </p:cNvPr>
          <p:cNvSpPr>
            <a:spLocks xmlns:a="http://schemas.openxmlformats.org/drawingml/2006/main" noGrp="1"/>
          </p:cNvSpPr>
          <p:nvPr/>
        </p:nvSpPr>
        <p:spPr>
          <a:xfrm xmlns:a="http://schemas.openxmlformats.org/drawingml/2006/main">
            <a:off x="609600" y="53340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673"/>
                </a:solidFill>
                <a:latin typeface="Helvetica Neue"/>
                <a:ea typeface="Helvetica Neue"/>
                <a:cs typeface="Helvetica Neue"/>
              </a:defRPr>
            </a:pPr>
            <a:r>
              <a:rPr sz="1800" b="0">
                <a:solidFill>
                  <a:srgbClr val="516673"/>
                </a:solidFill>
                <a:latin typeface="Helvetica Neue"/>
                <a:ea typeface="Helvetica Neue"/>
                <a:cs typeface="Helvetica Neue"/>
              </a:rPr>
              <a:t>Pruebas de sistema sobre OpenCart Demo 4.0.2.3</a:t>
            </a:r>
          </a:p>
          <a:p xmlns:a="http://schemas.openxmlformats.org/drawingml/2006/main">
            <a:pPr>
              <a:defRPr sz="1800" b="0">
                <a:solidFill>
                  <a:srgbClr val="516673"/>
                </a:solidFill>
                <a:latin typeface="Helvetica Neue"/>
                <a:ea typeface="Helvetica Neue"/>
                <a:cs typeface="Helvetica Neue"/>
              </a:defRPr>
            </a:pPr>
            <a:r>
              <a:rPr sz="1800" b="0">
                <a:solidFill>
                  <a:srgbClr val="516673"/>
                </a:solidFill>
                <a:latin typeface="Helvetica Neue"/>
                <a:ea typeface="Helvetica Neue"/>
                <a:cs typeface="Helvetica Neue"/>
              </a:rPr>
              <a:t>24 horas estimadas entre ambos integrantes</a:t>
            </a:r>
          </a:p>
        </p:txBody>
      </p:sp>
    </p:spTree>
    <p:extLst>
      <p:ext uri="{BB962C8B-B14F-4D97-AF65-F5344CB8AC3E}">
        <p14:creationId xmlns:p14="http://schemas.microsoft.com/office/powerpoint/2010/main" val="14517153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3F954A-C04C-48E7-A118-7A3BCF0CFB65}"/>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Priorización y trazabilidad</a:t>
            </a:r>
          </a:p>
        </p:txBody>
      </p:sp>
      <p:sp>
        <p:nvSpPr>
          <p:cNvPr id="2" name="">
            <a:extLst xmlns:a="http://schemas.openxmlformats.org/drawingml/2006/main">
              <a:ext uri="{FF2B5EF4-FFF2-40B4-BE49-F238E27FC236}">
                <a16:creationId xmlns:a16="http://schemas.microsoft.com/office/drawing/2014/main" id="{C648B67E-0C22-4A4E-829E-4B6E1E436C98}"/>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Franco   03</a:t>
            </a:r>
          </a:p>
        </p:txBody>
      </p:sp>
      <p:graphicFrame>
        <p:nvGraphicFramePr>
          <p:cNvPr id="7" name=""/>
          <p:cNvGraphicFramePr/>
          <p:nvPr/>
        </p:nvGraphicFramePr>
        <p:xfrm>
          <a:off xmlns:a="http://schemas.openxmlformats.org/drawingml/2006/main" x="609600" y="1647825"/>
          <a:ext xmlns:a="http://schemas.openxmlformats.org/drawingml/2006/main" cx="10972800" cy="3743325"/>
        </p:xfrm>
        <a:graphic xmlns:a="http://schemas.openxmlformats.org/drawingml/2006/main">
          <a:graphicData uri="http://schemas.openxmlformats.org/drawingml/2006/table">
            <a:tbl>
              <a:tblPr/>
              <a:tblGrid>
                <a:gridCol w="3238500"/>
                <a:gridCol w="7734300"/>
              </a:tblGrid>
              <a:tr h="623888">
                <a:tc>
                  <a:txBody>
                    <a:bodyPr>
                      <a:noAutofit/>
                    </a:bodyPr>
                    <a:lstStyle/>
                    <a:p>
                      <a:r>
                        <a:rPr sz="1950" b="1">
                          <a:solidFill>
                            <a:srgbClr val="FFFFFF"/>
                          </a:solidFill>
                          <a:latin typeface="Helvetica Neue"/>
                          <a:ea typeface="Helvetica Neue"/>
                          <a:cs typeface="Helvetica Neue"/>
                        </a:rPr>
                        <a:t>Elemento</a:t>
                      </a:r>
                    </a:p>
                  </a:txBody>
                  <a:tcPr marL="91440" marR="91440" marT="45720" marB="45720">
                    <a:solidFill>
                      <a:srgbClr val="142D3D"/>
                    </a:solidFill>
                  </a:tcPr>
                </a:tc>
                <a:tc>
                  <a:txBody>
                    <a:bodyPr>
                      <a:noAutofit/>
                    </a:bodyPr>
                    <a:lstStyle/>
                    <a:p>
                      <a:r>
                        <a:rPr sz="1950" b="1">
                          <a:solidFill>
                            <a:srgbClr val="FFFFFF"/>
                          </a:solidFill>
                          <a:latin typeface="Helvetica Neue"/>
                          <a:ea typeface="Helvetica Neue"/>
                          <a:cs typeface="Helvetica Neue"/>
                        </a:rPr>
                        <a:t>Ejemplo del carrito</a:t>
                      </a:r>
                    </a:p>
                  </a:txBody>
                  <a:tcPr marL="91440" marR="91440" marT="45720" marB="45720">
                    <a:solidFill>
                      <a:srgbClr val="142D3D"/>
                    </a:solidFill>
                  </a:tcPr>
                </a:tc>
              </a:tr>
              <a:tr h="623888">
                <a:tc>
                  <a:txBody>
                    <a:bodyPr>
                      <a:noAutofit/>
                    </a:bodyPr>
                    <a:lstStyle/>
                    <a:p>
                      <a:r>
                        <a:rPr sz="1950" b="0">
                          <a:solidFill>
                            <a:srgbClr val="142D3D"/>
                          </a:solidFill>
                          <a:latin typeface="Helvetica Neue"/>
                          <a:ea typeface="Helvetica Neue"/>
                          <a:cs typeface="Helvetica Neue"/>
                        </a:rPr>
                        <a:t>Requisito E-RF03</a:t>
                      </a:r>
                    </a:p>
                  </a:txBody>
                  <a:tcPr marL="91440" marR="91440" marT="45720" marB="45720">
                    <a:solidFill>
                      <a:srgbClr val="FFFFFF"/>
                    </a:solidFill>
                  </a:tcPr>
                </a:tc>
                <a:tc>
                  <a:txBody>
                    <a:bodyPr>
                      <a:noAutofit/>
                    </a:bodyPr>
                    <a:lstStyle/>
                    <a:p>
                      <a:r>
                        <a:rPr sz="1950" b="0">
                          <a:solidFill>
                            <a:srgbClr val="142D3D"/>
                          </a:solidFill>
                          <a:latin typeface="Helvetica Neue"/>
                          <a:ea typeface="Helvetica Neue"/>
                          <a:cs typeface="Helvetica Neue"/>
                        </a:rPr>
                        <a:t>Recalcular importes al cambiar cantidad</a:t>
                      </a:r>
                    </a:p>
                  </a:txBody>
                  <a:tcPr marL="91440" marR="91440" marT="45720" marB="45720">
                    <a:solidFill>
                      <a:srgbClr val="FFFFFF"/>
                    </a:solidFill>
                  </a:tcPr>
                </a:tc>
              </a:tr>
              <a:tr h="623888">
                <a:tc>
                  <a:txBody>
                    <a:bodyPr>
                      <a:noAutofit/>
                    </a:bodyPr>
                    <a:lstStyle/>
                    <a:p>
                      <a:r>
                        <a:rPr sz="1950" b="0">
                          <a:solidFill>
                            <a:srgbClr val="142D3D"/>
                          </a:solidFill>
                          <a:latin typeface="Helvetica Neue"/>
                          <a:ea typeface="Helvetica Neue"/>
                          <a:cs typeface="Helvetica Neue"/>
                        </a:rPr>
                        <a:t>Riesgo R03</a:t>
                      </a:r>
                    </a:p>
                  </a:txBody>
                  <a:tcPr marL="91440" marR="91440" marT="45720" marB="45720">
                    <a:solidFill>
                      <a:srgbClr val="F2F6F8"/>
                    </a:solidFill>
                  </a:tcPr>
                </a:tc>
                <a:tc>
                  <a:txBody>
                    <a:bodyPr>
                      <a:noAutofit/>
                    </a:bodyPr>
                    <a:lstStyle/>
                    <a:p>
                      <a:r>
                        <a:rPr sz="1950" b="0">
                          <a:solidFill>
                            <a:srgbClr val="142D3D"/>
                          </a:solidFill>
                          <a:latin typeface="Helvetica Neue"/>
                          <a:ea typeface="Helvetica Neue"/>
                          <a:cs typeface="Helvetica Neue"/>
                        </a:rPr>
                        <a:t>Inconsistencia monetaria: 3 × 3 = 9, Alta</a:t>
                      </a:r>
                    </a:p>
                  </a:txBody>
                  <a:tcPr marL="91440" marR="91440" marT="45720" marB="45720">
                    <a:solidFill>
                      <a:srgbClr val="F2F6F8"/>
                    </a:solidFill>
                  </a:tcPr>
                </a:tc>
              </a:tr>
              <a:tr h="623888">
                <a:tc>
                  <a:txBody>
                    <a:bodyPr>
                      <a:noAutofit/>
                    </a:bodyPr>
                    <a:lstStyle/>
                    <a:p>
                      <a:r>
                        <a:rPr sz="1950" b="0">
                          <a:solidFill>
                            <a:srgbClr val="142D3D"/>
                          </a:solidFill>
                          <a:latin typeface="Helvetica Neue"/>
                          <a:ea typeface="Helvetica Neue"/>
                          <a:cs typeface="Helvetica Neue"/>
                        </a:rPr>
                        <a:t>Condición CT-CAR-01</a:t>
                      </a:r>
                    </a:p>
                  </a:txBody>
                  <a:tcPr marL="91440" marR="91440" marT="45720" marB="45720">
                    <a:solidFill>
                      <a:srgbClr val="FFFFFF"/>
                    </a:solidFill>
                  </a:tcPr>
                </a:tc>
                <a:tc>
                  <a:txBody>
                    <a:bodyPr>
                      <a:noAutofit/>
                    </a:bodyPr>
                    <a:lstStyle/>
                    <a:p>
                      <a:r>
                        <a:rPr sz="1950" b="0">
                          <a:solidFill>
                            <a:srgbClr val="142D3D"/>
                          </a:solidFill>
                          <a:latin typeface="Helvetica Neue"/>
                          <a:ea typeface="Helvetica Neue"/>
                          <a:cs typeface="Helvetica Neue"/>
                        </a:rPr>
                        <a:t>Coherencia entre línea, impuestos y total</a:t>
                      </a:r>
                    </a:p>
                  </a:txBody>
                  <a:tcPr marL="91440" marR="91440" marT="45720" marB="45720">
                    <a:solidFill>
                      <a:srgbClr val="FFFFFF"/>
                    </a:solidFill>
                  </a:tcPr>
                </a:tc>
              </a:tr>
              <a:tr h="623888">
                <a:tc>
                  <a:txBody>
                    <a:bodyPr>
                      <a:noAutofit/>
                    </a:bodyPr>
                    <a:lstStyle/>
                    <a:p>
                      <a:r>
                        <a:rPr sz="1950" b="0">
                          <a:solidFill>
                            <a:srgbClr val="142D3D"/>
                          </a:solidFill>
                          <a:latin typeface="Helvetica Neue"/>
                          <a:ea typeface="Helvetica Neue"/>
                          <a:cs typeface="Helvetica Neue"/>
                        </a:rPr>
                        <a:t>Caso CP-CAR-01</a:t>
                      </a:r>
                    </a:p>
                  </a:txBody>
                  <a:tcPr marL="91440" marR="91440" marT="45720" marB="45720">
                    <a:solidFill>
                      <a:srgbClr val="F2F6F8"/>
                    </a:solidFill>
                  </a:tcPr>
                </a:tc>
                <a:tc>
                  <a:txBody>
                    <a:bodyPr>
                      <a:noAutofit/>
                    </a:bodyPr>
                    <a:lstStyle/>
                    <a:p>
                      <a:r>
                        <a:rPr sz="1950" b="0">
                          <a:solidFill>
                            <a:srgbClr val="142D3D"/>
                          </a:solidFill>
                          <a:latin typeface="Helvetica Neue"/>
                          <a:ea typeface="Helvetica Neue"/>
                          <a:cs typeface="Helvetica Neue"/>
                        </a:rPr>
                        <a:t>Cambiar iPod Nano de 1 a 2 unidades</a:t>
                      </a:r>
                    </a:p>
                  </a:txBody>
                  <a:tcPr marL="91440" marR="91440" marT="45720" marB="45720">
                    <a:solidFill>
                      <a:srgbClr val="F2F6F8"/>
                    </a:solidFill>
                  </a:tcPr>
                </a:tc>
              </a:tr>
              <a:tr h="623888">
                <a:tc>
                  <a:txBody>
                    <a:bodyPr>
                      <a:noAutofit/>
                    </a:bodyPr>
                    <a:lstStyle/>
                    <a:p>
                      <a:r>
                        <a:rPr sz="1950" b="0">
                          <a:solidFill>
                            <a:srgbClr val="142D3D"/>
                          </a:solidFill>
                          <a:latin typeface="Helvetica Neue"/>
                          <a:ea typeface="Helvetica Neue"/>
                          <a:cs typeface="Helvetica Neue"/>
                        </a:rPr>
                        <a:t>Hallazgo DEF-01</a:t>
                      </a:r>
                    </a:p>
                  </a:txBody>
                  <a:tcPr marL="91440" marR="91440" marT="45720" marB="45720">
                    <a:solidFill>
                      <a:srgbClr val="FFFFFF"/>
                    </a:solidFill>
                  </a:tcPr>
                </a:tc>
                <a:tc>
                  <a:txBody>
                    <a:bodyPr>
                      <a:noAutofit/>
                    </a:bodyPr>
                    <a:lstStyle/>
                    <a:p>
                      <a:r>
                        <a:rPr sz="1950" b="0">
                          <a:solidFill>
                            <a:srgbClr val="142D3D"/>
                          </a:solidFill>
                          <a:latin typeface="Helvetica Neue"/>
                          <a:ea typeface="Helvetica Neue"/>
                          <a:cs typeface="Helvetica Neue"/>
                        </a:rPr>
                        <a:t>Línea 242 USD y total general 244 USD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E751A26-9CE3-4E0A-94FF-DB2CBE76C87F}"/>
              </a:ext>
            </a:extLst>
          </p:cNvPr>
          <p:cNvSpPr>
            <a:spLocks xmlns:a="http://schemas.openxmlformats.org/drawingml/2006/main" noGrp="1"/>
          </p:cNvSpPr>
          <p:nvPr/>
        </p:nvSpPr>
        <p:spPr>
          <a:xfrm xmlns:a="http://schemas.openxmlformats.org/drawingml/2006/main">
            <a:off x="609600" y="57245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C9F"/>
                </a:solidFill>
                <a:latin typeface="Helvetica Neue"/>
                <a:ea typeface="Helvetica Neue"/>
                <a:cs typeface="Helvetica Neue"/>
              </a:defRPr>
            </a:pPr>
            <a:r>
              <a:rPr sz="1875" b="1">
                <a:solidFill>
                  <a:srgbClr val="007C9F"/>
                </a:solidFill>
                <a:latin typeface="Helvetica Neue"/>
                <a:ea typeface="Helvetica Neue"/>
                <a:cs typeface="Helvetica Neue"/>
              </a:rPr>
              <a:t>11/11 requisitos con diseño; la ejecución se informa por separado.</a:t>
            </a:r>
          </a:p>
        </p:txBody>
      </p:sp>
    </p:spTree>
    <p:extLst>
      <p:ext uri="{BB962C8B-B14F-4D97-AF65-F5344CB8AC3E}">
        <p14:creationId xmlns:p14="http://schemas.microsoft.com/office/powerpoint/2010/main" val="18037213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18E37FE-2874-4045-BD6F-43A7B139C7A5}"/>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Técnicas de caja negra</a:t>
            </a:r>
          </a:p>
        </p:txBody>
      </p:sp>
      <p:sp>
        <p:nvSpPr>
          <p:cNvPr id="2" name="">
            <a:extLst xmlns:a="http://schemas.openxmlformats.org/drawingml/2006/main">
              <a:ext uri="{FF2B5EF4-FFF2-40B4-BE49-F238E27FC236}">
                <a16:creationId xmlns:a16="http://schemas.microsoft.com/office/drawing/2014/main" id="{E64F3ADD-D557-460E-8F54-1E32924CFE1B}"/>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Franco   04</a:t>
            </a:r>
          </a:p>
        </p:txBody>
      </p:sp>
      <p:graphicFrame>
        <p:nvGraphicFramePr>
          <p:cNvPr id="6" name=""/>
          <p:cNvGraphicFramePr/>
          <p:nvPr/>
        </p:nvGraphicFramePr>
        <p:xfrm>
          <a:off xmlns:a="http://schemas.openxmlformats.org/drawingml/2006/main" x="609600" y="1762125"/>
          <a:ext xmlns:a="http://schemas.openxmlformats.org/drawingml/2006/main" cx="10972800" cy="3905250"/>
        </p:xfrm>
        <a:graphic xmlns:a="http://schemas.openxmlformats.org/drawingml/2006/main">
          <a:graphicData uri="http://schemas.openxmlformats.org/drawingml/2006/table">
            <a:tbl>
              <a:tblPr/>
              <a:tblGrid>
                <a:gridCol w="3714750"/>
                <a:gridCol w="7258050"/>
              </a:tblGrid>
              <a:tr h="650875">
                <a:tc>
                  <a:txBody>
                    <a:bodyPr>
                      <a:noAutofit/>
                    </a:bodyPr>
                    <a:lstStyle/>
                    <a:p>
                      <a:r>
                        <a:rPr sz="2025" b="1">
                          <a:solidFill>
                            <a:srgbClr val="FFFFFF"/>
                          </a:solidFill>
                          <a:latin typeface="Helvetica Neue"/>
                          <a:ea typeface="Helvetica Neue"/>
                          <a:cs typeface="Helvetica Neue"/>
                        </a:rPr>
                        <a:t>Técnica</a:t>
                      </a:r>
                    </a:p>
                  </a:txBody>
                  <a:tcPr marL="91440" marR="91440" marT="45720" marB="45720">
                    <a:solidFill>
                      <a:srgbClr val="142D3D"/>
                    </a:solidFill>
                  </a:tcPr>
                </a:tc>
                <a:tc>
                  <a:txBody>
                    <a:bodyPr>
                      <a:noAutofit/>
                    </a:bodyPr>
                    <a:lstStyle/>
                    <a:p>
                      <a:r>
                        <a:rPr sz="2025" b="1">
                          <a:solidFill>
                            <a:srgbClr val="FFFFFF"/>
                          </a:solidFill>
                          <a:latin typeface="Helvetica Neue"/>
                          <a:ea typeface="Helvetica Neue"/>
                          <a:cs typeface="Helvetica Neue"/>
                        </a:rPr>
                        <a:t>Aplicación</a:t>
                      </a:r>
                    </a:p>
                  </a:txBody>
                  <a:tcPr marL="91440" marR="91440" marT="45720" marB="45720">
                    <a:solidFill>
                      <a:srgbClr val="142D3D"/>
                    </a:solidFill>
                  </a:tcPr>
                </a:tc>
              </a:tr>
              <a:tr h="650875">
                <a:tc>
                  <a:txBody>
                    <a:bodyPr>
                      <a:noAutofit/>
                    </a:bodyPr>
                    <a:lstStyle/>
                    <a:p>
                      <a:r>
                        <a:rPr sz="2025" b="0">
                          <a:solidFill>
                            <a:srgbClr val="142D3D"/>
                          </a:solidFill>
                          <a:latin typeface="Helvetica Neue"/>
                          <a:ea typeface="Helvetica Neue"/>
                          <a:cs typeface="Helvetica Neue"/>
                        </a:rPr>
                        <a:t>Partición de equivalencia</a:t>
                      </a:r>
                    </a:p>
                  </a:txBody>
                  <a:tcPr marL="91440" marR="91440" marT="45720" marB="45720">
                    <a:solidFill>
                      <a:srgbClr val="FFFFFF"/>
                    </a:solidFill>
                  </a:tcPr>
                </a:tc>
                <a:tc>
                  <a:txBody>
                    <a:bodyPr>
                      <a:noAutofit/>
                    </a:bodyPr>
                    <a:lstStyle/>
                    <a:p>
                      <a:r>
                        <a:rPr sz="2025" b="0">
                          <a:solidFill>
                            <a:srgbClr val="142D3D"/>
                          </a:solidFill>
                          <a:latin typeface="Helvetica Neue"/>
                          <a:ea typeface="Helvetica Neue"/>
                          <a:cs typeface="Helvetica Neue"/>
                        </a:rPr>
                        <a:t>Opción obligatoria presente o ausente</a:t>
                      </a:r>
                    </a:p>
                  </a:txBody>
                  <a:tcPr marL="91440" marR="91440" marT="45720" marB="45720">
                    <a:solidFill>
                      <a:srgbClr val="FFFFFF"/>
                    </a:solidFill>
                  </a:tcPr>
                </a:tc>
              </a:tr>
              <a:tr h="650875">
                <a:tc>
                  <a:txBody>
                    <a:bodyPr>
                      <a:noAutofit/>
                    </a:bodyPr>
                    <a:lstStyle/>
                    <a:p>
                      <a:r>
                        <a:rPr sz="2025" b="0">
                          <a:solidFill>
                            <a:srgbClr val="142D3D"/>
                          </a:solidFill>
                          <a:latin typeface="Helvetica Neue"/>
                          <a:ea typeface="Helvetica Neue"/>
                          <a:cs typeface="Helvetica Neue"/>
                        </a:rPr>
                        <a:t>Valores límite</a:t>
                      </a:r>
                    </a:p>
                  </a:txBody>
                  <a:tcPr marL="91440" marR="91440" marT="45720" marB="45720">
                    <a:solidFill>
                      <a:srgbClr val="F2F6F8"/>
                    </a:solidFill>
                  </a:tcPr>
                </a:tc>
                <a:tc>
                  <a:txBody>
                    <a:bodyPr>
                      <a:noAutofit/>
                    </a:bodyPr>
                    <a:lstStyle/>
                    <a:p>
                      <a:r>
                        <a:rPr sz="2025" b="0">
                          <a:solidFill>
                            <a:srgbClr val="142D3D"/>
                          </a:solidFill>
                          <a:latin typeface="Helvetica Neue"/>
                          <a:ea typeface="Helvetica Neue"/>
                          <a:cs typeface="Helvetica Neue"/>
                        </a:rPr>
                        <a:t>Cantidad 0/1 y stock S/S+1</a:t>
                      </a:r>
                    </a:p>
                  </a:txBody>
                  <a:tcPr marL="91440" marR="91440" marT="45720" marB="45720">
                    <a:solidFill>
                      <a:srgbClr val="F2F6F8"/>
                    </a:solidFill>
                  </a:tcPr>
                </a:tc>
              </a:tr>
              <a:tr h="650875">
                <a:tc>
                  <a:txBody>
                    <a:bodyPr>
                      <a:noAutofit/>
                    </a:bodyPr>
                    <a:lstStyle/>
                    <a:p>
                      <a:r>
                        <a:rPr sz="2025" b="0">
                          <a:solidFill>
                            <a:srgbClr val="142D3D"/>
                          </a:solidFill>
                          <a:latin typeface="Helvetica Neue"/>
                          <a:ea typeface="Helvetica Neue"/>
                          <a:cs typeface="Helvetica Neue"/>
                        </a:rPr>
                        <a:t>Tabla de decisión</a:t>
                      </a:r>
                    </a:p>
                  </a:txBody>
                  <a:tcPr marL="91440" marR="91440" marT="45720" marB="45720">
                    <a:solidFill>
                      <a:srgbClr val="FFFFFF"/>
                    </a:solidFill>
                  </a:tcPr>
                </a:tc>
                <a:tc>
                  <a:txBody>
                    <a:bodyPr>
                      <a:noAutofit/>
                    </a:bodyPr>
                    <a:lstStyle/>
                    <a:p>
                      <a:r>
                        <a:rPr sz="2025" b="0">
                          <a:solidFill>
                            <a:srgbClr val="142D3D"/>
                          </a:solidFill>
                          <a:latin typeface="Helvetica Neue"/>
                          <a:ea typeface="Helvetica Neue"/>
                          <a:cs typeface="Helvetica Neue"/>
                        </a:rPr>
                        <a:t>Vigencia, elegibilidad y repetición del cupón</a:t>
                      </a:r>
                    </a:p>
                  </a:txBody>
                  <a:tcPr marL="91440" marR="91440" marT="45720" marB="45720">
                    <a:solidFill>
                      <a:srgbClr val="FFFFFF"/>
                    </a:solidFill>
                  </a:tcPr>
                </a:tc>
              </a:tr>
              <a:tr h="650875">
                <a:tc>
                  <a:txBody>
                    <a:bodyPr>
                      <a:noAutofit/>
                    </a:bodyPr>
                    <a:lstStyle/>
                    <a:p>
                      <a:r>
                        <a:rPr sz="2025" b="0">
                          <a:solidFill>
                            <a:srgbClr val="142D3D"/>
                          </a:solidFill>
                          <a:latin typeface="Helvetica Neue"/>
                          <a:ea typeface="Helvetica Neue"/>
                          <a:cs typeface="Helvetica Neue"/>
                        </a:rPr>
                        <a:t>Transición de estados</a:t>
                      </a:r>
                    </a:p>
                  </a:txBody>
                  <a:tcPr marL="91440" marR="91440" marT="45720" marB="45720">
                    <a:solidFill>
                      <a:srgbClr val="F2F6F8"/>
                    </a:solidFill>
                  </a:tcPr>
                </a:tc>
                <a:tc>
                  <a:txBody>
                    <a:bodyPr>
                      <a:noAutofit/>
                    </a:bodyPr>
                    <a:lstStyle/>
                    <a:p>
                      <a:r>
                        <a:rPr sz="2025" b="0">
                          <a:solidFill>
                            <a:srgbClr val="142D3D"/>
                          </a:solidFill>
                          <a:latin typeface="Helvetica Neue"/>
                          <a:ea typeface="Helvetica Neue"/>
                          <a:cs typeface="Helvetica Neue"/>
                        </a:rPr>
                        <a:t>Reintentos de confirmación de una orden</a:t>
                      </a:r>
                    </a:p>
                  </a:txBody>
                  <a:tcPr marL="91440" marR="91440" marT="45720" marB="45720">
                    <a:solidFill>
                      <a:srgbClr val="F2F6F8"/>
                    </a:solidFill>
                  </a:tcPr>
                </a:tc>
              </a:tr>
              <a:tr h="650875">
                <a:tc>
                  <a:txBody>
                    <a:bodyPr>
                      <a:noAutofit/>
                    </a:bodyPr>
                    <a:lstStyle/>
                    <a:p>
                      <a:r>
                        <a:rPr sz="2025" b="0">
                          <a:solidFill>
                            <a:srgbClr val="142D3D"/>
                          </a:solidFill>
                          <a:latin typeface="Helvetica Neue"/>
                          <a:ea typeface="Helvetica Neue"/>
                          <a:cs typeface="Helvetica Neue"/>
                        </a:rPr>
                        <a:t>Caso de uso</a:t>
                      </a:r>
                    </a:p>
                  </a:txBody>
                  <a:tcPr marL="91440" marR="91440" marT="45720" marB="45720">
                    <a:solidFill>
                      <a:srgbClr val="FFFFFF"/>
                    </a:solidFill>
                  </a:tcPr>
                </a:tc>
                <a:tc>
                  <a:txBody>
                    <a:bodyPr>
                      <a:noAutofit/>
                    </a:bodyPr>
                    <a:lstStyle/>
                    <a:p>
                      <a:r>
                        <a:rPr sz="2025" b="0">
                          <a:solidFill>
                            <a:srgbClr val="142D3D"/>
                          </a:solidFill>
                          <a:latin typeface="Helvetica Neue"/>
                          <a:ea typeface="Helvetica Neue"/>
                          <a:cs typeface="Helvetica Neue"/>
                        </a:rPr>
                        <a:t>Compra y consulta del pedido en el panel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858840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73CCAD-1D6A-4089-B3B4-A86048F32EFD}"/>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Catálogo y opciones de producto</a:t>
            </a:r>
          </a:p>
        </p:txBody>
      </p:sp>
      <p:sp>
        <p:nvSpPr>
          <p:cNvPr id="2" name="">
            <a:extLst xmlns:a="http://schemas.openxmlformats.org/drawingml/2006/main">
              <a:ext uri="{FF2B5EF4-FFF2-40B4-BE49-F238E27FC236}">
                <a16:creationId xmlns:a16="http://schemas.microsoft.com/office/drawing/2014/main" id="{CEBD1EE7-B533-4442-8FCD-57080CD1BC76}"/>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Franco   05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8306d886eba40dd"/>
          <a:stretch xmlns:a="http://schemas.openxmlformats.org/drawingml/2006/main"/>
        </p:blipFill>
        <p:spPr>
          <a:xfrm xmlns:a="http://schemas.openxmlformats.org/drawingml/2006/main">
            <a:off x="682717" y="1666875"/>
            <a:ext cx="4949642"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BA58BE-92EF-4C2D-B4CA-9AFA45429A60}"/>
              </a:ext>
            </a:extLst>
          </p:cNvPr>
          <p:cNvSpPr>
            <a:spLocks xmlns:a="http://schemas.openxmlformats.org/drawingml/2006/main" noGrp="1"/>
          </p:cNvSpPr>
          <p:nvPr/>
        </p:nvSpPr>
        <p:spPr>
          <a:xfrm xmlns:a="http://schemas.openxmlformats.org/drawingml/2006/main">
            <a:off x="6343650" y="17526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744D"/>
                </a:solidFill>
                <a:latin typeface="Helvetica Neue"/>
                <a:ea typeface="Helvetica Neue"/>
                <a:cs typeface="Helvetica Neue"/>
              </a:defRPr>
            </a:pPr>
            <a:r>
              <a:rPr sz="1725" b="1">
                <a:solidFill>
                  <a:srgbClr val="18744D"/>
                </a:solidFill>
                <a:latin typeface="Helvetica Neue"/>
                <a:ea typeface="Helvetica Neue"/>
                <a:cs typeface="Helvetica Neue"/>
              </a:rPr>
              <a:t>PASÓ</a:t>
            </a:r>
          </a:p>
        </p:txBody>
      </p:sp>
      <p:sp>
        <p:nvSpPr>
          <p:cNvPr id="5" name="">
            <a:extLst xmlns:a="http://schemas.openxmlformats.org/drawingml/2006/main">
              <a:ext uri="{FF2B5EF4-FFF2-40B4-BE49-F238E27FC236}">
                <a16:creationId xmlns:a16="http://schemas.microsoft.com/office/drawing/2014/main" id="{BC78AA28-31CA-4514-AE68-74881FF3D5DA}"/>
              </a:ext>
            </a:extLst>
          </p:cNvPr>
          <p:cNvSpPr>
            <a:spLocks xmlns:a="http://schemas.openxmlformats.org/drawingml/2006/main" noGrp="1"/>
          </p:cNvSpPr>
          <p:nvPr/>
        </p:nvSpPr>
        <p:spPr>
          <a:xfrm xmlns:a="http://schemas.openxmlformats.org/drawingml/2006/main">
            <a:off x="6343650" y="21812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D3D"/>
                </a:solidFill>
                <a:latin typeface="Helvetica Neue"/>
                <a:ea typeface="Helvetica Neue"/>
                <a:cs typeface="Helvetica Neue"/>
              </a:defRPr>
            </a:pPr>
            <a:r>
              <a:rPr sz="2250" b="0">
                <a:solidFill>
                  <a:srgbClr val="142D3D"/>
                </a:solidFill>
                <a:latin typeface="Helvetica Neue"/>
                <a:ea typeface="Helvetica Neue"/>
                <a:cs typeface="Helvetica Neue"/>
              </a:rPr>
              <a:t>Orden por precio</a:t>
            </a:r>
          </a:p>
          <a:p xmlns:a="http://schemas.openxmlformats.org/drawingml/2006/main">
            <a:pPr>
              <a:defRPr sz="2250" b="0">
                <a:solidFill>
                  <a:srgbClr val="142D3D"/>
                </a:solidFill>
                <a:latin typeface="Helvetica Neue"/>
                <a:ea typeface="Helvetica Neue"/>
                <a:cs typeface="Helvetica Neue"/>
              </a:defRPr>
            </a:pPr>
            <a:r>
              <a:rPr sz="2250" b="0">
                <a:solidFill>
                  <a:srgbClr val="142D3D"/>
                </a:solidFill>
                <a:latin typeface="Helvetica Neue"/>
                <a:ea typeface="Helvetica Neue"/>
                <a:cs typeface="Helvetica Neue"/>
              </a:rPr>
              <a:t>12 productos, ascendente y descendente</a:t>
            </a:r>
          </a:p>
        </p:txBody>
      </p:sp>
      <p:sp>
        <p:nvSpPr>
          <p:cNvPr id="6" name="">
            <a:extLst xmlns:a="http://schemas.openxmlformats.org/drawingml/2006/main">
              <a:ext uri="{FF2B5EF4-FFF2-40B4-BE49-F238E27FC236}">
                <a16:creationId xmlns:a16="http://schemas.microsoft.com/office/drawing/2014/main" id="{66D0DDB0-3E07-41A3-BF96-434281F80E53}"/>
              </a:ext>
            </a:extLst>
          </p:cNvPr>
          <p:cNvSpPr>
            <a:spLocks xmlns:a="http://schemas.openxmlformats.org/drawingml/2006/main" noGrp="1"/>
          </p:cNvSpPr>
          <p:nvPr/>
        </p:nvSpPr>
        <p:spPr>
          <a:xfrm xmlns:a="http://schemas.openxmlformats.org/drawingml/2006/main">
            <a:off x="6343650" y="3333750"/>
            <a:ext cx="5048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D3D"/>
                </a:solidFill>
                <a:latin typeface="Helvetica Neue"/>
                <a:ea typeface="Helvetica Neue"/>
                <a:cs typeface="Helvetica Neue"/>
              </a:defRPr>
            </a:pPr>
            <a:r>
              <a:rPr sz="2250" b="0">
                <a:solidFill>
                  <a:srgbClr val="142D3D"/>
                </a:solidFill>
                <a:latin typeface="Helvetica Neue"/>
                <a:ea typeface="Helvetica Neue"/>
                <a:cs typeface="Helvetica Neue"/>
              </a:rPr>
              <a:t>Omisión de opción</a:t>
            </a:r>
          </a:p>
          <a:p xmlns:a="http://schemas.openxmlformats.org/drawingml/2006/main">
            <a:pPr>
              <a:defRPr sz="2250" b="0">
                <a:solidFill>
                  <a:srgbClr val="142D3D"/>
                </a:solidFill>
                <a:latin typeface="Helvetica Neue"/>
                <a:ea typeface="Helvetica Neue"/>
                <a:cs typeface="Helvetica Neue"/>
              </a:defRPr>
            </a:pPr>
            <a:r>
              <a:rPr sz="2250" b="0">
                <a:solidFill>
                  <a:srgbClr val="142D3D"/>
                </a:solidFill>
                <a:latin typeface="Helvetica Neue"/>
                <a:ea typeface="Helvetica Neue"/>
                <a:cs typeface="Helvetica Neue"/>
              </a:rPr>
              <a:t>“Select required!” y carrito vacío</a:t>
            </a:r>
          </a:p>
        </p:txBody>
      </p:sp>
      <p:sp>
        <p:nvSpPr>
          <p:cNvPr id="7" name="">
            <a:extLst xmlns:a="http://schemas.openxmlformats.org/drawingml/2006/main">
              <a:ext uri="{FF2B5EF4-FFF2-40B4-BE49-F238E27FC236}">
                <a16:creationId xmlns:a16="http://schemas.microsoft.com/office/drawing/2014/main" id="{CCF7DDC0-7E34-426D-90B1-86EF3D2033E7}"/>
              </a:ext>
            </a:extLst>
          </p:cNvPr>
          <p:cNvSpPr>
            <a:spLocks xmlns:a="http://schemas.openxmlformats.org/drawingml/2006/main" noGrp="1"/>
          </p:cNvSpPr>
          <p:nvPr/>
        </p:nvSpPr>
        <p:spPr>
          <a:xfrm xmlns:a="http://schemas.openxmlformats.org/drawingml/2006/main">
            <a:off x="6343650" y="47244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46810"/>
                </a:solidFill>
                <a:latin typeface="Helvetica Neue"/>
                <a:ea typeface="Helvetica Neue"/>
                <a:cs typeface="Helvetica Neue"/>
              </a:defRPr>
            </a:pPr>
            <a:r>
              <a:rPr sz="1725" b="1">
                <a:solidFill>
                  <a:srgbClr val="A46810"/>
                </a:solidFill>
                <a:latin typeface="Helvetica Neue"/>
                <a:ea typeface="Helvetica Neue"/>
                <a:cs typeface="Helvetica Neue"/>
              </a:rPr>
              <a:t>BLOQUEADO</a:t>
            </a:r>
          </a:p>
        </p:txBody>
      </p:sp>
      <p:sp>
        <p:nvSpPr>
          <p:cNvPr id="8" name="">
            <a:extLst xmlns:a="http://schemas.openxmlformats.org/drawingml/2006/main">
              <a:ext uri="{FF2B5EF4-FFF2-40B4-BE49-F238E27FC236}">
                <a16:creationId xmlns:a16="http://schemas.microsoft.com/office/drawing/2014/main" id="{E0B6FEFE-5682-476A-8AFA-2E2E7BA0DEFB}"/>
              </a:ext>
            </a:extLst>
          </p:cNvPr>
          <p:cNvSpPr>
            <a:spLocks xmlns:a="http://schemas.openxmlformats.org/drawingml/2006/main" noGrp="1"/>
          </p:cNvSpPr>
          <p:nvPr/>
        </p:nvSpPr>
        <p:spPr>
          <a:xfrm xmlns:a="http://schemas.openxmlformats.org/drawingml/2006/main">
            <a:off x="6343650" y="51816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3D"/>
                </a:solidFill>
                <a:latin typeface="Helvetica Neue"/>
                <a:ea typeface="Helvetica Neue"/>
                <a:cs typeface="Helvetica Neue"/>
              </a:defRPr>
            </a:pPr>
            <a:r>
              <a:rPr sz="2100" b="0">
                <a:solidFill>
                  <a:srgbClr val="142D3D"/>
                </a:solidFill>
                <a:latin typeface="Helvetica Neue"/>
                <a:ea typeface="Helvetica Neue"/>
                <a:cs typeface="Helvetica Neue"/>
              </a:rPr>
              <a:t>Opciones válidas y cupones:</a:t>
            </a:r>
          </a:p>
          <a:p xmlns:a="http://schemas.openxmlformats.org/drawingml/2006/main">
            <a:pPr>
              <a:defRPr sz="2100" b="0">
                <a:solidFill>
                  <a:srgbClr val="142D3D"/>
                </a:solidFill>
                <a:latin typeface="Helvetica Neue"/>
                <a:ea typeface="Helvetica Neue"/>
                <a:cs typeface="Helvetica Neue"/>
              </a:defRPr>
            </a:pPr>
            <a:r>
              <a:rPr sz="2100" b="0">
                <a:solidFill>
                  <a:srgbClr val="142D3D"/>
                </a:solidFill>
                <a:latin typeface="Helvetica Neue"/>
                <a:ea typeface="Helvetica Neue"/>
                <a:cs typeface="Helvetica Neue"/>
              </a:rPr>
              <a:t>faltaron datos utilizables</a:t>
            </a:r>
          </a:p>
        </p:txBody>
      </p:sp>
    </p:spTree>
    <p:extLst>
      <p:ext uri="{BB962C8B-B14F-4D97-AF65-F5344CB8AC3E}">
        <p14:creationId xmlns:p14="http://schemas.microsoft.com/office/powerpoint/2010/main" val="14108693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B68CAA-746C-42E5-8876-8BBA47102E3F}"/>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DEF-01: el total de línea es inconsistente</a:t>
            </a:r>
          </a:p>
        </p:txBody>
      </p:sp>
      <p:sp>
        <p:nvSpPr>
          <p:cNvPr id="2" name="">
            <a:extLst xmlns:a="http://schemas.openxmlformats.org/drawingml/2006/main">
              <a:ext uri="{FF2B5EF4-FFF2-40B4-BE49-F238E27FC236}">
                <a16:creationId xmlns:a16="http://schemas.microsoft.com/office/drawing/2014/main" id="{D570998B-EEC0-4AC7-8F95-75BD3BA9AABD}"/>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Franco   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ba33fd7cdc94575"/>
          <a:stretch xmlns:a="http://schemas.openxmlformats.org/drawingml/2006/main"/>
        </p:blipFill>
        <p:spPr>
          <a:xfrm xmlns:a="http://schemas.openxmlformats.org/drawingml/2006/main">
            <a:off x="849404" y="1666875"/>
            <a:ext cx="4949642"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293EA49-ED75-456F-B920-87F3F1B232A0}"/>
              </a:ext>
            </a:extLst>
          </p:cNvPr>
          <p:cNvSpPr>
            <a:spLocks xmlns:a="http://schemas.openxmlformats.org/drawingml/2006/main" noGrp="1"/>
          </p:cNvSpPr>
          <p:nvPr/>
        </p:nvSpPr>
        <p:spPr>
          <a:xfrm xmlns:a="http://schemas.openxmlformats.org/drawingml/2006/main">
            <a:off x="6667500" y="184785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D3D"/>
                </a:solidFill>
                <a:latin typeface="Helvetica Neue"/>
                <a:ea typeface="Helvetica Neue"/>
                <a:cs typeface="Helvetica Neue"/>
              </a:defRPr>
            </a:pPr>
            <a:r>
              <a:rPr sz="2850" b="1">
                <a:solidFill>
                  <a:srgbClr val="142D3D"/>
                </a:solidFill>
                <a:latin typeface="Helvetica Neue"/>
                <a:ea typeface="Helvetica Neue"/>
                <a:cs typeface="Helvetica Neue"/>
              </a:rPr>
              <a:t>122 × 2 = 244 USD</a:t>
            </a:r>
          </a:p>
        </p:txBody>
      </p:sp>
      <p:sp>
        <p:nvSpPr>
          <p:cNvPr id="5" name="">
            <a:extLst xmlns:a="http://schemas.openxmlformats.org/drawingml/2006/main">
              <a:ext uri="{FF2B5EF4-FFF2-40B4-BE49-F238E27FC236}">
                <a16:creationId xmlns:a16="http://schemas.microsoft.com/office/drawing/2014/main" id="{040BE903-06CE-4459-BB47-A0FC3969FC34}"/>
              </a:ext>
            </a:extLst>
          </p:cNvPr>
          <p:cNvSpPr>
            <a:spLocks xmlns:a="http://schemas.openxmlformats.org/drawingml/2006/main" noGrp="1"/>
          </p:cNvSpPr>
          <p:nvPr/>
        </p:nvSpPr>
        <p:spPr>
          <a:xfrm xmlns:a="http://schemas.openxmlformats.org/drawingml/2006/main">
            <a:off x="6667500" y="291465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BA3C3C"/>
                </a:solidFill>
                <a:latin typeface="Helvetica Neue"/>
                <a:ea typeface="Helvetica Neue"/>
                <a:cs typeface="Helvetica Neue"/>
              </a:defRPr>
            </a:pPr>
            <a:r>
              <a:rPr sz="4650" b="1">
                <a:solidFill>
                  <a:srgbClr val="BA3C3C"/>
                </a:solidFill>
                <a:latin typeface="Helvetica Neue"/>
                <a:ea typeface="Helvetica Neue"/>
                <a:cs typeface="Helvetica Neue"/>
              </a:rPr>
              <a:t>242 USD</a:t>
            </a:r>
          </a:p>
        </p:txBody>
      </p:sp>
      <p:sp>
        <p:nvSpPr>
          <p:cNvPr id="6" name="">
            <a:extLst xmlns:a="http://schemas.openxmlformats.org/drawingml/2006/main">
              <a:ext uri="{FF2B5EF4-FFF2-40B4-BE49-F238E27FC236}">
                <a16:creationId xmlns:a16="http://schemas.microsoft.com/office/drawing/2014/main" id="{2E618ED7-DD77-4DBB-AFFB-60C9F09F340A}"/>
              </a:ext>
            </a:extLst>
          </p:cNvPr>
          <p:cNvSpPr>
            <a:spLocks xmlns:a="http://schemas.openxmlformats.org/drawingml/2006/main" noGrp="1"/>
          </p:cNvSpPr>
          <p:nvPr/>
        </p:nvSpPr>
        <p:spPr>
          <a:xfrm xmlns:a="http://schemas.openxmlformats.org/drawingml/2006/main">
            <a:off x="6667500" y="37528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3D"/>
                </a:solidFill>
                <a:latin typeface="Helvetica Neue"/>
                <a:ea typeface="Helvetica Neue"/>
                <a:cs typeface="Helvetica Neue"/>
              </a:defRPr>
            </a:pPr>
            <a:r>
              <a:rPr sz="2025" b="0">
                <a:solidFill>
                  <a:srgbClr val="142D3D"/>
                </a:solidFill>
                <a:latin typeface="Helvetica Neue"/>
                <a:ea typeface="Helvetica Neue"/>
                <a:cs typeface="Helvetica Neue"/>
              </a:rPr>
              <a:t>Total de línea observado</a:t>
            </a:r>
          </a:p>
        </p:txBody>
      </p:sp>
      <p:sp>
        <p:nvSpPr>
          <p:cNvPr id="7" name="">
            <a:extLst xmlns:a="http://schemas.openxmlformats.org/drawingml/2006/main">
              <a:ext uri="{FF2B5EF4-FFF2-40B4-BE49-F238E27FC236}">
                <a16:creationId xmlns:a16="http://schemas.microsoft.com/office/drawing/2014/main" id="{04166691-F244-430B-AE5D-E4A54A9A6073}"/>
              </a:ext>
            </a:extLst>
          </p:cNvPr>
          <p:cNvSpPr>
            <a:spLocks xmlns:a="http://schemas.openxmlformats.org/drawingml/2006/main" noGrp="1"/>
          </p:cNvSpPr>
          <p:nvPr/>
        </p:nvSpPr>
        <p:spPr>
          <a:xfrm xmlns:a="http://schemas.openxmlformats.org/drawingml/2006/main">
            <a:off x="6667500" y="4533900"/>
            <a:ext cx="466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7C9F"/>
                </a:solidFill>
                <a:latin typeface="Helvetica Neue"/>
                <a:ea typeface="Helvetica Neue"/>
                <a:cs typeface="Helvetica Neue"/>
              </a:defRPr>
            </a:pPr>
            <a:r>
              <a:rPr sz="3300" b="1">
                <a:solidFill>
                  <a:srgbClr val="007C9F"/>
                </a:solidFill>
                <a:latin typeface="Helvetica Neue"/>
                <a:ea typeface="Helvetica Neue"/>
                <a:cs typeface="Helvetica Neue"/>
              </a:rPr>
              <a:t>244 USD</a:t>
            </a:r>
          </a:p>
        </p:txBody>
      </p:sp>
      <p:sp>
        <p:nvSpPr>
          <p:cNvPr id="8" name="">
            <a:extLst xmlns:a="http://schemas.openxmlformats.org/drawingml/2006/main">
              <a:ext uri="{FF2B5EF4-FFF2-40B4-BE49-F238E27FC236}">
                <a16:creationId xmlns:a16="http://schemas.microsoft.com/office/drawing/2014/main" id="{8C86C52E-DD2E-4163-A589-D9E5B10E2DB1}"/>
              </a:ext>
            </a:extLst>
          </p:cNvPr>
          <p:cNvSpPr>
            <a:spLocks xmlns:a="http://schemas.openxmlformats.org/drawingml/2006/main" noGrp="1"/>
          </p:cNvSpPr>
          <p:nvPr/>
        </p:nvSpPr>
        <p:spPr>
          <a:xfrm xmlns:a="http://schemas.openxmlformats.org/drawingml/2006/main">
            <a:off x="6667500" y="52197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3D"/>
                </a:solidFill>
                <a:latin typeface="Helvetica Neue"/>
                <a:ea typeface="Helvetica Neue"/>
                <a:cs typeface="Helvetica Neue"/>
              </a:defRPr>
            </a:pPr>
            <a:r>
              <a:rPr sz="2025" b="0">
                <a:solidFill>
                  <a:srgbClr val="142D3D"/>
                </a:solidFill>
                <a:latin typeface="Helvetica Neue"/>
                <a:ea typeface="Helvetica Neue"/>
                <a:cs typeface="Helvetica Neue"/>
              </a:rPr>
              <a:t>Total general observado</a:t>
            </a:r>
          </a:p>
        </p:txBody>
      </p:sp>
      <p:sp>
        <p:nvSpPr>
          <p:cNvPr id="9" name="">
            <a:extLst xmlns:a="http://schemas.openxmlformats.org/drawingml/2006/main">
              <a:ext uri="{FF2B5EF4-FFF2-40B4-BE49-F238E27FC236}">
                <a16:creationId xmlns:a16="http://schemas.microsoft.com/office/drawing/2014/main" id="{8E035FA9-4082-405E-9CA7-747B2303B20A}"/>
              </a:ext>
            </a:extLst>
          </p:cNvPr>
          <p:cNvSpPr>
            <a:spLocks xmlns:a="http://schemas.openxmlformats.org/drawingml/2006/main" noGrp="1"/>
          </p:cNvSpPr>
          <p:nvPr/>
        </p:nvSpPr>
        <p:spPr>
          <a:xfrm xmlns:a="http://schemas.openxmlformats.org/drawingml/2006/main">
            <a:off x="6667500" y="57721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673"/>
                </a:solidFill>
                <a:latin typeface="Helvetica Neue"/>
                <a:ea typeface="Helvetica Neue"/>
                <a:cs typeface="Helvetica Neue"/>
              </a:defRPr>
            </a:pPr>
            <a:r>
              <a:rPr sz="1650" b="0">
                <a:solidFill>
                  <a:srgbClr val="516673"/>
                </a:solidFill>
                <a:latin typeface="Helvetica Neue"/>
                <a:ea typeface="Helvetica Neue"/>
                <a:cs typeface="Helvetica Neue"/>
              </a:rPr>
              <a:t>Causa raíz pendiente de confirmación</a:t>
            </a:r>
          </a:p>
        </p:txBody>
      </p:sp>
    </p:spTree>
    <p:extLst>
      <p:ext uri="{BB962C8B-B14F-4D97-AF65-F5344CB8AC3E}">
        <p14:creationId xmlns:p14="http://schemas.microsoft.com/office/powerpoint/2010/main" val="12603862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98E92F-FCD5-4D0A-8D96-6CE84A70A760}"/>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Frontera de stock y alcance del veredicto</a:t>
            </a:r>
          </a:p>
        </p:txBody>
      </p:sp>
      <p:sp>
        <p:nvSpPr>
          <p:cNvPr id="2" name="">
            <a:extLst xmlns:a="http://schemas.openxmlformats.org/drawingml/2006/main">
              <a:ext uri="{FF2B5EF4-FFF2-40B4-BE49-F238E27FC236}">
                <a16:creationId xmlns:a16="http://schemas.microsoft.com/office/drawing/2014/main" id="{20209117-DF0D-45CD-9E95-A0858C9262CA}"/>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Franco   07</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a8ca5d636b14f15"/>
          <a:stretch xmlns:a="http://schemas.openxmlformats.org/drawingml/2006/main"/>
        </p:blipFill>
        <p:spPr>
          <a:xfrm xmlns:a="http://schemas.openxmlformats.org/drawingml/2006/main">
            <a:off x="682717" y="1666875"/>
            <a:ext cx="4949642"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44691FF-757E-4BC7-97CE-3107A0E484DF}"/>
              </a:ext>
            </a:extLst>
          </p:cNvPr>
          <p:cNvSpPr>
            <a:spLocks xmlns:a="http://schemas.openxmlformats.org/drawingml/2006/main" noGrp="1"/>
          </p:cNvSpPr>
          <p:nvPr/>
        </p:nvSpPr>
        <p:spPr>
          <a:xfrm xmlns:a="http://schemas.openxmlformats.org/drawingml/2006/main">
            <a:off x="6286500" y="185737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C9F"/>
                </a:solidFill>
                <a:latin typeface="Helvetica Neue"/>
                <a:ea typeface="Helvetica Neue"/>
                <a:cs typeface="Helvetica Neue"/>
              </a:defRPr>
            </a:pPr>
            <a:r>
              <a:rPr sz="3150" b="1">
                <a:solidFill>
                  <a:srgbClr val="007C9F"/>
                </a:solidFill>
                <a:latin typeface="Helvetica Neue"/>
                <a:ea typeface="Helvetica Neue"/>
                <a:cs typeface="Helvetica Neue"/>
              </a:rPr>
              <a:t>S = 147</a:t>
            </a:r>
          </a:p>
        </p:txBody>
      </p:sp>
      <p:sp>
        <p:nvSpPr>
          <p:cNvPr id="5" name="">
            <a:extLst xmlns:a="http://schemas.openxmlformats.org/drawingml/2006/main">
              <a:ext uri="{FF2B5EF4-FFF2-40B4-BE49-F238E27FC236}">
                <a16:creationId xmlns:a16="http://schemas.microsoft.com/office/drawing/2014/main" id="{2B337B3E-CE91-4C62-B0A4-64B81752434A}"/>
              </a:ext>
            </a:extLst>
          </p:cNvPr>
          <p:cNvSpPr>
            <a:spLocks xmlns:a="http://schemas.openxmlformats.org/drawingml/2006/main" noGrp="1"/>
          </p:cNvSpPr>
          <p:nvPr/>
        </p:nvSpPr>
        <p:spPr>
          <a:xfrm xmlns:a="http://schemas.openxmlformats.org/drawingml/2006/main">
            <a:off x="6286500" y="254317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3D"/>
                </a:solidFill>
                <a:latin typeface="Helvetica Neue"/>
                <a:ea typeface="Helvetica Neue"/>
                <a:cs typeface="Helvetica Neue"/>
              </a:defRPr>
            </a:pPr>
            <a:r>
              <a:rPr sz="2175" b="0">
                <a:solidFill>
                  <a:srgbClr val="142D3D"/>
                </a:solidFill>
                <a:latin typeface="Helvetica Neue"/>
                <a:ea typeface="Helvetica Neue"/>
                <a:cs typeface="Helvetica Neue"/>
              </a:rPr>
              <a:t>Sin señal de insuficiencia</a:t>
            </a:r>
          </a:p>
        </p:txBody>
      </p:sp>
      <p:sp>
        <p:nvSpPr>
          <p:cNvPr id="6" name="">
            <a:extLst xmlns:a="http://schemas.openxmlformats.org/drawingml/2006/main">
              <a:ext uri="{FF2B5EF4-FFF2-40B4-BE49-F238E27FC236}">
                <a16:creationId xmlns:a16="http://schemas.microsoft.com/office/drawing/2014/main" id="{C6A719F0-D473-4F5E-9B03-0FF765E9563C}"/>
              </a:ext>
            </a:extLst>
          </p:cNvPr>
          <p:cNvSpPr>
            <a:spLocks xmlns:a="http://schemas.openxmlformats.org/drawingml/2006/main" noGrp="1"/>
          </p:cNvSpPr>
          <p:nvPr/>
        </p:nvSpPr>
        <p:spPr>
          <a:xfrm xmlns:a="http://schemas.openxmlformats.org/drawingml/2006/main">
            <a:off x="6286500" y="345757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C9F"/>
                </a:solidFill>
                <a:latin typeface="Helvetica Neue"/>
                <a:ea typeface="Helvetica Neue"/>
                <a:cs typeface="Helvetica Neue"/>
              </a:defRPr>
            </a:pPr>
            <a:r>
              <a:rPr sz="3150" b="1">
                <a:solidFill>
                  <a:srgbClr val="007C9F"/>
                </a:solidFill>
                <a:latin typeface="Helvetica Neue"/>
                <a:ea typeface="Helvetica Neue"/>
                <a:cs typeface="Helvetica Neue"/>
              </a:rPr>
              <a:t>S + 1 = 148</a:t>
            </a:r>
          </a:p>
        </p:txBody>
      </p:sp>
      <p:sp>
        <p:nvSpPr>
          <p:cNvPr id="7" name="">
            <a:extLst xmlns:a="http://schemas.openxmlformats.org/drawingml/2006/main">
              <a:ext uri="{FF2B5EF4-FFF2-40B4-BE49-F238E27FC236}">
                <a16:creationId xmlns:a16="http://schemas.microsoft.com/office/drawing/2014/main" id="{B15BD4B8-92E8-44F9-8BCE-3519D12CB952}"/>
              </a:ext>
            </a:extLst>
          </p:cNvPr>
          <p:cNvSpPr>
            <a:spLocks xmlns:a="http://schemas.openxmlformats.org/drawingml/2006/main" noGrp="1"/>
          </p:cNvSpPr>
          <p:nvPr/>
        </p:nvSpPr>
        <p:spPr>
          <a:xfrm xmlns:a="http://schemas.openxmlformats.org/drawingml/2006/main">
            <a:off x="6286500" y="4181475"/>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3D"/>
                </a:solidFill>
                <a:latin typeface="Helvetica Neue"/>
                <a:ea typeface="Helvetica Neue"/>
                <a:cs typeface="Helvetica Neue"/>
              </a:defRPr>
            </a:pPr>
            <a:r>
              <a:rPr sz="2175" b="0">
                <a:solidFill>
                  <a:srgbClr val="142D3D"/>
                </a:solidFill>
                <a:latin typeface="Helvetica Neue"/>
                <a:ea typeface="Helvetica Neue"/>
                <a:cs typeface="Helvetica Neue"/>
              </a:rPr>
              <a:t>Marca de stock insuficiente</a:t>
            </a:r>
          </a:p>
          <a:p xmlns:a="http://schemas.openxmlformats.org/drawingml/2006/main">
            <a:pPr>
              <a:defRPr sz="2175" b="0">
                <a:solidFill>
                  <a:srgbClr val="142D3D"/>
                </a:solidFill>
                <a:latin typeface="Helvetica Neue"/>
                <a:ea typeface="Helvetica Neue"/>
                <a:cs typeface="Helvetica Neue"/>
              </a:defRPr>
            </a:pPr>
            <a:r>
              <a:rPr sz="2175" b="0">
                <a:solidFill>
                  <a:srgbClr val="142D3D"/>
                </a:solidFill>
                <a:latin typeface="Helvetica Neue"/>
                <a:ea typeface="Helvetica Neue"/>
                <a:cs typeface="Helvetica Neue"/>
              </a:rPr>
              <a:t>y retorno al carrito</a:t>
            </a:r>
          </a:p>
        </p:txBody>
      </p:sp>
      <p:sp>
        <p:nvSpPr>
          <p:cNvPr id="8" name="">
            <a:extLst xmlns:a="http://schemas.openxmlformats.org/drawingml/2006/main">
              <a:ext uri="{FF2B5EF4-FFF2-40B4-BE49-F238E27FC236}">
                <a16:creationId xmlns:a16="http://schemas.microsoft.com/office/drawing/2014/main" id="{DF2D89B9-F00F-4095-9418-792BFA009834}"/>
              </a:ext>
            </a:extLst>
          </p:cNvPr>
          <p:cNvSpPr>
            <a:spLocks xmlns:a="http://schemas.openxmlformats.org/drawingml/2006/main" noGrp="1"/>
          </p:cNvSpPr>
          <p:nvPr/>
        </p:nvSpPr>
        <p:spPr>
          <a:xfrm xmlns:a="http://schemas.openxmlformats.org/drawingml/2006/main">
            <a:off x="6286500" y="535305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673"/>
                </a:solidFill>
                <a:latin typeface="Helvetica Neue"/>
                <a:ea typeface="Helvetica Neue"/>
                <a:cs typeface="Helvetica Neue"/>
              </a:defRPr>
            </a:pPr>
            <a:r>
              <a:rPr sz="1725" b="0">
                <a:solidFill>
                  <a:srgbClr val="516673"/>
                </a:solidFill>
                <a:latin typeface="Helvetica Neue"/>
                <a:ea typeface="Helvetica Neue"/>
                <a:cs typeface="Helvetica Neue"/>
              </a:rPr>
              <a:t>CP-CAR-02: Pasó en cantidades y frontera.</a:t>
            </a:r>
          </a:p>
          <a:p xmlns:a="http://schemas.openxmlformats.org/drawingml/2006/main">
            <a:pPr>
              <a:defRPr sz="1725" b="0">
                <a:solidFill>
                  <a:srgbClr val="516673"/>
                </a:solidFill>
                <a:latin typeface="Helvetica Neue"/>
                <a:ea typeface="Helvetica Neue"/>
                <a:cs typeface="Helvetica Neue"/>
              </a:defRPr>
            </a:pPr>
            <a:r>
              <a:rPr sz="1725" b="0">
                <a:solidFill>
                  <a:srgbClr val="516673"/>
                </a:solidFill>
                <a:latin typeface="Helvetica Neue"/>
                <a:ea typeface="Helvetica Neue"/>
                <a:cs typeface="Helvetica Neue"/>
              </a:rPr>
              <a:t>La aritmética se evalúa en CP-CAR-01.</a:t>
            </a:r>
          </a:p>
        </p:txBody>
      </p:sp>
    </p:spTree>
    <p:extLst>
      <p:ext uri="{BB962C8B-B14F-4D97-AF65-F5344CB8AC3E}">
        <p14:creationId xmlns:p14="http://schemas.microsoft.com/office/powerpoint/2010/main" val="2591149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98A212-0A33-48A1-BFA1-16FCBEB4BC7C}"/>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DEF-04: el checkout no ofrece pago</a:t>
            </a:r>
          </a:p>
        </p:txBody>
      </p:sp>
      <p:sp>
        <p:nvSpPr>
          <p:cNvPr id="2" name="">
            <a:extLst xmlns:a="http://schemas.openxmlformats.org/drawingml/2006/main">
              <a:ext uri="{FF2B5EF4-FFF2-40B4-BE49-F238E27FC236}">
                <a16:creationId xmlns:a16="http://schemas.microsoft.com/office/drawing/2014/main" id="{C278DD4A-3717-44B5-BA4F-2E1EB1A8D5B8}"/>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Granit   08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be227c4f2274c2d"/>
          <a:stretch xmlns:a="http://schemas.openxmlformats.org/drawingml/2006/main"/>
        </p:blipFill>
        <p:spPr>
          <a:xfrm xmlns:a="http://schemas.openxmlformats.org/drawingml/2006/main">
            <a:off x="849404" y="1666875"/>
            <a:ext cx="4949642"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E2EAB60-DD49-4B89-AEC1-B78C3D097CB3}"/>
              </a:ext>
            </a:extLst>
          </p:cNvPr>
          <p:cNvSpPr>
            <a:spLocks xmlns:a="http://schemas.openxmlformats.org/drawingml/2006/main" noGrp="1"/>
          </p:cNvSpPr>
          <p:nvPr/>
        </p:nvSpPr>
        <p:spPr>
          <a:xfrm xmlns:a="http://schemas.openxmlformats.org/drawingml/2006/main">
            <a:off x="6648450" y="189547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A3C3C"/>
                </a:solidFill>
                <a:latin typeface="Helvetica Neue"/>
                <a:ea typeface="Helvetica Neue"/>
                <a:cs typeface="Helvetica Neue"/>
              </a:defRPr>
            </a:pPr>
            <a:r>
              <a:rPr sz="2550" b="1">
                <a:solidFill>
                  <a:srgbClr val="BA3C3C"/>
                </a:solidFill>
                <a:latin typeface="Helvetica Neue"/>
                <a:ea typeface="Helvetica Neue"/>
                <a:cs typeface="Helvetica Neue"/>
              </a:rPr>
              <a:t>CP-CHK-01: Falló</a:t>
            </a:r>
          </a:p>
        </p:txBody>
      </p:sp>
      <p:sp>
        <p:nvSpPr>
          <p:cNvPr id="5" name="">
            <a:extLst xmlns:a="http://schemas.openxmlformats.org/drawingml/2006/main">
              <a:ext uri="{FF2B5EF4-FFF2-40B4-BE49-F238E27FC236}">
                <a16:creationId xmlns:a16="http://schemas.microsoft.com/office/drawing/2014/main" id="{3B113EA6-E61A-4C2C-9D7A-DC8AEF0BFB51}"/>
              </a:ext>
            </a:extLst>
          </p:cNvPr>
          <p:cNvSpPr>
            <a:spLocks xmlns:a="http://schemas.openxmlformats.org/drawingml/2006/main" noGrp="1"/>
          </p:cNvSpPr>
          <p:nvPr/>
        </p:nvSpPr>
        <p:spPr>
          <a:xfrm xmlns:a="http://schemas.openxmlformats.org/drawingml/2006/main">
            <a:off x="6648450" y="2724150"/>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D3D"/>
                </a:solidFill>
                <a:latin typeface="Helvetica Neue"/>
                <a:ea typeface="Helvetica Neue"/>
                <a:cs typeface="Helvetica Neue"/>
              </a:defRPr>
            </a:pPr>
            <a:r>
              <a:rPr sz="2325" b="0">
                <a:solidFill>
                  <a:srgbClr val="142D3D"/>
                </a:solidFill>
                <a:latin typeface="Helvetica Neue"/>
                <a:ea typeface="Helvetica Neue"/>
                <a:cs typeface="Helvetica Neue"/>
              </a:rPr>
              <a:t>El invitado guarda sus datos,</a:t>
            </a:r>
          </a:p>
          <a:p xmlns:a="http://schemas.openxmlformats.org/drawingml/2006/main">
            <a:pPr>
              <a:defRPr sz="2325" b="0">
                <a:solidFill>
                  <a:srgbClr val="142D3D"/>
                </a:solidFill>
                <a:latin typeface="Helvetica Neue"/>
                <a:ea typeface="Helvetica Neue"/>
                <a:cs typeface="Helvetica Neue"/>
              </a:defRPr>
            </a:pPr>
            <a:r>
              <a:rPr sz="2325" b="0">
                <a:solidFill>
                  <a:srgbClr val="142D3D"/>
                </a:solidFill>
                <a:latin typeface="Helvetica Neue"/>
                <a:ea typeface="Helvetica Neue"/>
                <a:cs typeface="Helvetica Neue"/>
              </a:rPr>
              <a:t>pero no puede seleccionar pago.</a:t>
            </a:r>
          </a:p>
        </p:txBody>
      </p:sp>
      <p:sp>
        <p:nvSpPr>
          <p:cNvPr id="6" name="">
            <a:extLst xmlns:a="http://schemas.openxmlformats.org/drawingml/2006/main">
              <a:ext uri="{FF2B5EF4-FFF2-40B4-BE49-F238E27FC236}">
                <a16:creationId xmlns:a16="http://schemas.microsoft.com/office/drawing/2014/main" id="{418C73F5-FF6B-4FF6-BFE8-CFCBEEA4B863}"/>
              </a:ext>
            </a:extLst>
          </p:cNvPr>
          <p:cNvSpPr>
            <a:spLocks xmlns:a="http://schemas.openxmlformats.org/drawingml/2006/main" noGrp="1"/>
          </p:cNvSpPr>
          <p:nvPr/>
        </p:nvSpPr>
        <p:spPr>
          <a:xfrm xmlns:a="http://schemas.openxmlformats.org/drawingml/2006/main">
            <a:off x="6648450" y="43148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D3D"/>
                </a:solidFill>
                <a:latin typeface="Helvetica Neue"/>
                <a:ea typeface="Helvetica Neue"/>
                <a:cs typeface="Helvetica Neue"/>
              </a:defRPr>
            </a:pPr>
            <a:r>
              <a:rPr sz="2850" b="1">
                <a:solidFill>
                  <a:srgbClr val="142D3D"/>
                </a:solidFill>
                <a:latin typeface="Helvetica Neue"/>
                <a:ea typeface="Helvetica Neue"/>
                <a:cs typeface="Helvetica Neue"/>
              </a:rPr>
              <a:t>Sin confirmación</a:t>
            </a:r>
          </a:p>
          <a:p xmlns:a="http://schemas.openxmlformats.org/drawingml/2006/main">
            <a:pPr>
              <a:defRPr sz="2850" b="1">
                <a:solidFill>
                  <a:srgbClr val="142D3D"/>
                </a:solidFill>
                <a:latin typeface="Helvetica Neue"/>
                <a:ea typeface="Helvetica Neue"/>
                <a:cs typeface="Helvetica Neue"/>
              </a:defRPr>
            </a:pPr>
            <a:r>
              <a:rPr sz="2850" b="1">
                <a:solidFill>
                  <a:srgbClr val="142D3D"/>
                </a:solidFill>
                <a:latin typeface="Helvetica Neue"/>
                <a:ea typeface="Helvetica Neue"/>
                <a:cs typeface="Helvetica Neue"/>
              </a:rPr>
              <a:t>ni orden propia</a:t>
            </a:r>
          </a:p>
        </p:txBody>
      </p:sp>
      <p:sp>
        <p:nvSpPr>
          <p:cNvPr id="7" name="">
            <a:extLst xmlns:a="http://schemas.openxmlformats.org/drawingml/2006/main">
              <a:ext uri="{FF2B5EF4-FFF2-40B4-BE49-F238E27FC236}">
                <a16:creationId xmlns:a16="http://schemas.microsoft.com/office/drawing/2014/main" id="{1B8421EE-D448-4DAC-8D4A-98D1FD4FE84E}"/>
              </a:ext>
            </a:extLst>
          </p:cNvPr>
          <p:cNvSpPr>
            <a:spLocks xmlns:a="http://schemas.openxmlformats.org/drawingml/2006/main" noGrp="1"/>
          </p:cNvSpPr>
          <p:nvPr/>
        </p:nvSpPr>
        <p:spPr>
          <a:xfrm xmlns:a="http://schemas.openxmlformats.org/drawingml/2006/main">
            <a:off x="6648450" y="5524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673"/>
                </a:solidFill>
                <a:latin typeface="Helvetica Neue"/>
                <a:ea typeface="Helvetica Neue"/>
                <a:cs typeface="Helvetica Neue"/>
              </a:defRPr>
            </a:pPr>
            <a:r>
              <a:rPr sz="1800" b="0">
                <a:solidFill>
                  <a:srgbClr val="516673"/>
                </a:solidFill>
                <a:latin typeface="Helvetica Neue"/>
                <a:ea typeface="Helvetica Neue"/>
                <a:cs typeface="Helvetica Neue"/>
              </a:rPr>
              <a:t>Crítica para el recorrido ensayado.</a:t>
            </a:r>
          </a:p>
          <a:p xmlns:a="http://schemas.openxmlformats.org/drawingml/2006/main">
            <a:pPr>
              <a:defRPr sz="1800" b="0">
                <a:solidFill>
                  <a:srgbClr val="516673"/>
                </a:solidFill>
                <a:latin typeface="Helvetica Neue"/>
                <a:ea typeface="Helvetica Neue"/>
                <a:cs typeface="Helvetica Neue"/>
              </a:defRPr>
            </a:pPr>
            <a:r>
              <a:rPr sz="1800" b="0">
                <a:solidFill>
                  <a:srgbClr val="516673"/>
                </a:solidFill>
                <a:latin typeface="Helvetica Neue"/>
                <a:ea typeface="Helvetica Neue"/>
                <a:cs typeface="Helvetica Neue"/>
              </a:rPr>
              <a:t>Causa/configuración en análisis.</a:t>
            </a:r>
          </a:p>
        </p:txBody>
      </p:sp>
    </p:spTree>
    <p:extLst>
      <p:ext uri="{BB962C8B-B14F-4D97-AF65-F5344CB8AC3E}">
        <p14:creationId xmlns:p14="http://schemas.microsoft.com/office/powerpoint/2010/main" val="11237387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0528FC-6F58-4199-A03E-F2A8E0B624A9}"/>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Los bloqueos tienen causas distintas</a:t>
            </a:r>
          </a:p>
        </p:txBody>
      </p:sp>
      <p:sp>
        <p:nvSpPr>
          <p:cNvPr id="2" name="">
            <a:extLst xmlns:a="http://schemas.openxmlformats.org/drawingml/2006/main">
              <a:ext uri="{FF2B5EF4-FFF2-40B4-BE49-F238E27FC236}">
                <a16:creationId xmlns:a16="http://schemas.microsoft.com/office/drawing/2014/main" id="{2F18AB3D-EA4E-4F43-B31A-8D2DCE06EEA8}"/>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Granit   09</a:t>
            </a:r>
          </a:p>
        </p:txBody>
      </p:sp>
      <p:graphicFrame>
        <p:nvGraphicFramePr>
          <p:cNvPr id="7" name=""/>
          <p:cNvGraphicFramePr/>
          <p:nvPr/>
        </p:nvGraphicFramePr>
        <p:xfrm>
          <a:off xmlns:a="http://schemas.openxmlformats.org/drawingml/2006/main" x="609600" y="1762125"/>
          <a:ext xmlns:a="http://schemas.openxmlformats.org/drawingml/2006/main" cx="10972800" cy="3714750"/>
        </p:xfrm>
        <a:graphic xmlns:a="http://schemas.openxmlformats.org/drawingml/2006/main">
          <a:graphicData uri="http://schemas.openxmlformats.org/drawingml/2006/table">
            <a:tbl>
              <a:tblPr/>
              <a:tblGrid>
                <a:gridCol w="4333875"/>
                <a:gridCol w="6638925"/>
              </a:tblGrid>
              <a:tr h="928688">
                <a:tc>
                  <a:txBody>
                    <a:bodyPr>
                      <a:noAutofit/>
                    </a:bodyPr>
                    <a:lstStyle/>
                    <a:p>
                      <a:r>
                        <a:rPr sz="2025" b="1">
                          <a:solidFill>
                            <a:srgbClr val="FFFFFF"/>
                          </a:solidFill>
                          <a:latin typeface="Helvetica Neue"/>
                          <a:ea typeface="Helvetica Neue"/>
                          <a:cs typeface="Helvetica Neue"/>
                        </a:rPr>
                        <a:t>Precondición faltante</a:t>
                      </a:r>
                    </a:p>
                  </a:txBody>
                  <a:tcPr marL="91440" marR="91440" marT="45720" marB="45720">
                    <a:solidFill>
                      <a:srgbClr val="142D3D"/>
                    </a:solidFill>
                  </a:tcPr>
                </a:tc>
                <a:tc>
                  <a:txBody>
                    <a:bodyPr>
                      <a:noAutofit/>
                    </a:bodyPr>
                    <a:lstStyle/>
                    <a:p>
                      <a:r>
                        <a:rPr sz="2025" b="1">
                          <a:solidFill>
                            <a:srgbClr val="FFFFFF"/>
                          </a:solidFill>
                          <a:latin typeface="Helvetica Neue"/>
                          <a:ea typeface="Helvetica Neue"/>
                          <a:cs typeface="Helvetica Neue"/>
                        </a:rPr>
                        <a:t>Casos Alta bloqueados</a:t>
                      </a:r>
                    </a:p>
                  </a:txBody>
                  <a:tcPr marL="91440" marR="91440" marT="45720" marB="45720">
                    <a:solidFill>
                      <a:srgbClr val="142D3D"/>
                    </a:solidFill>
                  </a:tcPr>
                </a:tc>
              </a:tr>
              <a:tr h="928688">
                <a:tc>
                  <a:txBody>
                    <a:bodyPr>
                      <a:noAutofit/>
                    </a:bodyPr>
                    <a:lstStyle/>
                    <a:p>
                      <a:r>
                        <a:rPr sz="2025" b="0">
                          <a:solidFill>
                            <a:srgbClr val="142D3D"/>
                          </a:solidFill>
                          <a:latin typeface="Helvetica Neue"/>
                          <a:ea typeface="Helvetica Neue"/>
                          <a:cs typeface="Helvetica Neue"/>
                        </a:rPr>
                        <a:t>Orden propia</a:t>
                      </a:r>
                    </a:p>
                    <a:p>
                      <a:r>
                        <a:rPr sz="2025" b="0">
                          <a:solidFill>
                            <a:srgbClr val="142D3D"/>
                          </a:solidFill>
                          <a:latin typeface="Helvetica Neue"/>
                          <a:ea typeface="Helvetica Neue"/>
                          <a:cs typeface="Helvetica Neue"/>
                        </a:rPr>
                        <a:t>4 casos</a:t>
                      </a:r>
                    </a:p>
                  </a:txBody>
                  <a:tcPr marL="91440" marR="91440" marT="45720" marB="45720">
                    <a:solidFill>
                      <a:srgbClr val="FFFFFF"/>
                    </a:solidFill>
                  </a:tcPr>
                </a:tc>
                <a:tc>
                  <a:txBody>
                    <a:bodyPr>
                      <a:noAutofit/>
                    </a:bodyPr>
                    <a:lstStyle/>
                    <a:p>
                      <a:r>
                        <a:rPr sz="2025" b="0">
                          <a:solidFill>
                            <a:srgbClr val="142D3D"/>
                          </a:solidFill>
                          <a:latin typeface="Helvetica Neue"/>
                          <a:ea typeface="Helvetica Neue"/>
                          <a:cs typeface="Helvetica Neue"/>
                        </a:rPr>
                        <a:t>CP-CON-01, CP-CON-02</a:t>
                      </a:r>
                    </a:p>
                    <a:p>
                      <a:r>
                        <a:rPr sz="2025" b="0">
                          <a:solidFill>
                            <a:srgbClr val="142D3D"/>
                          </a:solidFill>
                          <a:latin typeface="Helvetica Neue"/>
                          <a:ea typeface="Helvetica Neue"/>
                          <a:cs typeface="Helvetica Neue"/>
                        </a:rPr>
                        <a:t>CP-PED-01, CP-RNF-01</a:t>
                      </a:r>
                    </a:p>
                  </a:txBody>
                  <a:tcPr marL="91440" marR="91440" marT="45720" marB="45720">
                    <a:solidFill>
                      <a:srgbClr val="FFFFFF"/>
                    </a:solidFill>
                  </a:tcPr>
                </a:tc>
              </a:tr>
              <a:tr h="928688">
                <a:tc>
                  <a:txBody>
                    <a:bodyPr>
                      <a:noAutofit/>
                    </a:bodyPr>
                    <a:lstStyle/>
                    <a:p>
                      <a:r>
                        <a:rPr sz="2025" b="0">
                          <a:solidFill>
                            <a:srgbClr val="142D3D"/>
                          </a:solidFill>
                          <a:latin typeface="Helvetica Neue"/>
                          <a:ea typeface="Helvetica Neue"/>
                          <a:cs typeface="Helvetica Neue"/>
                        </a:rPr>
                        <a:t>Permiso de modificación</a:t>
                      </a:r>
                    </a:p>
                    <a:p>
                      <a:r>
                        <a:rPr sz="2025" b="0">
                          <a:solidFill>
                            <a:srgbClr val="142D3D"/>
                          </a:solidFill>
                          <a:latin typeface="Helvetica Neue"/>
                          <a:ea typeface="Helvetica Neue"/>
                          <a:cs typeface="Helvetica Neue"/>
                        </a:rPr>
                        <a:t>1 caso</a:t>
                      </a:r>
                    </a:p>
                  </a:txBody>
                  <a:tcPr marL="91440" marR="91440" marT="45720" marB="45720">
                    <a:solidFill>
                      <a:srgbClr val="F2F6F8"/>
                    </a:solidFill>
                  </a:tcPr>
                </a:tc>
                <a:tc>
                  <a:txBody>
                    <a:bodyPr>
                      <a:noAutofit/>
                    </a:bodyPr>
                    <a:lstStyle/>
                    <a:p>
                      <a:r>
                        <a:rPr sz="2025" b="0">
                          <a:solidFill>
                            <a:srgbClr val="142D3D"/>
                          </a:solidFill>
                          <a:latin typeface="Helvetica Neue"/>
                          <a:ea typeface="Helvetica Neue"/>
                          <a:cs typeface="Helvetica Neue"/>
                        </a:rPr>
                        <a:t>CP-ADM-01</a:t>
                      </a:r>
                    </a:p>
                    <a:p>
                      <a:r>
                        <a:rPr sz="2025" b="0">
                          <a:solidFill>
                            <a:srgbClr val="142D3D"/>
                          </a:solidFill>
                          <a:latin typeface="Helvetica Neue"/>
                          <a:ea typeface="Helvetica Neue"/>
                          <a:cs typeface="Helvetica Neue"/>
                        </a:rPr>
                        <a:t>El panel rechazó el guardado</a:t>
                      </a:r>
                    </a:p>
                  </a:txBody>
                  <a:tcPr marL="91440" marR="91440" marT="45720" marB="45720">
                    <a:solidFill>
                      <a:srgbClr val="F2F6F8"/>
                    </a:solidFill>
                  </a:tcPr>
                </a:tc>
              </a:tr>
              <a:tr h="928688">
                <a:tc>
                  <a:txBody>
                    <a:bodyPr>
                      <a:noAutofit/>
                    </a:bodyPr>
                    <a:lstStyle/>
                    <a:p>
                      <a:r>
                        <a:rPr sz="2025" b="0">
                          <a:solidFill>
                            <a:srgbClr val="142D3D"/>
                          </a:solidFill>
                          <a:latin typeface="Helvetica Neue"/>
                          <a:ea typeface="Helvetica Neue"/>
                          <a:cs typeface="Helvetica Neue"/>
                        </a:rPr>
                        <a:t>Instrumentación verificable</a:t>
                      </a:r>
                    </a:p>
                    <a:p>
                      <a:r>
                        <a:rPr sz="2025" b="0">
                          <a:solidFill>
                            <a:srgbClr val="142D3D"/>
                          </a:solidFill>
                          <a:latin typeface="Helvetica Neue"/>
                          <a:ea typeface="Helvetica Neue"/>
                          <a:cs typeface="Helvetica Neue"/>
                        </a:rPr>
                        <a:t>1 caso</a:t>
                      </a:r>
                    </a:p>
                  </a:txBody>
                  <a:tcPr marL="91440" marR="91440" marT="45720" marB="45720">
                    <a:solidFill>
                      <a:srgbClr val="FFFFFF"/>
                    </a:solidFill>
                  </a:tcPr>
                </a:tc>
                <a:tc>
                  <a:txBody>
                    <a:bodyPr>
                      <a:noAutofit/>
                    </a:bodyPr>
                    <a:lstStyle/>
                    <a:p>
                      <a:r>
                        <a:rPr sz="2025" b="0">
                          <a:solidFill>
                            <a:srgbClr val="142D3D"/>
                          </a:solidFill>
                          <a:latin typeface="Helvetica Neue"/>
                          <a:ea typeface="Helvetica Neue"/>
                          <a:cs typeface="Helvetica Neue"/>
                        </a:rPr>
                        <a:t>CP-RNF-03</a:t>
                      </a:r>
                    </a:p>
                    <a:p>
                      <a:r>
                        <a:rPr sz="2025" b="0">
                          <a:solidFill>
                            <a:srgbClr val="142D3D"/>
                          </a:solidFill>
                          <a:latin typeface="Helvetica Neue"/>
                          <a:ea typeface="Helvetica Neue"/>
                          <a:cs typeface="Helvetica Neue"/>
                        </a:rPr>
                        <a:t>Protocolo pendiente: 18 muestras, &lt; 2000 ms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C985002-79BB-40B5-B444-8BBEE70E396E}"/>
              </a:ext>
            </a:extLst>
          </p:cNvPr>
          <p:cNvSpPr>
            <a:spLocks xmlns:a="http://schemas.openxmlformats.org/drawingml/2006/main" noGrp="1"/>
          </p:cNvSpPr>
          <p:nvPr/>
        </p:nvSpPr>
        <p:spPr>
          <a:xfrm xmlns:a="http://schemas.openxmlformats.org/drawingml/2006/main">
            <a:off x="609600" y="573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46810"/>
                </a:solidFill>
                <a:latin typeface="Helvetica Neue"/>
                <a:ea typeface="Helvetica Neue"/>
                <a:cs typeface="Helvetica Neue"/>
              </a:defRPr>
            </a:pPr>
            <a:r>
              <a:rPr sz="2100" b="1">
                <a:solidFill>
                  <a:srgbClr val="A46810"/>
                </a:solidFill>
                <a:latin typeface="Helvetica Neue"/>
                <a:ea typeface="Helvetica Neue"/>
                <a:cs typeface="Helvetica Neue"/>
              </a:rPr>
              <a:t>Bloqueado: el caso no pudo completar sus verificaciones.</a:t>
            </a:r>
          </a:p>
        </p:txBody>
      </p:sp>
    </p:spTree>
    <p:extLst>
      <p:ext uri="{BB962C8B-B14F-4D97-AF65-F5344CB8AC3E}">
        <p14:creationId xmlns:p14="http://schemas.microsoft.com/office/powerpoint/2010/main" val="8922252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36CAA2-8CB2-4BF5-BC28-2765BFE852E1}"/>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Resultados de los 14 casos Alta</a:t>
            </a:r>
          </a:p>
        </p:txBody>
      </p:sp>
      <p:sp>
        <p:nvSpPr>
          <p:cNvPr id="2" name="">
            <a:extLst xmlns:a="http://schemas.openxmlformats.org/drawingml/2006/main">
              <a:ext uri="{FF2B5EF4-FFF2-40B4-BE49-F238E27FC236}">
                <a16:creationId xmlns:a16="http://schemas.microsoft.com/office/drawing/2014/main" id="{B984CFED-7EB8-4E0D-AA91-4E42E32F1809}"/>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Granit   10</a:t>
            </a:r>
          </a:p>
        </p:txBody>
      </p:sp>
      <p:graphicFrame>
        <p:nvGraphicFramePr>
          <p:cNvPr id="11" name="Chart"/>
          <p:cNvGraphicFramePr/>
          <p:nvPr/>
        </p:nvGraphicFramePr>
        <p:xfrm>
          <a:off xmlns:a="http://schemas.openxmlformats.org/drawingml/2006/main" x="609600" y="1695450"/>
          <a:ext xmlns:a="http://schemas.openxmlformats.org/drawingml/2006/main" cx="6048375" cy="4048125"/>
        </p:xfrm>
        <a:graphic xmlns:a="http://schemas.openxmlformats.org/drawingml/2006/main">
          <a:graphicData uri="http://schemas.openxmlformats.org/drawingml/2006/chart">
            <c:chart xmlns:r="http://schemas.openxmlformats.org/officeDocument/2006/relationships" xmlns:c="http://schemas.openxmlformats.org/drawingml/2006/chart" r:id="Re988239d45a7424f"/>
          </a:graphicData>
        </a:graphic>
      </p:graphicFrame>
      <p:sp>
        <p:nvSpPr>
          <p:cNvPr id="4" name="">
            <a:extLst xmlns:a="http://schemas.openxmlformats.org/drawingml/2006/main">
              <a:ext uri="{FF2B5EF4-FFF2-40B4-BE49-F238E27FC236}">
                <a16:creationId xmlns:a16="http://schemas.microsoft.com/office/drawing/2014/main" id="{D2401E3C-3F63-4780-9642-6569E6A3519C}"/>
              </a:ext>
            </a:extLst>
          </p:cNvPr>
          <p:cNvSpPr>
            <a:spLocks xmlns:a="http://schemas.openxmlformats.org/drawingml/2006/main" noGrp="1"/>
          </p:cNvSpPr>
          <p:nvPr/>
        </p:nvSpPr>
        <p:spPr>
          <a:xfrm xmlns:a="http://schemas.openxmlformats.org/drawingml/2006/main">
            <a:off x="7296150" y="173355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42D3D"/>
                </a:solidFill>
                <a:latin typeface="Helvetica Neue"/>
                <a:ea typeface="Helvetica Neue"/>
                <a:cs typeface="Helvetica Neue"/>
              </a:defRPr>
            </a:pPr>
            <a:r>
              <a:rPr sz="4350" b="1">
                <a:solidFill>
                  <a:srgbClr val="142D3D"/>
                </a:solidFill>
                <a:latin typeface="Helvetica Neue"/>
                <a:ea typeface="Helvetica Neue"/>
                <a:cs typeface="Helvetica Neue"/>
              </a:rPr>
              <a:t>35,7%</a:t>
            </a:r>
          </a:p>
        </p:txBody>
      </p:sp>
      <p:sp>
        <p:nvSpPr>
          <p:cNvPr id="5" name="">
            <a:extLst xmlns:a="http://schemas.openxmlformats.org/drawingml/2006/main">
              <a:ext uri="{FF2B5EF4-FFF2-40B4-BE49-F238E27FC236}">
                <a16:creationId xmlns:a16="http://schemas.microsoft.com/office/drawing/2014/main" id="{0CC88683-C60E-4325-A528-7ADE783E0C1A}"/>
              </a:ext>
            </a:extLst>
          </p:cNvPr>
          <p:cNvSpPr>
            <a:spLocks xmlns:a="http://schemas.openxmlformats.org/drawingml/2006/main" noGrp="1"/>
          </p:cNvSpPr>
          <p:nvPr/>
        </p:nvSpPr>
        <p:spPr>
          <a:xfrm xmlns:a="http://schemas.openxmlformats.org/drawingml/2006/main">
            <a:off x="7296150" y="2524125"/>
            <a:ext cx="4143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D3D"/>
                </a:solidFill>
                <a:latin typeface="Helvetica Neue"/>
                <a:ea typeface="Helvetica Neue"/>
                <a:cs typeface="Helvetica Neue"/>
              </a:defRPr>
            </a:pPr>
            <a:r>
              <a:rPr sz="1950" b="0">
                <a:solidFill>
                  <a:srgbClr val="142D3D"/>
                </a:solidFill>
                <a:latin typeface="Helvetica Neue"/>
                <a:ea typeface="Helvetica Neue"/>
                <a:cs typeface="Helvetica Neue"/>
              </a:rPr>
              <a:t>5/14 con veredicto concluyente</a:t>
            </a:r>
          </a:p>
        </p:txBody>
      </p:sp>
      <p:sp>
        <p:nvSpPr>
          <p:cNvPr id="6" name="">
            <a:extLst xmlns:a="http://schemas.openxmlformats.org/drawingml/2006/main">
              <a:ext uri="{FF2B5EF4-FFF2-40B4-BE49-F238E27FC236}">
                <a16:creationId xmlns:a16="http://schemas.microsoft.com/office/drawing/2014/main" id="{1FFC32F0-184E-4657-BC09-881FEFC6EC5F}"/>
              </a:ext>
            </a:extLst>
          </p:cNvPr>
          <p:cNvSpPr>
            <a:spLocks xmlns:a="http://schemas.openxmlformats.org/drawingml/2006/main" noGrp="1"/>
          </p:cNvSpPr>
          <p:nvPr/>
        </p:nvSpPr>
        <p:spPr>
          <a:xfrm xmlns:a="http://schemas.openxmlformats.org/drawingml/2006/main">
            <a:off x="7296150" y="356235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7C9F"/>
                </a:solidFill>
                <a:latin typeface="Helvetica Neue"/>
                <a:ea typeface="Helvetica Neue"/>
                <a:cs typeface="Helvetica Neue"/>
              </a:defRPr>
            </a:pPr>
            <a:r>
              <a:rPr sz="4350" b="1">
                <a:solidFill>
                  <a:srgbClr val="007C9F"/>
                </a:solidFill>
                <a:latin typeface="Helvetica Neue"/>
                <a:ea typeface="Helvetica Neue"/>
                <a:cs typeface="Helvetica Neue"/>
              </a:rPr>
              <a:t>60,0%</a:t>
            </a:r>
          </a:p>
        </p:txBody>
      </p:sp>
      <p:sp>
        <p:nvSpPr>
          <p:cNvPr id="7" name="">
            <a:extLst xmlns:a="http://schemas.openxmlformats.org/drawingml/2006/main">
              <a:ext uri="{FF2B5EF4-FFF2-40B4-BE49-F238E27FC236}">
                <a16:creationId xmlns:a16="http://schemas.microsoft.com/office/drawing/2014/main" id="{32EE4637-FB43-4BFF-B094-8CF81A4EADDD}"/>
              </a:ext>
            </a:extLst>
          </p:cNvPr>
          <p:cNvSpPr>
            <a:spLocks xmlns:a="http://schemas.openxmlformats.org/drawingml/2006/main" noGrp="1"/>
          </p:cNvSpPr>
          <p:nvPr/>
        </p:nvSpPr>
        <p:spPr>
          <a:xfrm xmlns:a="http://schemas.openxmlformats.org/drawingml/2006/main">
            <a:off x="7296150" y="4352925"/>
            <a:ext cx="4143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D3D"/>
                </a:solidFill>
                <a:latin typeface="Helvetica Neue"/>
                <a:ea typeface="Helvetica Neue"/>
                <a:cs typeface="Helvetica Neue"/>
              </a:defRPr>
            </a:pPr>
            <a:r>
              <a:rPr sz="1950" b="0">
                <a:solidFill>
                  <a:srgbClr val="142D3D"/>
                </a:solidFill>
                <a:latin typeface="Helvetica Neue"/>
                <a:ea typeface="Helvetica Neue"/>
                <a:cs typeface="Helvetica Neue"/>
              </a:rPr>
              <a:t>3/5 aprobados entre concluyentes</a:t>
            </a:r>
          </a:p>
        </p:txBody>
      </p:sp>
      <p:sp>
        <p:nvSpPr>
          <p:cNvPr id="8" name="">
            <a:extLst xmlns:a="http://schemas.openxmlformats.org/drawingml/2006/main">
              <a:ext uri="{FF2B5EF4-FFF2-40B4-BE49-F238E27FC236}">
                <a16:creationId xmlns:a16="http://schemas.microsoft.com/office/drawing/2014/main" id="{4A4A03DF-6255-4B1A-95CA-5F963BB988A2}"/>
              </a:ext>
            </a:extLst>
          </p:cNvPr>
          <p:cNvSpPr>
            <a:spLocks xmlns:a="http://schemas.openxmlformats.org/drawingml/2006/main" noGrp="1"/>
          </p:cNvSpPr>
          <p:nvPr/>
        </p:nvSpPr>
        <p:spPr>
          <a:xfrm xmlns:a="http://schemas.openxmlformats.org/drawingml/2006/main">
            <a:off x="609600" y="5867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673"/>
                </a:solidFill>
                <a:latin typeface="Helvetica Neue"/>
                <a:ea typeface="Helvetica Neue"/>
                <a:cs typeface="Helvetica Neue"/>
              </a:defRPr>
            </a:pPr>
            <a:r>
              <a:rPr sz="1875" b="0">
                <a:solidFill>
                  <a:srgbClr val="516673"/>
                </a:solidFill>
                <a:latin typeface="Helvetica Neue"/>
                <a:ea typeface="Helvetica Neue"/>
                <a:cs typeface="Helvetica Neue"/>
              </a:rPr>
              <a:t>18 diseñados = 14 Alta + 4 Media sin ejecutar</a:t>
            </a:r>
          </a:p>
        </p:txBody>
      </p:sp>
    </p:spTree>
    <p:extLst>
      <p:ext uri="{BB962C8B-B14F-4D97-AF65-F5344CB8AC3E}">
        <p14:creationId xmlns:p14="http://schemas.microsoft.com/office/powerpoint/2010/main" val="3182038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3667E9-1888-404A-A623-009CE051113C}"/>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Defectos y observaciones</a:t>
            </a:r>
          </a:p>
        </p:txBody>
      </p:sp>
      <p:sp>
        <p:nvSpPr>
          <p:cNvPr id="2" name="">
            <a:extLst xmlns:a="http://schemas.openxmlformats.org/drawingml/2006/main">
              <a:ext uri="{FF2B5EF4-FFF2-40B4-BE49-F238E27FC236}">
                <a16:creationId xmlns:a16="http://schemas.microsoft.com/office/drawing/2014/main" id="{70D665FA-E3B3-495C-9494-A6FC26FD1881}"/>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Granit   11</a:t>
            </a:r>
          </a:p>
        </p:txBody>
      </p:sp>
      <p:graphicFrame>
        <p:nvGraphicFramePr>
          <p:cNvPr id="8" name=""/>
          <p:cNvGraphicFramePr/>
          <p:nvPr/>
        </p:nvGraphicFramePr>
        <p:xfrm>
          <a:off xmlns:a="http://schemas.openxmlformats.org/drawingml/2006/main" x="609600" y="1752600"/>
          <a:ext xmlns:a="http://schemas.openxmlformats.org/drawingml/2006/main" cx="10972800" cy="2505075"/>
        </p:xfrm>
        <a:graphic xmlns:a="http://schemas.openxmlformats.org/drawingml/2006/main">
          <a:graphicData uri="http://schemas.openxmlformats.org/drawingml/2006/table">
            <a:tbl>
              <a:tblPr/>
              <a:tblGrid>
                <a:gridCol w="3810000"/>
                <a:gridCol w="3476625"/>
                <a:gridCol w="3686175"/>
              </a:tblGrid>
              <a:tr h="835025">
                <a:tc>
                  <a:txBody>
                    <a:bodyPr>
                      <a:noAutofit/>
                    </a:bodyPr>
                    <a:lstStyle/>
                    <a:p>
                      <a:r>
                        <a:rPr sz="1950" b="1">
                          <a:solidFill>
                            <a:srgbClr val="FFFFFF"/>
                          </a:solidFill>
                          <a:latin typeface="Helvetica Neue"/>
                          <a:ea typeface="Helvetica Neue"/>
                          <a:cs typeface="Helvetica Neue"/>
                        </a:rPr>
                        <a:t>Hallazgo</a:t>
                      </a:r>
                    </a:p>
                  </a:txBody>
                  <a:tcPr marL="91440" marR="91440" marT="45720" marB="45720">
                    <a:solidFill>
                      <a:srgbClr val="142D3D"/>
                    </a:solidFill>
                  </a:tcPr>
                </a:tc>
                <a:tc>
                  <a:txBody>
                    <a:bodyPr>
                      <a:noAutofit/>
                    </a:bodyPr>
                    <a:lstStyle/>
                    <a:p>
                      <a:r>
                        <a:rPr sz="1950" b="1">
                          <a:solidFill>
                            <a:srgbClr val="FFFFFF"/>
                          </a:solidFill>
                          <a:latin typeface="Helvetica Neue"/>
                          <a:ea typeface="Helvetica Neue"/>
                          <a:cs typeface="Helvetica Neue"/>
                        </a:rPr>
                        <a:t>Severidad</a:t>
                      </a:r>
                    </a:p>
                  </a:txBody>
                  <a:tcPr marL="91440" marR="91440" marT="45720" marB="45720">
                    <a:solidFill>
                      <a:srgbClr val="142D3D"/>
                    </a:solidFill>
                  </a:tcPr>
                </a:tc>
                <a:tc>
                  <a:txBody>
                    <a:bodyPr>
                      <a:noAutofit/>
                    </a:bodyPr>
                    <a:lstStyle/>
                    <a:p>
                      <a:r>
                        <a:rPr sz="1950" b="1">
                          <a:solidFill>
                            <a:srgbClr val="FFFFFF"/>
                          </a:solidFill>
                          <a:latin typeface="Helvetica Neue"/>
                          <a:ea typeface="Helvetica Neue"/>
                          <a:cs typeface="Helvetica Neue"/>
                        </a:rPr>
                        <a:t>Estado</a:t>
                      </a:r>
                    </a:p>
                  </a:txBody>
                  <a:tcPr marL="91440" marR="91440" marT="45720" marB="45720">
                    <a:solidFill>
                      <a:srgbClr val="142D3D"/>
                    </a:solidFill>
                  </a:tcPr>
                </a:tc>
              </a:tr>
              <a:tr h="835025">
                <a:tc>
                  <a:txBody>
                    <a:bodyPr>
                      <a:noAutofit/>
                    </a:bodyPr>
                    <a:lstStyle/>
                    <a:p>
                      <a:r>
                        <a:rPr sz="1950" b="0">
                          <a:solidFill>
                            <a:srgbClr val="142D3D"/>
                          </a:solidFill>
                          <a:latin typeface="Helvetica Neue"/>
                          <a:ea typeface="Helvetica Neue"/>
                          <a:cs typeface="Helvetica Neue"/>
                        </a:rPr>
                        <a:t>DEF-01</a:t>
                      </a:r>
                    </a:p>
                    <a:p>
                      <a:r>
                        <a:rPr sz="1950" b="0">
                          <a:solidFill>
                            <a:srgbClr val="142D3D"/>
                          </a:solidFill>
                          <a:latin typeface="Helvetica Neue"/>
                          <a:ea typeface="Helvetica Neue"/>
                          <a:cs typeface="Helvetica Neue"/>
                        </a:rPr>
                        <a:t>Importe de línea</a:t>
                      </a:r>
                    </a:p>
                  </a:txBody>
                  <a:tcPr marL="91440" marR="91440" marT="45720" marB="45720">
                    <a:solidFill>
                      <a:srgbClr val="FFFFFF"/>
                    </a:solidFill>
                  </a:tcPr>
                </a:tc>
                <a:tc>
                  <a:txBody>
                    <a:bodyPr>
                      <a:noAutofit/>
                    </a:bodyPr>
                    <a:lstStyle/>
                    <a:p>
                      <a:r>
                        <a:rPr sz="1950" b="0">
                          <a:solidFill>
                            <a:srgbClr val="142D3D"/>
                          </a:solidFill>
                          <a:latin typeface="Helvetica Neue"/>
                          <a:ea typeface="Helvetica Neue"/>
                          <a:cs typeface="Helvetica Neue"/>
                        </a:rPr>
                        <a:t>Alta</a:t>
                      </a:r>
                    </a:p>
                  </a:txBody>
                  <a:tcPr marL="91440" marR="91440" marT="45720" marB="45720">
                    <a:solidFill>
                      <a:srgbClr val="FFFFFF"/>
                    </a:solidFill>
                  </a:tcPr>
                </a:tc>
                <a:tc>
                  <a:txBody>
                    <a:bodyPr>
                      <a:noAutofit/>
                    </a:bodyPr>
                    <a:lstStyle/>
                    <a:p>
                      <a:r>
                        <a:rPr sz="1950" b="0">
                          <a:solidFill>
                            <a:srgbClr val="142D3D"/>
                          </a:solidFill>
                          <a:latin typeface="Helvetica Neue"/>
                          <a:ea typeface="Helvetica Neue"/>
                          <a:cs typeface="Helvetica Neue"/>
                        </a:rPr>
                        <a:t>Abierto y reproducido</a:t>
                      </a:r>
                    </a:p>
                  </a:txBody>
                  <a:tcPr marL="91440" marR="91440" marT="45720" marB="45720">
                    <a:solidFill>
                      <a:srgbClr val="FFFFFF"/>
                    </a:solidFill>
                  </a:tcPr>
                </a:tc>
              </a:tr>
              <a:tr h="835025">
                <a:tc>
                  <a:txBody>
                    <a:bodyPr>
                      <a:noAutofit/>
                    </a:bodyPr>
                    <a:lstStyle/>
                    <a:p>
                      <a:r>
                        <a:rPr sz="1950" b="0">
                          <a:solidFill>
                            <a:srgbClr val="142D3D"/>
                          </a:solidFill>
                          <a:latin typeface="Helvetica Neue"/>
                          <a:ea typeface="Helvetica Neue"/>
                          <a:cs typeface="Helvetica Neue"/>
                        </a:rPr>
                        <a:t>DEF-04</a:t>
                      </a:r>
                    </a:p>
                    <a:p>
                      <a:r>
                        <a:rPr sz="1950" b="0">
                          <a:solidFill>
                            <a:srgbClr val="142D3D"/>
                          </a:solidFill>
                          <a:latin typeface="Helvetica Neue"/>
                          <a:ea typeface="Helvetica Neue"/>
                          <a:cs typeface="Helvetica Neue"/>
                        </a:rPr>
                        <a:t>Pago no disponible</a:t>
                      </a:r>
                    </a:p>
                  </a:txBody>
                  <a:tcPr marL="91440" marR="91440" marT="45720" marB="45720">
                    <a:solidFill>
                      <a:srgbClr val="F2F6F8"/>
                    </a:solidFill>
                  </a:tcPr>
                </a:tc>
                <a:tc>
                  <a:txBody>
                    <a:bodyPr>
                      <a:noAutofit/>
                    </a:bodyPr>
                    <a:lstStyle/>
                    <a:p>
                      <a:r>
                        <a:rPr sz="1950" b="0">
                          <a:solidFill>
                            <a:srgbClr val="142D3D"/>
                          </a:solidFill>
                          <a:latin typeface="Helvetica Neue"/>
                          <a:ea typeface="Helvetica Neue"/>
                          <a:cs typeface="Helvetica Neue"/>
                        </a:rPr>
                        <a:t>Crítica en este recorrido</a:t>
                      </a:r>
                    </a:p>
                  </a:txBody>
                  <a:tcPr marL="91440" marR="91440" marT="45720" marB="45720">
                    <a:solidFill>
                      <a:srgbClr val="F2F6F8"/>
                    </a:solidFill>
                  </a:tcPr>
                </a:tc>
                <a:tc>
                  <a:txBody>
                    <a:bodyPr>
                      <a:noAutofit/>
                    </a:bodyPr>
                    <a:lstStyle/>
                    <a:p>
                      <a:r>
                        <a:rPr sz="1950" b="0">
                          <a:solidFill>
                            <a:srgbClr val="142D3D"/>
                          </a:solidFill>
                          <a:latin typeface="Helvetica Neue"/>
                          <a:ea typeface="Helvetica Neue"/>
                          <a:cs typeface="Helvetica Neue"/>
                        </a:rPr>
                        <a:t>Abierto, causa en análisis</a:t>
                      </a:r>
                    </a:p>
                  </a:txBody>
                  <a:tcPr marL="91440" marR="91440" marT="45720" marB="45720">
                    <a:solidFill>
                      <a:srgbClr val="F2F6F8"/>
                    </a:solidFill>
                  </a:tcPr>
                </a:tc>
              </a:tr>
            </a:tbl>
          </a:graphicData>
        </a:graphic>
      </p:graphicFrame>
      <p:sp>
        <p:nvSpPr>
          <p:cNvPr id="4" name="">
            <a:extLst xmlns:a="http://schemas.openxmlformats.org/drawingml/2006/main">
              <a:ext uri="{FF2B5EF4-FFF2-40B4-BE49-F238E27FC236}">
                <a16:creationId xmlns:a16="http://schemas.microsoft.com/office/drawing/2014/main" id="{5C9BD679-D59C-4470-80BE-A0CCF68B843F}"/>
              </a:ext>
            </a:extLst>
          </p:cNvPr>
          <p:cNvSpPr>
            <a:spLocks xmlns:a="http://schemas.openxmlformats.org/drawingml/2006/main" noGrp="1"/>
          </p:cNvSpPr>
          <p:nvPr/>
        </p:nvSpPr>
        <p:spPr>
          <a:xfrm xmlns:a="http://schemas.openxmlformats.org/drawingml/2006/main">
            <a:off x="609600" y="46005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C9F"/>
                </a:solidFill>
                <a:latin typeface="Helvetica Neue"/>
                <a:ea typeface="Helvetica Neue"/>
                <a:cs typeface="Helvetica Neue"/>
              </a:defRPr>
            </a:pPr>
            <a:r>
              <a:rPr sz="2325" b="1">
                <a:solidFill>
                  <a:srgbClr val="007C9F"/>
                </a:solidFill>
                <a:latin typeface="Helvetica Neue"/>
                <a:ea typeface="Helvetica Neue"/>
                <a:cs typeface="Helvetica Neue"/>
              </a:rPr>
              <a:t>Prioridad propuesta Alta para ambos</a:t>
            </a:r>
          </a:p>
        </p:txBody>
      </p:sp>
      <p:sp>
        <p:nvSpPr>
          <p:cNvPr id="5" name="">
            <a:extLst xmlns:a="http://schemas.openxmlformats.org/drawingml/2006/main">
              <a:ext uri="{FF2B5EF4-FFF2-40B4-BE49-F238E27FC236}">
                <a16:creationId xmlns:a16="http://schemas.microsoft.com/office/drawing/2014/main" id="{C1C424A9-C121-4A3A-8BF4-EFB64B5CA24D}"/>
              </a:ext>
            </a:extLst>
          </p:cNvPr>
          <p:cNvSpPr>
            <a:spLocks xmlns:a="http://schemas.openxmlformats.org/drawingml/2006/main" noGrp="1"/>
          </p:cNvSpPr>
          <p:nvPr/>
        </p:nvSpPr>
        <p:spPr>
          <a:xfrm xmlns:a="http://schemas.openxmlformats.org/drawingml/2006/main">
            <a:off x="609600" y="5362575"/>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3D"/>
                </a:solidFill>
                <a:latin typeface="Helvetica Neue"/>
                <a:ea typeface="Helvetica Neue"/>
                <a:cs typeface="Helvetica Neue"/>
              </a:defRPr>
            </a:pPr>
            <a:r>
              <a:rPr sz="2025" b="0">
                <a:solidFill>
                  <a:srgbClr val="142D3D"/>
                </a:solidFill>
                <a:latin typeface="Helvetica Neue"/>
                <a:ea typeface="Helvetica Neue"/>
                <a:cs typeface="Helvetica Neue"/>
              </a:rPr>
              <a:t>Opciones vacías, cupones no vigentes y normalización silenciosa</a:t>
            </a:r>
          </a:p>
          <a:p xmlns:a="http://schemas.openxmlformats.org/drawingml/2006/main">
            <a:pPr>
              <a:defRPr sz="2025" b="0">
                <a:solidFill>
                  <a:srgbClr val="142D3D"/>
                </a:solidFill>
                <a:latin typeface="Helvetica Neue"/>
                <a:ea typeface="Helvetica Neue"/>
                <a:cs typeface="Helvetica Neue"/>
              </a:defRPr>
            </a:pPr>
            <a:r>
              <a:rPr sz="2025" b="0">
                <a:solidFill>
                  <a:srgbClr val="142D3D"/>
                </a:solidFill>
                <a:latin typeface="Helvetica Neue"/>
                <a:ea typeface="Helvetica Neue"/>
                <a:cs typeface="Helvetica Neue"/>
              </a:rPr>
              <a:t>se conservan como observaciones diferenciadas.</a:t>
            </a:r>
          </a:p>
        </p:txBody>
      </p:sp>
    </p:spTree>
    <p:extLst>
      <p:ext uri="{BB962C8B-B14F-4D97-AF65-F5344CB8AC3E}">
        <p14:creationId xmlns:p14="http://schemas.microsoft.com/office/powerpoint/2010/main" val="19967814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8B6551-8F00-498B-9D0B-0888B6E93FB9}"/>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Automatización para el Proyecto 2</a:t>
            </a:r>
          </a:p>
        </p:txBody>
      </p:sp>
      <p:sp>
        <p:nvSpPr>
          <p:cNvPr id="2" name="">
            <a:extLst xmlns:a="http://schemas.openxmlformats.org/drawingml/2006/main">
              <a:ext uri="{FF2B5EF4-FFF2-40B4-BE49-F238E27FC236}">
                <a16:creationId xmlns:a16="http://schemas.microsoft.com/office/drawing/2014/main" id="{391936B9-DB97-40CB-9AAA-CDB045990188}"/>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Granit   12</a:t>
            </a:r>
          </a:p>
        </p:txBody>
      </p:sp>
      <p:graphicFrame>
        <p:nvGraphicFramePr>
          <p:cNvPr id="7" name=""/>
          <p:cNvGraphicFramePr/>
          <p:nvPr/>
        </p:nvGraphicFramePr>
        <p:xfrm>
          <a:off xmlns:a="http://schemas.openxmlformats.org/drawingml/2006/main" x="609600" y="1762125"/>
          <a:ext xmlns:a="http://schemas.openxmlformats.org/drawingml/2006/main" cx="10972800" cy="3352800"/>
        </p:xfrm>
        <a:graphic xmlns:a="http://schemas.openxmlformats.org/drawingml/2006/main">
          <a:graphicData uri="http://schemas.openxmlformats.org/drawingml/2006/table">
            <a:tbl>
              <a:tblPr/>
              <a:tblGrid>
                <a:gridCol w="3429000"/>
                <a:gridCol w="7543800"/>
              </a:tblGrid>
              <a:tr h="670560">
                <a:tc>
                  <a:txBody>
                    <a:bodyPr>
                      <a:noAutofit/>
                    </a:bodyPr>
                    <a:lstStyle/>
                    <a:p>
                      <a:r>
                        <a:rPr sz="2100" b="1">
                          <a:solidFill>
                            <a:srgbClr val="FFFFFF"/>
                          </a:solidFill>
                          <a:latin typeface="Helvetica Neue"/>
                          <a:ea typeface="Helvetica Neue"/>
                          <a:cs typeface="Helvetica Neue"/>
                        </a:rPr>
                        <a:t>Caso candidato</a:t>
                      </a:r>
                    </a:p>
                  </a:txBody>
                  <a:tcPr marL="91440" marR="91440" marT="45720" marB="45720">
                    <a:solidFill>
                      <a:srgbClr val="142D3D"/>
                    </a:solidFill>
                  </a:tcPr>
                </a:tc>
                <a:tc>
                  <a:txBody>
                    <a:bodyPr>
                      <a:noAutofit/>
                    </a:bodyPr>
                    <a:lstStyle/>
                    <a:p>
                      <a:r>
                        <a:rPr sz="2100" b="1">
                          <a:solidFill>
                            <a:srgbClr val="FFFFFF"/>
                          </a:solidFill>
                          <a:latin typeface="Helvetica Neue"/>
                          <a:ea typeface="Helvetica Neue"/>
                          <a:cs typeface="Helvetica Neue"/>
                        </a:rPr>
                        <a:t>Motivo observado</a:t>
                      </a:r>
                    </a:p>
                  </a:txBody>
                  <a:tcPr marL="91440" marR="91440" marT="45720" marB="45720">
                    <a:solidFill>
                      <a:srgbClr val="142D3D"/>
                    </a:solidFill>
                  </a:tcPr>
                </a:tc>
              </a:tr>
              <a:tr h="670560">
                <a:tc>
                  <a:txBody>
                    <a:bodyPr>
                      <a:noAutofit/>
                    </a:bodyPr>
                    <a:lstStyle/>
                    <a:p>
                      <a:r>
                        <a:rPr sz="2100" b="0">
                          <a:solidFill>
                            <a:srgbClr val="142D3D"/>
                          </a:solidFill>
                          <a:latin typeface="Helvetica Neue"/>
                          <a:ea typeface="Helvetica Neue"/>
                          <a:cs typeface="Helvetica Neue"/>
                        </a:rPr>
                        <a:t>CP-CAR-01</a:t>
                      </a:r>
                    </a:p>
                  </a:txBody>
                  <a:tcPr marL="91440" marR="91440" marT="45720" marB="45720">
                    <a:solidFill>
                      <a:srgbClr val="FFFFFF"/>
                    </a:solidFill>
                  </a:tcPr>
                </a:tc>
                <a:tc>
                  <a:txBody>
                    <a:bodyPr>
                      <a:noAutofit/>
                    </a:bodyPr>
                    <a:lstStyle/>
                    <a:p>
                      <a:r>
                        <a:rPr sz="2100" b="0">
                          <a:solidFill>
                            <a:srgbClr val="142D3D"/>
                          </a:solidFill>
                          <a:latin typeface="Helvetica Neue"/>
                          <a:ea typeface="Helvetica Neue"/>
                          <a:cs typeface="Helvetica Neue"/>
                        </a:rPr>
                        <a:t>Riesgo monetario y fallo reproducible</a:t>
                      </a:r>
                    </a:p>
                  </a:txBody>
                  <a:tcPr marL="91440" marR="91440" marT="45720" marB="45720">
                    <a:solidFill>
                      <a:srgbClr val="FFFFFF"/>
                    </a:solidFill>
                  </a:tcPr>
                </a:tc>
              </a:tr>
              <a:tr h="670560">
                <a:tc>
                  <a:txBody>
                    <a:bodyPr>
                      <a:noAutofit/>
                    </a:bodyPr>
                    <a:lstStyle/>
                    <a:p>
                      <a:r>
                        <a:rPr sz="2100" b="0">
                          <a:solidFill>
                            <a:srgbClr val="142D3D"/>
                          </a:solidFill>
                          <a:latin typeface="Helvetica Neue"/>
                          <a:ea typeface="Helvetica Neue"/>
                          <a:cs typeface="Helvetica Neue"/>
                        </a:rPr>
                        <a:t>CP-CAT-02</a:t>
                      </a:r>
                    </a:p>
                  </a:txBody>
                  <a:tcPr marL="91440" marR="91440" marT="45720" marB="45720">
                    <a:solidFill>
                      <a:srgbClr val="F2F6F8"/>
                    </a:solidFill>
                  </a:tcPr>
                </a:tc>
                <a:tc>
                  <a:txBody>
                    <a:bodyPr>
                      <a:noAutofit/>
                    </a:bodyPr>
                    <a:lstStyle/>
                    <a:p>
                      <a:r>
                        <a:rPr sz="2100" b="0">
                          <a:solidFill>
                            <a:srgbClr val="142D3D"/>
                          </a:solidFill>
                          <a:latin typeface="Helvetica Neue"/>
                          <a:ea typeface="Helvetica Neue"/>
                          <a:cs typeface="Helvetica Neue"/>
                        </a:rPr>
                        <a:t>Orden de precios determinista y repetitivo</a:t>
                      </a:r>
                    </a:p>
                  </a:txBody>
                  <a:tcPr marL="91440" marR="91440" marT="45720" marB="45720">
                    <a:solidFill>
                      <a:srgbClr val="F2F6F8"/>
                    </a:solidFill>
                  </a:tcPr>
                </a:tc>
              </a:tr>
              <a:tr h="670560">
                <a:tc>
                  <a:txBody>
                    <a:bodyPr>
                      <a:noAutofit/>
                    </a:bodyPr>
                    <a:lstStyle/>
                    <a:p>
                      <a:r>
                        <a:rPr sz="2100" b="0">
                          <a:solidFill>
                            <a:srgbClr val="142D3D"/>
                          </a:solidFill>
                          <a:latin typeface="Helvetica Neue"/>
                          <a:ea typeface="Helvetica Neue"/>
                          <a:cs typeface="Helvetica Neue"/>
                        </a:rPr>
                        <a:t>CP-PRO-01</a:t>
                      </a:r>
                    </a:p>
                  </a:txBody>
                  <a:tcPr marL="91440" marR="91440" marT="45720" marB="45720">
                    <a:solidFill>
                      <a:srgbClr val="FFFFFF"/>
                    </a:solidFill>
                  </a:tcPr>
                </a:tc>
                <a:tc>
                  <a:txBody>
                    <a:bodyPr>
                      <a:noAutofit/>
                    </a:bodyPr>
                    <a:lstStyle/>
                    <a:p>
                      <a:r>
                        <a:rPr sz="2100" b="0">
                          <a:solidFill>
                            <a:srgbClr val="142D3D"/>
                          </a:solidFill>
                          <a:latin typeface="Helvetica Neue"/>
                          <a:ea typeface="Helvetica Neue"/>
                          <a:cs typeface="Helvetica Neue"/>
                        </a:rPr>
                        <a:t>Validación obligatoria observable</a:t>
                      </a:r>
                    </a:p>
                  </a:txBody>
                  <a:tcPr marL="91440" marR="91440" marT="45720" marB="45720">
                    <a:solidFill>
                      <a:srgbClr val="FFFFFF"/>
                    </a:solidFill>
                  </a:tcPr>
                </a:tc>
              </a:tr>
              <a:tr h="670560">
                <a:tc>
                  <a:txBody>
                    <a:bodyPr>
                      <a:noAutofit/>
                    </a:bodyPr>
                    <a:lstStyle/>
                    <a:p>
                      <a:r>
                        <a:rPr sz="2100" b="0">
                          <a:solidFill>
                            <a:srgbClr val="142D3D"/>
                          </a:solidFill>
                          <a:latin typeface="Helvetica Neue"/>
                          <a:ea typeface="Helvetica Neue"/>
                          <a:cs typeface="Helvetica Neue"/>
                        </a:rPr>
                        <a:t>CP-CAR-02</a:t>
                      </a:r>
                    </a:p>
                  </a:txBody>
                  <a:tcPr marL="91440" marR="91440" marT="45720" marB="45720">
                    <a:solidFill>
                      <a:srgbClr val="F2F6F8"/>
                    </a:solidFill>
                  </a:tcPr>
                </a:tc>
                <a:tc>
                  <a:txBody>
                    <a:bodyPr>
                      <a:noAutofit/>
                    </a:bodyPr>
                    <a:lstStyle/>
                    <a:p>
                      <a:r>
                        <a:rPr sz="2100" b="0">
                          <a:solidFill>
                            <a:srgbClr val="142D3D"/>
                          </a:solidFill>
                          <a:latin typeface="Helvetica Neue"/>
                          <a:ea typeface="Helvetica Neue"/>
                          <a:cs typeface="Helvetica Neue"/>
                        </a:rPr>
                        <a:t>Fronteras repetibles con stock controlado</a:t>
                      </a:r>
                    </a:p>
                  </a:txBody>
                  <a:tcPr marL="91440" marR="91440" marT="45720" marB="45720">
                    <a:solidFill>
                      <a:srgbClr val="F2F6F8"/>
                    </a:solidFill>
                  </a:tcPr>
                </a:tc>
              </a:tr>
            </a:tbl>
          </a:graphicData>
        </a:graphic>
      </p:graphicFrame>
      <p:sp>
        <p:nvSpPr>
          <p:cNvPr id="4" name="">
            <a:extLst xmlns:a="http://schemas.openxmlformats.org/drawingml/2006/main">
              <a:ext uri="{FF2B5EF4-FFF2-40B4-BE49-F238E27FC236}">
                <a16:creationId xmlns:a16="http://schemas.microsoft.com/office/drawing/2014/main" id="{3B2C4488-6E46-42E7-91E3-78B1E69589F6}"/>
              </a:ext>
            </a:extLst>
          </p:cNvPr>
          <p:cNvSpPr>
            <a:spLocks xmlns:a="http://schemas.openxmlformats.org/drawingml/2006/main" noGrp="1"/>
          </p:cNvSpPr>
          <p:nvPr/>
        </p:nvSpPr>
        <p:spPr>
          <a:xfrm xmlns:a="http://schemas.openxmlformats.org/drawingml/2006/main">
            <a:off x="609600" y="5514975"/>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C9F"/>
                </a:solidFill>
                <a:latin typeface="Helvetica Neue"/>
                <a:ea typeface="Helvetica Neue"/>
                <a:cs typeface="Helvetica Neue"/>
              </a:defRPr>
            </a:pPr>
            <a:r>
              <a:rPr sz="2025" b="1">
                <a:solidFill>
                  <a:srgbClr val="007C9F"/>
                </a:solidFill>
                <a:latin typeface="Helvetica Neue"/>
                <a:ea typeface="Helvetica Neue"/>
                <a:cs typeface="Helvetica Neue"/>
              </a:rPr>
              <a:t>Condición previa: datos estables y restaurables.</a:t>
            </a:r>
          </a:p>
          <a:p xmlns:a="http://schemas.openxmlformats.org/drawingml/2006/main">
            <a:pPr>
              <a:defRPr sz="2025" b="1">
                <a:solidFill>
                  <a:srgbClr val="007C9F"/>
                </a:solidFill>
                <a:latin typeface="Helvetica Neue"/>
                <a:ea typeface="Helvetica Neue"/>
                <a:cs typeface="Helvetica Neue"/>
              </a:defRPr>
            </a:pPr>
            <a:r>
              <a:rPr sz="2025" b="1">
                <a:solidFill>
                  <a:srgbClr val="007C9F"/>
                </a:solidFill>
                <a:latin typeface="Helvetica Neue"/>
                <a:ea typeface="Helvetica Neue"/>
                <a:cs typeface="Helvetica Neue"/>
              </a:rPr>
              <a:t>Cupones y pedidos requieren habilitar sus precondiciones.</a:t>
            </a:r>
          </a:p>
        </p:txBody>
      </p:sp>
    </p:spTree>
    <p:extLst>
      <p:ext uri="{BB962C8B-B14F-4D97-AF65-F5344CB8AC3E}">
        <p14:creationId xmlns:p14="http://schemas.microsoft.com/office/powerpoint/2010/main" val="8199343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FBD322-02A3-45C5-822D-10B371629B39}"/>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3D"/>
                </a:solidFill>
                <a:latin typeface="Helvetica Neue"/>
                <a:ea typeface="Helvetica Neue"/>
                <a:cs typeface="Helvetica Neue"/>
              </a:defRPr>
            </a:pPr>
            <a:r>
              <a:rPr sz="3300" b="1">
                <a:solidFill>
                  <a:srgbClr val="142D3D"/>
                </a:solidFill>
                <a:latin typeface="Helvetica Neue"/>
                <a:ea typeface="Helvetica Neue"/>
                <a:cs typeface="Helvetica Neue"/>
              </a:rPr>
              <a:t>Condiciones para continuar</a:t>
            </a:r>
          </a:p>
        </p:txBody>
      </p:sp>
      <p:sp>
        <p:nvSpPr>
          <p:cNvPr id="2" name="">
            <a:extLst xmlns:a="http://schemas.openxmlformats.org/drawingml/2006/main">
              <a:ext uri="{FF2B5EF4-FFF2-40B4-BE49-F238E27FC236}">
                <a16:creationId xmlns:a16="http://schemas.microsoft.com/office/drawing/2014/main" id="{C8170FB4-3EA6-4076-B029-282337A01028}"/>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73"/>
                </a:solidFill>
                <a:latin typeface="Helvetica Neue"/>
                <a:ea typeface="Helvetica Neue"/>
                <a:cs typeface="Helvetica Neue"/>
              </a:defRPr>
            </a:pPr>
            <a:r>
              <a:rPr sz="1350" b="0">
                <a:solidFill>
                  <a:srgbClr val="516673"/>
                </a:solidFill>
                <a:latin typeface="Helvetica Neue"/>
                <a:ea typeface="Helvetica Neue"/>
                <a:cs typeface="Helvetica Neue"/>
              </a:rPr>
              <a:t>Granit   13</a:t>
            </a:r>
          </a:p>
        </p:txBody>
      </p:sp>
      <p:sp>
        <p:nvSpPr>
          <p:cNvPr id="3" name="">
            <a:extLst xmlns:a="http://schemas.openxmlformats.org/drawingml/2006/main">
              <a:ext uri="{FF2B5EF4-FFF2-40B4-BE49-F238E27FC236}">
                <a16:creationId xmlns:a16="http://schemas.microsoft.com/office/drawing/2014/main" id="{573D8E1B-F0E2-4C30-9211-81C4983E9E63}"/>
              </a:ext>
            </a:extLst>
          </p:cNvPr>
          <p:cNvSpPr>
            <a:spLocks xmlns:a="http://schemas.openxmlformats.org/drawingml/2006/main" noGrp="1"/>
          </p:cNvSpPr>
          <p:nvPr/>
        </p:nvSpPr>
        <p:spPr>
          <a:xfrm xmlns:a="http://schemas.openxmlformats.org/drawingml/2006/main">
            <a:off x="609600" y="1828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C9F"/>
                </a:solidFill>
                <a:latin typeface="Helvetica Neue"/>
                <a:ea typeface="Helvetica Neue"/>
                <a:cs typeface="Helvetica Neue"/>
              </a:defRPr>
            </a:pPr>
            <a:r>
              <a:rPr sz="2700" b="1">
                <a:solidFill>
                  <a:srgbClr val="007C9F"/>
                </a:solidFill>
                <a:latin typeface="Helvetica Neue"/>
                <a:ea typeface="Helvetica Neue"/>
                <a:cs typeface="Helvetica Neue"/>
              </a:rPr>
              <a:t>01   Habilitar las precondiciones</a:t>
            </a:r>
          </a:p>
        </p:txBody>
      </p:sp>
      <p:sp>
        <p:nvSpPr>
          <p:cNvPr id="4" name="">
            <a:extLst xmlns:a="http://schemas.openxmlformats.org/drawingml/2006/main">
              <a:ext uri="{FF2B5EF4-FFF2-40B4-BE49-F238E27FC236}">
                <a16:creationId xmlns:a16="http://schemas.microsoft.com/office/drawing/2014/main" id="{6865258D-8B39-4669-9AB7-2EB6E1FF3D9B}"/>
              </a:ext>
            </a:extLst>
          </p:cNvPr>
          <p:cNvSpPr>
            <a:spLocks xmlns:a="http://schemas.openxmlformats.org/drawingml/2006/main" noGrp="1"/>
          </p:cNvSpPr>
          <p:nvPr/>
        </p:nvSpPr>
        <p:spPr>
          <a:xfrm xmlns:a="http://schemas.openxmlformats.org/drawingml/2006/main">
            <a:off x="1362075" y="2486025"/>
            <a:ext cx="990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3D"/>
                </a:solidFill>
                <a:latin typeface="Helvetica Neue"/>
                <a:ea typeface="Helvetica Neue"/>
                <a:cs typeface="Helvetica Neue"/>
              </a:defRPr>
            </a:pPr>
            <a:r>
              <a:rPr sz="2100" b="0">
                <a:solidFill>
                  <a:srgbClr val="142D3D"/>
                </a:solidFill>
                <a:latin typeface="Helvetica Neue"/>
                <a:ea typeface="Helvetica Neue"/>
                <a:cs typeface="Helvetica Neue"/>
              </a:rPr>
              <a:t>Opciones, cupón vigente, pago, permisos e instrumentación.</a:t>
            </a:r>
          </a:p>
        </p:txBody>
      </p:sp>
      <p:sp>
        <p:nvSpPr>
          <p:cNvPr id="5" name="">
            <a:extLst xmlns:a="http://schemas.openxmlformats.org/drawingml/2006/main">
              <a:ext uri="{FF2B5EF4-FFF2-40B4-BE49-F238E27FC236}">
                <a16:creationId xmlns:a16="http://schemas.microsoft.com/office/drawing/2014/main" id="{7751A0EF-2CD8-4DF2-8EBF-9109E3E52394}"/>
              </a:ext>
            </a:extLst>
          </p:cNvPr>
          <p:cNvSpPr>
            <a:spLocks xmlns:a="http://schemas.openxmlformats.org/drawingml/2006/main" noGrp="1"/>
          </p:cNvSpPr>
          <p:nvPr/>
        </p:nvSpPr>
        <p:spPr>
          <a:xfrm xmlns:a="http://schemas.openxmlformats.org/drawingml/2006/main">
            <a:off x="609600" y="35337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C9F"/>
                </a:solidFill>
                <a:latin typeface="Helvetica Neue"/>
                <a:ea typeface="Helvetica Neue"/>
                <a:cs typeface="Helvetica Neue"/>
              </a:defRPr>
            </a:pPr>
            <a:r>
              <a:rPr sz="2700" b="1">
                <a:solidFill>
                  <a:srgbClr val="007C9F"/>
                </a:solidFill>
                <a:latin typeface="Helvetica Neue"/>
                <a:ea typeface="Helvetica Neue"/>
                <a:cs typeface="Helvetica Neue"/>
              </a:rPr>
              <a:t>02   Reejecutar y conservar evidencias</a:t>
            </a:r>
          </a:p>
        </p:txBody>
      </p:sp>
      <p:sp>
        <p:nvSpPr>
          <p:cNvPr id="6" name="">
            <a:extLst xmlns:a="http://schemas.openxmlformats.org/drawingml/2006/main">
              <a:ext uri="{FF2B5EF4-FFF2-40B4-BE49-F238E27FC236}">
                <a16:creationId xmlns:a16="http://schemas.microsoft.com/office/drawing/2014/main" id="{9759294D-6AAB-41B4-90B4-F153928E34E6}"/>
              </a:ext>
            </a:extLst>
          </p:cNvPr>
          <p:cNvSpPr>
            <a:spLocks xmlns:a="http://schemas.openxmlformats.org/drawingml/2006/main" noGrp="1"/>
          </p:cNvSpPr>
          <p:nvPr/>
        </p:nvSpPr>
        <p:spPr>
          <a:xfrm xmlns:a="http://schemas.openxmlformats.org/drawingml/2006/main">
            <a:off x="1362075" y="419100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3D"/>
                </a:solidFill>
                <a:latin typeface="Helvetica Neue"/>
                <a:ea typeface="Helvetica Neue"/>
                <a:cs typeface="Helvetica Neue"/>
              </a:defRPr>
            </a:pPr>
            <a:r>
              <a:rPr sz="2100" b="0">
                <a:solidFill>
                  <a:srgbClr val="142D3D"/>
                </a:solidFill>
                <a:latin typeface="Helvetica Neue"/>
                <a:ea typeface="Helvetica Neue"/>
                <a:cs typeface="Helvetica Neue"/>
              </a:rPr>
              <a:t>9 bloqueados y confirmación de los 2 fallos tras corregirlos.</a:t>
            </a:r>
          </a:p>
        </p:txBody>
      </p:sp>
      <p:sp>
        <p:nvSpPr>
          <p:cNvPr id="7" name="">
            <a:extLst xmlns:a="http://schemas.openxmlformats.org/drawingml/2006/main">
              <a:ext uri="{FF2B5EF4-FFF2-40B4-BE49-F238E27FC236}">
                <a16:creationId xmlns:a16="http://schemas.microsoft.com/office/drawing/2014/main" id="{F38E4AFC-3E3E-405F-B37B-E2F91798DF23}"/>
              </a:ext>
            </a:extLst>
          </p:cNvPr>
          <p:cNvSpPr>
            <a:spLocks xmlns:a="http://schemas.openxmlformats.org/drawingml/2006/main" noGrp="1"/>
          </p:cNvSpPr>
          <p:nvPr/>
        </p:nvSpPr>
        <p:spPr>
          <a:xfrm xmlns:a="http://schemas.openxmlformats.org/drawingml/2006/main">
            <a:off x="609600" y="52292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C9F"/>
                </a:solidFill>
                <a:latin typeface="Helvetica Neue"/>
                <a:ea typeface="Helvetica Neue"/>
                <a:cs typeface="Helvetica Neue"/>
              </a:defRPr>
            </a:pPr>
            <a:r>
              <a:rPr sz="2700" b="1">
                <a:solidFill>
                  <a:srgbClr val="007C9F"/>
                </a:solidFill>
                <a:latin typeface="Helvetica Neue"/>
                <a:ea typeface="Helvetica Neue"/>
                <a:cs typeface="Helvetica Neue"/>
              </a:rPr>
              <a:t>03   Aplicar regresión y actualizar el cierre</a:t>
            </a:r>
          </a:p>
        </p:txBody>
      </p:sp>
    </p:spTree>
    <p:extLst>
      <p:ext uri="{BB962C8B-B14F-4D97-AF65-F5344CB8AC3E}">
        <p14:creationId xmlns:p14="http://schemas.microsoft.com/office/powerpoint/2010/main" val="526159792"/>
      </p:ext>
    </p:extLst>
  </p:cSld>
</p:sld>
</file>

<file path=ppt/slides/slide14.xml><?xml version="1.0" encoding="utf-8"?>
<p:sld xmlns:p="http://schemas.openxmlformats.org/presentationml/2006/main">
  <p:cSld>
    <p:bg>
      <p:bgPr>
        <a:solidFill xmlns:a="http://schemas.openxmlformats.org/drawingml/2006/main">
          <a:srgbClr val="142D3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E06E51-481C-4D9D-A525-C9EB7C05C3B2}"/>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Conclusión</a:t>
            </a:r>
          </a:p>
        </p:txBody>
      </p:sp>
      <p:sp>
        <p:nvSpPr>
          <p:cNvPr id="2" name="">
            <a:extLst xmlns:a="http://schemas.openxmlformats.org/drawingml/2006/main">
              <a:ext uri="{FF2B5EF4-FFF2-40B4-BE49-F238E27FC236}">
                <a16:creationId xmlns:a16="http://schemas.microsoft.com/office/drawing/2014/main" id="{DC9FC725-4394-47BB-8E15-863E35123181}"/>
              </a:ext>
            </a:extLst>
          </p:cNvPr>
          <p:cNvSpPr>
            <a:spLocks xmlns:a="http://schemas.openxmlformats.org/drawingml/2006/main" noGrp="1"/>
          </p:cNvSpPr>
          <p:nvPr/>
        </p:nvSpPr>
        <p:spPr>
          <a:xfrm xmlns:a="http://schemas.openxmlformats.org/drawingml/2006/main">
            <a:off x="609600" y="63912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6CBD5"/>
                </a:solidFill>
                <a:latin typeface="Helvetica Neue"/>
                <a:ea typeface="Helvetica Neue"/>
                <a:cs typeface="Helvetica Neue"/>
              </a:defRPr>
            </a:pPr>
            <a:r>
              <a:rPr sz="1350" b="0">
                <a:solidFill>
                  <a:srgbClr val="B6CBD5"/>
                </a:solidFill>
                <a:latin typeface="Helvetica Neue"/>
                <a:ea typeface="Helvetica Neue"/>
                <a:cs typeface="Helvetica Neue"/>
              </a:rPr>
              <a:t>Granit   14</a:t>
            </a:r>
          </a:p>
        </p:txBody>
      </p:sp>
      <p:sp>
        <p:nvSpPr>
          <p:cNvPr id="3" name="">
            <a:extLst xmlns:a="http://schemas.openxmlformats.org/drawingml/2006/main">
              <a:ext uri="{FF2B5EF4-FFF2-40B4-BE49-F238E27FC236}">
                <a16:creationId xmlns:a16="http://schemas.microsoft.com/office/drawing/2014/main" id="{DB42E81A-1D8C-46D9-9F12-C94F7E5D6EB7}"/>
              </a:ext>
            </a:extLst>
          </p:cNvPr>
          <p:cNvSpPr>
            <a:spLocks xmlns:a="http://schemas.openxmlformats.org/drawingml/2006/main" noGrp="1"/>
          </p:cNvSpPr>
          <p:nvPr/>
        </p:nvSpPr>
        <p:spPr>
          <a:xfrm xmlns:a="http://schemas.openxmlformats.org/drawingml/2006/main">
            <a:off x="609600" y="1847850"/>
            <a:ext cx="10858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La evidencia aún no permite</a:t>
            </a:r>
          </a:p>
          <a:p xmlns:a="http://schemas.openxmlformats.org/drawingml/2006/main">
            <a:pPr>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recomendar producción</a:t>
            </a:r>
          </a:p>
        </p:txBody>
      </p:sp>
      <p:sp>
        <p:nvSpPr>
          <p:cNvPr id="4" name="">
            <a:extLst xmlns:a="http://schemas.openxmlformats.org/drawingml/2006/main">
              <a:ext uri="{FF2B5EF4-FFF2-40B4-BE49-F238E27FC236}">
                <a16:creationId xmlns:a16="http://schemas.microsoft.com/office/drawing/2014/main" id="{92E8F0EC-EEC5-41E2-8F58-38D6F0087DC9}"/>
              </a:ext>
            </a:extLst>
          </p:cNvPr>
          <p:cNvSpPr>
            <a:spLocks xmlns:a="http://schemas.openxmlformats.org/drawingml/2006/main" noGrp="1"/>
          </p:cNvSpPr>
          <p:nvPr/>
        </p:nvSpPr>
        <p:spPr>
          <a:xfrm xmlns:a="http://schemas.openxmlformats.org/drawingml/2006/main">
            <a:off x="609600" y="3762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83D8EA"/>
                </a:solidFill>
                <a:latin typeface="Helvetica Neue"/>
                <a:ea typeface="Helvetica Neue"/>
                <a:cs typeface="Helvetica Neue"/>
              </a:defRPr>
            </a:pPr>
            <a:r>
              <a:rPr sz="3000" b="1">
                <a:solidFill>
                  <a:srgbClr val="83D8EA"/>
                </a:solidFill>
                <a:latin typeface="Helvetica Neue"/>
                <a:ea typeface="Helvetica Neue"/>
                <a:cs typeface="Helvetica Neue"/>
              </a:rPr>
              <a:t>3 Pasó     2 Falló     9 Bloqueados</a:t>
            </a:r>
          </a:p>
        </p:txBody>
      </p:sp>
      <p:sp>
        <p:nvSpPr>
          <p:cNvPr id="5" name="">
            <a:extLst xmlns:a="http://schemas.openxmlformats.org/drawingml/2006/main">
              <a:ext uri="{FF2B5EF4-FFF2-40B4-BE49-F238E27FC236}">
                <a16:creationId xmlns:a16="http://schemas.microsoft.com/office/drawing/2014/main" id="{A9DE79CF-C535-4FBD-BAE6-DAB74023CB72}"/>
              </a:ext>
            </a:extLst>
          </p:cNvPr>
          <p:cNvSpPr>
            <a:spLocks xmlns:a="http://schemas.openxmlformats.org/drawingml/2006/main" noGrp="1"/>
          </p:cNvSpPr>
          <p:nvPr/>
        </p:nvSpPr>
        <p:spPr>
          <a:xfrm xmlns:a="http://schemas.openxmlformats.org/drawingml/2006/main">
            <a:off x="609600" y="48387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Siguiente paso: resolver precondiciones y reejecutar.</a:t>
            </a:r>
          </a:p>
        </p:txBody>
      </p:sp>
    </p:spTree>
    <p:extLst>
      <p:ext uri="{BB962C8B-B14F-4D97-AF65-F5344CB8AC3E}">
        <p14:creationId xmlns:p14="http://schemas.microsoft.com/office/powerpoint/2010/main" val="7990197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2026-09-25T16:47:23.2810000Z</dcterms:created>
  <dcterms:modified xsi:type="dcterms:W3CDTF">2026-09-25T16:47:23.2810000Z</dcterms:modified>
</coreProperties>
</file>