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Franco · 25 s · 0:00–0:25 · [Diapositiva 1 del guion]
🗣 LA HISTORIA — "Imaginen que administran una tienda en línea. Va a empezar la campaña más fuerte del año y llegan quejas de clientes: alguien compró un producto que ya no estaba en almacén, y a alguien un descuento no se le aplicó. No saben si son casos aislados o la punta de algo peor."
"Somos Franco Roque Castillo y Granit Espinoza Salazar, del Grupo 5. Esa tienda existe, corre sobre OpenCart, y fue nuestro Caso 3. Entramos como equipo de pruebas antes de la campaña para responder una sola pregunta: ¿esta tienda puede vender sin fallar?"
🎯 EL RESPALDO — "Evaluamos el flujo comercial y su relación con el panel administrativo. Vamos a explicar cómo priorizamos, qué evidencia obtuvimos y qué impide recomendar el sistema para producción."
[Indicación de escena] No adelantes el hallazgo. Que se queden con la pregunta.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Franco · 45 s · 0:25–1:10 · [Diapositiva 2 del guion]
🗣 LA HISTORIA — "Una tienda tiene dos caras: la que ve el cliente —catálogo, carrito, pago— y la que ve el equipo de operaciones, un panel interno donde se cargan productos, se ajusta el stock y se revisan pedidos. Las dos tienen que contar la misma verdad. Cuando no coinciden, el cliente compra humo. Probamos las dos."
🎯 EL RESPALDO — "El alcance integra ocho funcionalidades y tres requisitos no funcionales. Diseñamos 18 casos para 11 requisitos y 26 condiciones. El nivel principal es sistema, sobre el demo desplegado; la integración se observa desde la interfaz, sin afirmar cobertura de APIs ni de código."
🎯 EL RESPALDO — "Estimamos 24 horas entre ambos, con reserva por bloqueos. Antes de cada caso verificamos acceso, datos y permisos: si falta una precondición, suspendemos ese caso y seguimos con los independientes. Excluimos pagos reales, pruebas de carga y modificación de código."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Franco · 30 s · 1:10–1:40 · [Diapositiva 3 del guion, primera parte]
🗣 LA HISTORIA — "No se puede probar todo, así que hay que decidir por dónde empezar. Nosotros priorizamos donde el negocio sangra: el dinero, el inventario, los descuentos y la compra."
🎯 EL RESPALDO — "Combinamos probabilidad e impacto en una escala de uno a tres; de seis a nueve es prioridad Alta. Al riesgo monetario R03 le asignamos tres por tres: nueve."
[Enlace a la siguiente lámina] "Y cuando reportas algo, lo primero que te preguntan es: ¿de dónde salió esto?"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Franco · 25 s · 1:40–2:05 · [Diapositiva 3 del guion, segunda parte]
🗣 LA HISTORIA — "Y cuando reportas algo, lo primero que te preguntan es: ¿de dónde salió esto? Si no puedes responder, tu hallazgo es una anécdota."
🎯 EL RESPALDO — "Por eso mostramos la cadena completa: el requisito pide recalcular el total, la condición exige coherencia monetaria, y el caso cambia un iPod Nano de una a dos unidades. Ese caso originó DEF-01. La cadena permite justificar la prioridad y volver a la evidencia."
▶ FRASE LITERAL — "Y una advertencia sobre nuestra propia tabla: cubrir un requisito en diseño no significa que haya pasado."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Franco · 55 s · 2:05–3:00 · [Diapositiva 4 del guion]
🗣 LA HISTORIA — "Un formulario admite infinitas combinaciones: probarlas todas tomaría años. Las técnicas son formas de elegir pocos casos que representen muchos. Se los traduzco:"
🗣 "Si un campo acepta infinitos valores, los agrupo en familias que el sistema debería tratar igual." 🎯 Partición de equivalencia: opciones presentes y ausentes.
🗣 "Si el requisito habla de un tope, el riesgo está pegado al borde, no en el centro." 🎯 Valores límite: cero y uno, y el stock disponible frente a una unidad más.
🗣 "Si el resultado depende de varias condiciones a la vez, armo la tabla de todas las combinaciones." 🎯 Tabla de decisión: vigencia, elegibilidad y repetición del cupón.
🗣 "Si el error aparece al repetir una acción —el famoso doble clic en Comprar— hay que modelar los estados." 🎯 Transición de estados.
🗣 "Y si solo aparece recorriendo todo de punta a punta, se prueba el recorrido completo." 🎯 Casos de uso: la compra y su consulta administrativa.
▶ FRASE LITERAL — "Las técnicas justifican el diseño. Como varias pruebas quedaron bloqueadas, no afirmamos que todas estas reglas se hayan verificado."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Franco · 55 s · 3:00–3:55 · [Diapositiva 5 del guion]
🗣 LA HISTORIA — "Empiezo por lo que sí funcionó, porque también es un resultado."
🎯 EL RESPALDO — "El orden por precio pasó en ambos sentidos sobre el mismo conjunto de 12 productos: ascendente de 98 a 1202 y descendente en el orden inverso, sin perder ni duplicar elementos."
🎯 EL RESPALDO — "En ficha de producto aislé la omisión de una sola opción obligatoria: Canon mostró Select required! y no agregó el producto. El carrito quedó vacío. Es la validación funcionando como debe."
🗣 LA HISTORIA — "Ahora lo que no pudimos comprobar, y es importante decirlo con precisión."
🎯 EL RESPALDO — "El caso positivo —elegir todas las opciones y verificar el ajuste de precio— quedó Bloqueado: los tres productos candidatos tenían opciones requeridas sin valores seleccionables. No se puede completar lo que no ofrece alternativas."
🎯 EL RESPALDO — "En cupones, los tres códigos leídos en el panel estaban deshabilitados y vencidos. Rechazamos correctamente un código inexistente y uno vencido, pero eso no alcanza para aprobar un caso que además exige probar elegibilidad y duplicación con un cupón válido."
▶ FRASE LITERAL — "Dos variantes negativas correctas no aprueban un caso al que le falta la variante positiva obligatoria."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Franco · 75 s · 3:55–5:10 · [Diapositiva 6 del guion] — el tramo que engancha a la sala
🗣 LA HISTORIA — "Esta es la primera cosa rara que encontramos."
"Agrego un producto de 122 dólares al carrito y subo la cantidad a dos. La pantalla me dice, en la línea del producto, que eso cuesta 242 dólares. Y unos centímetros más abajo, en el total a pagar, dice 244."
[Indicación de escena] Pausa. Señala las dos cifras en la captura.
▶ FRASE LITERAL — "Dos números distintos para la misma compra, en la misma pantalla."
🎯 EL RESPALDO — "Con una unidad, precio y línea coincidían en 122. Con dos, el unitario se mantuvo en 122, la línea mostró 242 y el total general 244. Bajo la misma base fiscal, la línea debía mostrar 244. La captura permite ver todos los importes."
🎯 EL RESPALDO — "Severidad y prioridad propuestas: Altas, por impacto monetario directo. Reproducido el 25 de septiembre."
▶ FRASE LITERAL — "Una tasa fija como el Eco Tax podría intervenir, pero eso es una hipótesis: no inspeccionamos código ni confirmamos la causa raíz. Reportamos el comportamiento observable, no una causa que no probamos. El defecto permanece abierto."
[Indicación de escena] Esa última frase es la que te separa de un reporte de aficionado.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Franco · 50 s · 5:10–6:00 · [Diapositiva 7 del guion]
🗣 LA HISTORIA — "Probamos también qué pasa si alguien pide más unidades de las que hay."
🎯 EL RESPALDO — "Con el stock observado de 147 unidades, esa cantidad no mostró señal de insuficiencia. Con 148 apareció la marca de falta de stock y el intento de checkout devolvió al carrito. Cero, negativo y texto retiran la línea; decimal y vacío se normalizan a uno, sin mensaje específico: lo registramos como observación de usabilidad."
▶ FRASE LITERAL — "Y quiero acotar el alcance de este veredicto: CP-CAR-02 pasó para integridad de cantidades y frontera de stock. No demuestra que el cálculo monetario sea correcto —eso lo cubre CP-CAR-01, que falló— ni que se haya completado una compra."
🎯 EL RESPALDO — "Mis siete casos Alta cierran con tres Pasó, un Falló y tres Bloqueados."
🗣 [TRANSICIÓN] "Hasta aquí el cliente todavía no ha pagado. Granit tomó desde el momento en que decide pagar hacia adelante, y ahí es donde esto se pone serio."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Granit · 65 s · 6:00–7:05 · [Diapositiva 8 del guion] — el clímax
🗣 LA HISTORIA — "Retomo donde lo dejó Franco: el cliente ya eligió, ya tiene su carrito, y va a pagar."
🎯 EL RESPALDO — "El formulario se comportó bien en lo suyo: identificó el apellido vacío y guardó correctamente los datos del invitado."
🗣 LA HISTORIA — "Y entonces llego al último paso, el momento de pagar, y el sitio me dice que no hay ningún método de pago disponible."
[Indicación de escena] Pausa. Deja que caiga.
🎯 EL RESPALDO — "El mensaje literal es No Payment options are available. La confirmación queda deshabilitada. CP-CHK-01 falló: severidad Crítica para este recorrido, prioridad propuesta Alta."
🗣 LA HISTORIA — "Traducido al negocio: en el recorrido que probamos, el cliente no puede pagar. No es que se venda poco."
▶ FRASE LITERAL — "Y aquí soy deliberadamente cuidadoso: vimos en el panel que Cash on Delivery figura habilitado para todas las zonas, pero esa captura no demuestra que se cumplan todas las reglas de aplicabilidad. Es una pista, no una causa confirmada. Nuestra conclusión se limita al recorrido y a los datos ensayados; la configuración debe investigarse."
🎯 EL RESPALDO — "Al no poder generar una orden propia, varios casos que dependen de ella no pudieron completarse."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Granit · 55 s · 7:05–8:00 · [Diapositiva 9 del guion]
🗣 LA HISTORIA — "Quiero ser preciso con una palabra que la gente confunde."
▶ FRASE LITERAL — "Un caso bloqueado no es un caso fallido. Fallido significa que el sistema se comportó distinto de lo esperado. Bloqueado significa que un impedimento impidió ejecutarlo. Por eso un bloqueado nunca entra en el denominador de la aprobación: no llegó a ejecutarse."
🎯 EL RESPALDO — "Y los nueve bloqueos no tienen la misma causa. Cuatro dependen de tener una orden propia: confirmación y resumen, prevención de duplicados, consulta en pedidos y sincronización desde el sitio público. Todos quedaron bloqueados tras la falta de pago."
🎯 EL RESPALDO — "Tres vienen de los datos del ambiente, en el bloque de Franco: opciones requeridas sin valores seleccionables y cupones no vigentes."
🎯 EL RESPALDO — "Uno se bloqueó por permisos: al intentar guardar un cambio de stock, el panel respondió que el usuario no tiene permiso para modificar productos."
🎯 EL RESPALDO — "Rendimiento se bloqueó por falta de mediciones instrumentales verificables. Su protocolo exige 18 muestras, separando navegación fría y cálida."
▶ FRASE LITERAL — "Y lo digo explícitamente: teníamos una medición anterior de 1932 milisegundos y decidimos NO presentarla como aprobación, porque no identifica red, caché, versión de navegador ni el evento medido. Un número sin trazabilidad no es evidencia."
🎯 EL RESPALDO — "En mi bloque: un fallo y seis bloqueos entre los siete Alta. Compatibilidad, de prioridad Media, quedó diseñada sin ejecución."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Granit · 25 s · 8:00–8:25 · [Diapositiva 10 del guion, primera parte]
🗣 LA HISTORIA — "Ahora los números. Y antes de darlos, cómo se leen, porque aquí hay una trampa clásica."
▶ FRASE LITERAL — "Si yo les digo 'el 100 % de los casos Alta tiene registro', ustedes no pueden decidir nada: registro no es lo mismo que ejecución completa, y ejecución no es lo mismo que aprobación."
🎯 EL RESPALDO — "Lo que decide son los criterios de salida del plan, no el tablero: qué casos se ejecutaron, los criterios de salida, los defectos abiertos y lo bloqueado o no ejecutado."
🎯 EL RESPALDO — "Y cada tasa lleva su denominador declarado: la ejecución concluyente y el bloqueo se miden sobre los 14 casos Alta planificados; la aprobación, sólo sobre los 5 concluyentes."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Granit · 35 s · 8:25–9:00 · [Diapositiva 10 del guion, segunda parte]
🎯 EL RESPALDO — "Diseñamos 18 casos: 14 Alta y cuatro Media. Los 14 Alta tienen registro, incluidos los nueve bloqueados. De ellos, tres pasaron y dos fallaron."
🎯 EL RESPALDO — "Por eso la ejecución con veredicto concluyente es cinco sobre catorce: 35.7 %. La aprobación se calcula sobre los concluyentes: tres sobre cinco, 60 %. Y el bloqueo es nueve sobre catorce: 64.3 %."
🗣 LA HISTORIA — "En criollo: de todo lo que nos propusimos probar en serio, casi dos tercios ni siquiera arrancó. Y de lo poco que sí llegó a un veredicto, la mitad larga pasó. Son dos preguntas distintas y por eso se miden contra denominadores distintos."
🎯 EL RESPALDO — "Los cuatro casos Media se diseñaron y no se ejecutaron en esta selección."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Granit · 45 s · 9:00–9:45 · [Diapositiva 11 del guion]
🗣 LA HISTORIA — "No todo lo que estorba es un defecto del programa. Esa distinción es la que más nos costó y la que más defendemos."
🎯 EL RESPALDO — "DEF-01 sigue abierto y reproducido. DEF-04 está abierto, con causa o configuración en análisis. En cambio, las opciones sin valores seleccionables, los cupones no vigentes y la normalización silenciosa de cantidades quedaron como observaciones, cada una con su ficha."
▶ FRASE LITERAL — "No convertimos cada impedimento en un defecto de código: eso inflaría el conteo y nos haría perder credibilidad."
🎯 EL RESPALDO — "Sobre severidad y prioridad: la severidad estima el impacto técnico y funcional, la propone quien prueba; la prioridad propone la urgencia de atención. La escribimos como propuesta porque el negocio no participó en esta evaluación, y no le atribuimos una decisión que no tomó."
🎯 EL RESPALDO — "Para cerrar un defecto hará falta una corrección y una nueva ejecución satisfactoria: la prueba de confirmación repite el caso que falló; las pruebas de regresión revisan que la corrección no haya roto funciones relacionadas."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Granit · 55 s · 9:45–10:40 · [Diapositiva 12 del guion]
🗣 LA HISTORIA — "Nos toca recomendar qué automatizar. Y la respuesta no es 'todo'."
🎯 EL RESPALDO — "Primero CP-CAR-01, por el riesgo monetario: usando cálculos decimales y comparando la misma base fiscal. Es donde está el dinero y ya sabemos que falla."
🎯 EL RESPALDO — "CP-CAT-02 tiene una comparación de 12 precios repetible y determinista. CP-PRO-01 ofrece una validación observable y estable, previendo variación de idioma."
🎯 EL RESPALDO — "CP-CAR-02 sólo cuando podamos fijar y restaurar el stock: 147 no será estable en un demo compartido. Para cupones necesitamos datos vigentes y restaurables. Para pedidos, pago de prueba y permisos."
▶ FRASE LITERAL — "Automatizar un flujo que no se ha logrado completar ni una sola vez a mano sería escribir código contra un comportamiento que nadie ha observado: esas pruebas fallarían por el bloqueo conocido en lugar de detectar defectos nuevos."
▶ FRASE LITERAL — "Y aclaramos que esto es una recomendación de automatización futura, no una suite ya implementada."
🎯 EL RESPALDO — "La exploración de configuraciones ambiguas y la claridad de los mensajes siguen siendo manuales: requieren interpretar intención."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Granit · 45 s · 10:40–11:25 · [Diapositiva 13 del guion]
🗣 LA HISTORIA — "¿Qué haría falta para poder responder lo que hoy no podemos responder?"
🎯 EL RESPALDO — "El siguiente ciclo empieza por habilitar un ambiente controlado: productos con opciones completas, un cupón vigente, un método de pago de prueba, permisos de escritura y medición exportable."
🎯 EL RESPALDO — "Después reejecutamos los nueve bloqueados y repetimos los casos fallidos cuando exista corrección. Conservamos la evidencia anterior y registramos cada nueva corrida. Luego aplicamos regresión en carrito, checkout y pedidos, y recalculamos los indicadores."
▶ FRASE LITERAL — "Esa secuencia evita algo que pasa más de lo que parece: que un cambio en los datos del demo se confunda con una corrección del sistema."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Granit · 35 s · 11:25–12:00 · [Diapositiva 14 del guion]
🗣 LA HISTORIA — "Cierro con lo que dejamos, que no es una lista de errores ajenos."
🎯 EL RESPALDO — "Un proceso trazable con 18 casos diseñados y resultado documentado para todos los de prioridad Alta: tres pasaron, dos fallaron y nueve quedaron bloqueados, cada uno con su causa registrada."
▶ FRASE LITERAL — "Los fallos monetarios y de checkout, junto con los riesgos que siguen sin verificar, impiden recomendar el sistema para producción. El informe deja claro qué volver a probar y bajo qué condiciones."
🗣 LA HISTORIA — "Y lo que nos llevamos como equipo: el ambiente donde pruebas es parte del trabajo, no un supuesto. La diferencia entre 'no se pudo probar por el ambiente' y 'no se pudo probar por un defecto' cambia la conclusión del informe. Y la mayoría de nuestras respuestas aparecieron comparando las dos caras del sistema, no mirando solo la tienda."
"Gracias. Estamos listos para sus preguntas."
[Indicación de escena] Las preguntas quedan fuera de los doce minutos acordados.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Franco y Granit · fuera de los 12 minutos acordados · [Lámina de cierre]
Esta lámina queda en pantalla durante las preguntas.
Si te quedas en blanco, vuelve a estos tres pilares, en orden:
1. CONTRA QUÉ MEDIMOS — riesgo priorizado y criterios de salida.
2. QUÉ ENCONTRAMOS — DEF-01, DEF-04, y su cadena de trazabilidad.
3. QUÉ DECIDIMOS — no es recomendable para producción, y el número que lo decide es el bloqueo, no la aprobación.
Números memorizados: 18 diseñados · 14 Alta · 3 Pasó · 2 Falló · 9 Bloqueado · 35.7 % concluyentes (5/14) · 60 % aprobación (3/5) · 64.3 % bloqueo (9/14).
Frase memorizada: el checkout no ofrece método de pago aplicable, y sin eso no hay orden que confirmar ni que rastrear.
A un clic: DEF-01 · DEF-04 · tabla de los 14 casos Alta · matriz de trazabilidad · Qase con los casos y el Test Run · repositorio de GitHub (Gestión de la Configuración).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D3D"/>
        </a:solidFill>
      </p:bgPr>
    </p:bg>
    <p:spTree>
      <p:nvGrpSpPr>
        <p:cNvPr id="1" name=""/>
        <p:cNvGrpSpPr/>
        <p:nvPr/>
      </p:nvGrpSpPr>
      <p:grpSpPr>
        <a:xfrm>
          <a:off x="0" y="0"/>
          <a:ext cx="0" cy="0"/>
          <a:chOff x="0" y="0"/>
          <a:chExt cx="0" cy="0"/>
        </a:xfrm>
      </p:grpSpPr>
      <p:sp>
        <p:nvSpPr>
          <p:cNvPr id="2" name="Shape 0"/>
          <p:cNvSpPr/>
          <p:nvPr/>
        </p:nvSpPr>
        <p:spPr>
          <a:xfrm>
            <a:off x="822960" y="1207008"/>
            <a:ext cx="1069991" cy="301752"/>
          </a:xfrm>
          <a:prstGeom prst="roundRect">
            <a:avLst>
              <a:gd name="adj" fmla="val 15152"/>
            </a:avLst>
          </a:prstGeom>
          <a:solidFill>
            <a:srgbClr val="007C9F"/>
          </a:solidFill>
          <a:ln/>
        </p:spPr>
      </p:sp>
      <p:sp>
        <p:nvSpPr>
          <p:cNvPr id="3" name="Text 1"/>
          <p:cNvSpPr txBox="1"/>
          <p:nvPr/>
        </p:nvSpPr>
        <p:spPr>
          <a:xfrm>
            <a:off x="822960" y="1207008"/>
            <a:ext cx="1069991" cy="301752"/>
          </a:xfrm>
          <a:prstGeom prst="rect">
            <a:avLst/>
          </a:prstGeom>
          <a:noFill/>
          <a:ln/>
        </p:spPr>
        <p:txBody>
          <a:bodyPr wrap="square" lIns="25400" tIns="0" rIns="25400" bIns="0" rtlCol="0" anchor="ctr"/>
          <a:lstStyle/>
          <a:p>
            <a:pPr algn="ctr" indent="0" marL="0">
              <a:lnSpc>
                <a:spcPts val="1680"/>
              </a:lnSpc>
              <a:buNone/>
            </a:pPr>
            <a:r>
              <a:rPr lang="en-US" sz="1400" b="1" dirty="0">
                <a:solidFill>
                  <a:srgbClr val="FFFFFF"/>
                </a:solidFill>
                <a:latin typeface="Arial" pitchFamily="34" charset="0"/>
                <a:ea typeface="Arial" pitchFamily="34" charset="-122"/>
                <a:cs typeface="Arial" pitchFamily="34" charset="-120"/>
              </a:rPr>
              <a:t>GRUPO 5</a:t>
            </a:r>
            <a:endParaRPr lang="en-US" sz="1400" dirty="0"/>
          </a:p>
        </p:txBody>
      </p:sp>
      <p:sp>
        <p:nvSpPr>
          <p:cNvPr id="4" name="Text 2"/>
          <p:cNvSpPr txBox="1"/>
          <p:nvPr/>
        </p:nvSpPr>
        <p:spPr>
          <a:xfrm>
            <a:off x="2094119" y="1207008"/>
            <a:ext cx="7315200" cy="301752"/>
          </a:xfrm>
          <a:prstGeom prst="rect">
            <a:avLst/>
          </a:prstGeom>
          <a:noFill/>
          <a:ln/>
        </p:spPr>
        <p:txBody>
          <a:bodyPr wrap="square" lIns="0" tIns="0" rIns="0" bIns="0" rtlCol="0" anchor="ctr"/>
          <a:lstStyle/>
          <a:p>
            <a:pPr algn="l" indent="0" marL="0">
              <a:lnSpc>
                <a:spcPts val="1920"/>
              </a:lnSpc>
              <a:buNone/>
            </a:pPr>
            <a:r>
              <a:rPr lang="en-US" sz="1600" dirty="0">
                <a:solidFill>
                  <a:srgbClr val="AEC2CD"/>
                </a:solidFill>
                <a:latin typeface="Arial" pitchFamily="34" charset="0"/>
                <a:ea typeface="Arial" pitchFamily="34" charset="-122"/>
                <a:cs typeface="Arial" pitchFamily="34" charset="-120"/>
              </a:rPr>
              <a:t>CS5383 · Pruebas y Verificación de Software</a:t>
            </a:r>
            <a:endParaRPr lang="en-US" sz="1600" dirty="0"/>
          </a:p>
        </p:txBody>
      </p:sp>
      <p:sp>
        <p:nvSpPr>
          <p:cNvPr id="5" name="Text 3"/>
          <p:cNvSpPr txBox="1"/>
          <p:nvPr/>
        </p:nvSpPr>
        <p:spPr>
          <a:xfrm>
            <a:off x="822960" y="1783080"/>
            <a:ext cx="10515600" cy="1005840"/>
          </a:xfrm>
          <a:prstGeom prst="rect">
            <a:avLst/>
          </a:prstGeom>
          <a:noFill/>
          <a:ln/>
        </p:spPr>
        <p:txBody>
          <a:bodyPr wrap="square" lIns="0" tIns="0" rIns="0" bIns="0" rtlCol="0" anchor="ctr"/>
          <a:lstStyle/>
          <a:p>
            <a:pPr algn="l" indent="0" marL="0">
              <a:lnSpc>
                <a:spcPts val="5280"/>
              </a:lnSpc>
              <a:buNone/>
            </a:pPr>
            <a:r>
              <a:rPr lang="en-US" sz="4400" b="1" dirty="0">
                <a:solidFill>
                  <a:srgbClr val="FFFFFF"/>
                </a:solidFill>
                <a:latin typeface="Arial" pitchFamily="34" charset="0"/>
                <a:ea typeface="Arial" pitchFamily="34" charset="-122"/>
                <a:cs typeface="Arial" pitchFamily="34" charset="-120"/>
              </a:rPr>
              <a:t>Pruebas de software en OpenCart</a:t>
            </a:r>
            <a:endParaRPr lang="en-US" sz="4400" dirty="0"/>
          </a:p>
        </p:txBody>
      </p:sp>
      <p:sp>
        <p:nvSpPr>
          <p:cNvPr id="6" name="Text 4"/>
          <p:cNvSpPr txBox="1"/>
          <p:nvPr/>
        </p:nvSpPr>
        <p:spPr>
          <a:xfrm>
            <a:off x="822960" y="2907792"/>
            <a:ext cx="10515600" cy="411480"/>
          </a:xfrm>
          <a:prstGeom prst="rect">
            <a:avLst/>
          </a:prstGeom>
          <a:noFill/>
          <a:ln/>
        </p:spPr>
        <p:txBody>
          <a:bodyPr wrap="square" lIns="0" tIns="0" rIns="0" bIns="0" rtlCol="0" anchor="ctr"/>
          <a:lstStyle/>
          <a:p>
            <a:pPr algn="l" indent="0" marL="0">
              <a:lnSpc>
                <a:spcPts val="2400"/>
              </a:lnSpc>
              <a:buNone/>
            </a:pPr>
            <a:r>
              <a:rPr lang="en-US" sz="2000" dirty="0">
                <a:solidFill>
                  <a:srgbClr val="C7D6DE"/>
                </a:solidFill>
                <a:latin typeface="Arial" pitchFamily="34" charset="0"/>
                <a:ea typeface="Arial" pitchFamily="34" charset="-122"/>
                <a:cs typeface="Arial" pitchFamily="34" charset="-120"/>
              </a:rPr>
              <a:t>Proyecto 1 · Caso 3 · Sistema bajo prueba: OpenCart Demo 4.0.2.3</a:t>
            </a:r>
            <a:endParaRPr lang="en-US" sz="2000" dirty="0"/>
          </a:p>
        </p:txBody>
      </p:sp>
      <p:sp>
        <p:nvSpPr>
          <p:cNvPr id="7" name="Text 5"/>
          <p:cNvSpPr txBox="1"/>
          <p:nvPr/>
        </p:nvSpPr>
        <p:spPr>
          <a:xfrm>
            <a:off x="822960" y="3977640"/>
            <a:ext cx="10515600" cy="292608"/>
          </a:xfrm>
          <a:prstGeom prst="rect">
            <a:avLst/>
          </a:prstGeom>
          <a:noFill/>
          <a:ln/>
        </p:spPr>
        <p:txBody>
          <a:bodyPr wrap="square" lIns="0" tIns="0" rIns="0" bIns="0" rtlCol="0" anchor="ctr"/>
          <a:lstStyle/>
          <a:p>
            <a:pPr algn="l" indent="0" marL="0">
              <a:lnSpc>
                <a:spcPts val="1680"/>
              </a:lnSpc>
              <a:buNone/>
            </a:pPr>
            <a:r>
              <a:rPr lang="en-US" sz="1400" b="1" dirty="0">
                <a:solidFill>
                  <a:srgbClr val="5FB4CE"/>
                </a:solidFill>
                <a:latin typeface="Arial" pitchFamily="34" charset="0"/>
                <a:ea typeface="Arial" pitchFamily="34" charset="-122"/>
                <a:cs typeface="Arial" pitchFamily="34" charset="-120"/>
              </a:rPr>
              <a:t>EQUIPO</a:t>
            </a:r>
            <a:endParaRPr lang="en-US" sz="1400" dirty="0"/>
          </a:p>
        </p:txBody>
      </p:sp>
      <p:sp>
        <p:nvSpPr>
          <p:cNvPr id="8" name="Text 6"/>
          <p:cNvSpPr txBox="1"/>
          <p:nvPr/>
        </p:nvSpPr>
        <p:spPr>
          <a:xfrm>
            <a:off x="822960" y="4315968"/>
            <a:ext cx="10515600" cy="411480"/>
          </a:xfrm>
          <a:prstGeom prst="rect">
            <a:avLst/>
          </a:prstGeom>
          <a:noFill/>
          <a:ln/>
        </p:spPr>
        <p:txBody>
          <a:bodyPr wrap="square" lIns="0" tIns="0" rIns="0" bIns="0" rtlCol="0" anchor="ctr"/>
          <a:lstStyle/>
          <a:p>
            <a:pPr algn="l" indent="0" marL="0">
              <a:lnSpc>
                <a:spcPts val="2520"/>
              </a:lnSpc>
              <a:buNone/>
            </a:pPr>
            <a:r>
              <a:rPr lang="en-US" sz="2100" b="1" dirty="0">
                <a:solidFill>
                  <a:srgbClr val="FFFFFF"/>
                </a:solidFill>
                <a:latin typeface="Arial" pitchFamily="34" charset="0"/>
                <a:ea typeface="Arial" pitchFamily="34" charset="-122"/>
                <a:cs typeface="Arial" pitchFamily="34" charset="-120"/>
              </a:rPr>
              <a:t>Franco Roque Castillo · Granit Espinoza Salazar</a:t>
            </a:r>
            <a:endParaRPr lang="en-US" sz="2100" dirty="0"/>
          </a:p>
        </p:txBody>
      </p:sp>
      <p:sp>
        <p:nvSpPr>
          <p:cNvPr id="9" name="Text 7"/>
          <p:cNvSpPr txBox="1"/>
          <p:nvPr/>
        </p:nvSpPr>
        <p:spPr>
          <a:xfrm>
            <a:off x="822960" y="4956048"/>
            <a:ext cx="10515600" cy="320040"/>
          </a:xfrm>
          <a:prstGeom prst="rect">
            <a:avLst/>
          </a:prstGeom>
          <a:noFill/>
          <a:ln/>
        </p:spPr>
        <p:txBody>
          <a:bodyPr wrap="square" lIns="0" tIns="0" rIns="0" bIns="0" rtlCol="0" anchor="ctr"/>
          <a:lstStyle/>
          <a:p>
            <a:pPr algn="l" indent="0" marL="0">
              <a:lnSpc>
                <a:spcPts val="1920"/>
              </a:lnSpc>
              <a:buNone/>
            </a:pPr>
            <a:r>
              <a:rPr lang="en-US" sz="1600" dirty="0">
                <a:solidFill>
                  <a:srgbClr val="AEC2CD"/>
                </a:solidFill>
                <a:latin typeface="Arial" pitchFamily="34" charset="0"/>
                <a:ea typeface="Arial" pitchFamily="34" charset="-122"/>
                <a:cs typeface="Arial" pitchFamily="34" charset="-120"/>
              </a:rPr>
              <a:t>25/09/2026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6F8"/>
        </a:solidFill>
      </p:bgPr>
    </p:bg>
    <p:spTree>
      <p:nvGrpSpPr>
        <p:cNvPr id="1" name=""/>
        <p:cNvGrpSpPr/>
        <p:nvPr/>
      </p:nvGrpSpPr>
      <p:grpSpPr>
        <a:xfrm>
          <a:off x="0" y="0"/>
          <a:ext cx="0" cy="0"/>
          <a:chOff x="0" y="0"/>
          <a:chExt cx="0" cy="0"/>
        </a:xfrm>
      </p:grpSpPr>
      <p:sp>
        <p:nvSpPr>
          <p:cNvPr id="2" name="Shape 0"/>
          <p:cNvSpPr/>
          <p:nvPr/>
        </p:nvSpPr>
        <p:spPr>
          <a:xfrm>
            <a:off x="594360" y="457200"/>
            <a:ext cx="457200" cy="457200"/>
          </a:xfrm>
          <a:prstGeom prst="ellipse">
            <a:avLst/>
          </a:prstGeom>
          <a:solidFill>
            <a:srgbClr val="007C9F"/>
          </a:solidFill>
          <a:ln/>
        </p:spPr>
      </p:sp>
      <p:sp>
        <p:nvSpPr>
          <p:cNvPr id="3" name="Text 1"/>
          <p:cNvSpPr txBox="1"/>
          <p:nvPr/>
        </p:nvSpPr>
        <p:spPr>
          <a:xfrm>
            <a:off x="594360" y="457200"/>
            <a:ext cx="457200" cy="457200"/>
          </a:xfrm>
          <a:prstGeom prst="rect">
            <a:avLst/>
          </a:prstGeom>
          <a:noFill/>
          <a:ln/>
        </p:spPr>
        <p:txBody>
          <a:bodyPr wrap="square" lIns="0" tIns="0" rIns="0" bIns="0" rtlCol="0" anchor="ctr"/>
          <a:lstStyle/>
          <a:p>
            <a:pPr algn="ctr" indent="0" marL="0">
              <a:lnSpc>
                <a:spcPts val="1920"/>
              </a:lnSpc>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4" name="Text 2"/>
          <p:cNvSpPr txBox="1"/>
          <p:nvPr/>
        </p:nvSpPr>
        <p:spPr>
          <a:xfrm>
            <a:off x="1207008" y="429768"/>
            <a:ext cx="7726680" cy="530352"/>
          </a:xfrm>
          <a:prstGeom prst="rect">
            <a:avLst/>
          </a:prstGeom>
          <a:noFill/>
          <a:ln/>
        </p:spPr>
        <p:txBody>
          <a:bodyPr wrap="square" lIns="0" tIns="0" rIns="0" bIns="0" rtlCol="0" anchor="ctr"/>
          <a:lstStyle/>
          <a:p>
            <a:pPr algn="l" indent="0" marL="0">
              <a:lnSpc>
                <a:spcPts val="3360"/>
              </a:lnSpc>
              <a:buNone/>
            </a:pPr>
            <a:r>
              <a:rPr lang="en-US" sz="2800" b="1" dirty="0">
                <a:solidFill>
                  <a:srgbClr val="142D3D"/>
                </a:solidFill>
                <a:latin typeface="Arial" pitchFamily="34" charset="0"/>
                <a:ea typeface="Arial" pitchFamily="34" charset="-122"/>
                <a:cs typeface="Arial" pitchFamily="34" charset="-120"/>
              </a:rPr>
              <a:t>Alcance y planificación</a:t>
            </a:r>
            <a:endParaRPr lang="en-US" sz="2800" dirty="0"/>
          </a:p>
        </p:txBody>
      </p:sp>
      <p:sp>
        <p:nvSpPr>
          <p:cNvPr id="5" name="Text 3"/>
          <p:cNvSpPr txBox="1"/>
          <p:nvPr/>
        </p:nvSpPr>
        <p:spPr>
          <a:xfrm>
            <a:off x="9006840" y="429768"/>
            <a:ext cx="2590495" cy="530352"/>
          </a:xfrm>
          <a:prstGeom prst="rect">
            <a:avLst/>
          </a:prstGeom>
          <a:noFill/>
          <a:ln/>
        </p:spPr>
        <p:txBody>
          <a:bodyPr wrap="square" lIns="0" tIns="0" rIns="0" bIns="0" rtlCol="0" anchor="ctr"/>
          <a:lstStyle/>
          <a:p>
            <a:pPr algn="r" indent="0" marL="0">
              <a:lnSpc>
                <a:spcPts val="1680"/>
              </a:lnSpc>
              <a:buNone/>
            </a:pPr>
            <a:r>
              <a:rPr lang="en-US" sz="1400" dirty="0">
                <a:solidFill>
                  <a:srgbClr val="516673"/>
                </a:solidFill>
                <a:latin typeface="Arial" pitchFamily="34" charset="0"/>
                <a:ea typeface="Arial" pitchFamily="34" charset="-122"/>
                <a:cs typeface="Arial" pitchFamily="34" charset="-120"/>
              </a:rPr>
              <a:t>Franco · 0:25–1:10</a:t>
            </a:r>
            <a:endParaRPr lang="en-US" sz="1400" dirty="0"/>
          </a:p>
        </p:txBody>
      </p:sp>
      <p:sp>
        <p:nvSpPr>
          <p:cNvPr id="6" name="Shape 4"/>
          <p:cNvSpPr/>
          <p:nvPr/>
        </p:nvSpPr>
        <p:spPr>
          <a:xfrm>
            <a:off x="594360" y="1691640"/>
            <a:ext cx="3584448" cy="2542032"/>
          </a:xfrm>
          <a:prstGeom prst="roundRect">
            <a:avLst>
              <a:gd name="adj" fmla="val 2158"/>
            </a:avLst>
          </a:prstGeom>
          <a:solidFill>
            <a:srgbClr val="FFFFFF"/>
          </a:solidFill>
          <a:ln w="9525">
            <a:solidFill>
              <a:srgbClr val="D3DEE4"/>
            </a:solidFill>
            <a:prstDash val="solid"/>
          </a:ln>
        </p:spPr>
      </p:sp>
      <p:sp>
        <p:nvSpPr>
          <p:cNvPr id="7" name="Text 5"/>
          <p:cNvSpPr txBox="1"/>
          <p:nvPr/>
        </p:nvSpPr>
        <p:spPr>
          <a:xfrm>
            <a:off x="850392" y="1938528"/>
            <a:ext cx="3127248" cy="274320"/>
          </a:xfrm>
          <a:prstGeom prst="rect">
            <a:avLst/>
          </a:prstGeom>
          <a:noFill/>
          <a:ln/>
        </p:spPr>
        <p:txBody>
          <a:bodyPr wrap="square" lIns="0" tIns="0" rIns="0" bIns="0" rtlCol="0" anchor="ctr"/>
          <a:lstStyle/>
          <a:p>
            <a:pPr algn="l" indent="0" marL="0">
              <a:lnSpc>
                <a:spcPts val="1800"/>
              </a:lnSpc>
              <a:buNone/>
            </a:pPr>
            <a:r>
              <a:rPr lang="en-US" sz="1500" b="1" dirty="0">
                <a:solidFill>
                  <a:srgbClr val="007C9F"/>
                </a:solidFill>
                <a:latin typeface="Arial" pitchFamily="34" charset="0"/>
                <a:ea typeface="Arial" pitchFamily="34" charset="-122"/>
                <a:cs typeface="Arial" pitchFamily="34" charset="-120"/>
              </a:rPr>
              <a:t>DENTRO DEL ALCANCE</a:t>
            </a:r>
            <a:endParaRPr lang="en-US" sz="1500" dirty="0"/>
          </a:p>
        </p:txBody>
      </p:sp>
      <p:sp>
        <p:nvSpPr>
          <p:cNvPr id="8" name="Text 6"/>
          <p:cNvSpPr txBox="1"/>
          <p:nvPr/>
        </p:nvSpPr>
        <p:spPr>
          <a:xfrm>
            <a:off x="850392" y="2395728"/>
            <a:ext cx="3081528" cy="1600200"/>
          </a:xfrm>
          <a:prstGeom prst="rect">
            <a:avLst/>
          </a:prstGeom>
          <a:noFill/>
          <a:ln/>
        </p:spPr>
        <p:txBody>
          <a:bodyPr wrap="square" lIns="0" tIns="0" rIns="0" bIns="0" rtlCol="0" anchor="t"/>
          <a:lstStyle/>
          <a:p>
            <a:pPr algn="l" indent="0" marL="0">
              <a:lnSpc>
                <a:spcPts val="2160"/>
              </a:lnSpc>
              <a:spcAft>
                <a:spcPts val="1400"/>
              </a:spcAft>
              <a:buNone/>
            </a:pPr>
            <a:r>
              <a:rPr lang="en-US" sz="1800" b="1" dirty="0">
                <a:solidFill>
                  <a:srgbClr val="007C9F"/>
                </a:solidFill>
                <a:latin typeface="Arial" pitchFamily="34" charset="0"/>
                <a:ea typeface="Arial" pitchFamily="34" charset="-122"/>
                <a:cs typeface="Arial" pitchFamily="34" charset="-120"/>
              </a:rPr>
              <a:t>— </a:t>
            </a:r>
            <a:pPr algn="l" indent="0" marL="0">
              <a:lnSpc>
                <a:spcPts val="2160"/>
              </a:lnSpc>
              <a:spcAft>
                <a:spcPts val="1400"/>
              </a:spcAft>
              <a:buNone/>
            </a:pPr>
            <a:r>
              <a:rPr lang="en-US" sz="1800" dirty="0">
                <a:solidFill>
                  <a:srgbClr val="142D3D"/>
                </a:solidFill>
                <a:latin typeface="Arial" pitchFamily="34" charset="0"/>
                <a:ea typeface="Arial" pitchFamily="34" charset="-122"/>
                <a:cs typeface="Arial" pitchFamily="34" charset="-120"/>
              </a:rPr>
              <a:t>8 funcionalidades</a:t>
            </a:r>
            <a:endParaRPr lang="en-US" sz="1800" dirty="0"/>
          </a:p>
          <a:p>
            <a:pPr algn="l" indent="0" marL="0">
              <a:lnSpc>
                <a:spcPts val="2160"/>
              </a:lnSpc>
              <a:spcAft>
                <a:spcPts val="1400"/>
              </a:spcAft>
              <a:buNone/>
            </a:pPr>
            <a:r>
              <a:rPr lang="en-US" sz="1800" b="1" dirty="0">
                <a:solidFill>
                  <a:srgbClr val="007C9F"/>
                </a:solidFill>
                <a:latin typeface="Arial" pitchFamily="34" charset="0"/>
                <a:ea typeface="Arial" pitchFamily="34" charset="-122"/>
                <a:cs typeface="Arial" pitchFamily="34" charset="-120"/>
              </a:rPr>
              <a:t>— </a:t>
            </a:r>
            <a:pPr algn="l" indent="0" marL="0">
              <a:lnSpc>
                <a:spcPts val="2160"/>
              </a:lnSpc>
              <a:spcAft>
                <a:spcPts val="1400"/>
              </a:spcAft>
              <a:buNone/>
            </a:pPr>
            <a:r>
              <a:rPr lang="en-US" sz="1800" dirty="0">
                <a:solidFill>
                  <a:srgbClr val="142D3D"/>
                </a:solidFill>
                <a:latin typeface="Arial" pitchFamily="34" charset="0"/>
                <a:ea typeface="Arial" pitchFamily="34" charset="-122"/>
                <a:cs typeface="Arial" pitchFamily="34" charset="-120"/>
              </a:rPr>
              <a:t>3 requisitos no funcionales</a:t>
            </a:r>
            <a:endParaRPr lang="en-US" sz="1800" dirty="0"/>
          </a:p>
          <a:p>
            <a:pPr algn="l" indent="0" marL="0">
              <a:lnSpc>
                <a:spcPts val="2160"/>
              </a:lnSpc>
              <a:spcAft>
                <a:spcPts val="1400"/>
              </a:spcAft>
              <a:buNone/>
            </a:pPr>
            <a:r>
              <a:rPr lang="en-US" sz="1800" b="1" dirty="0">
                <a:solidFill>
                  <a:srgbClr val="007C9F"/>
                </a:solidFill>
                <a:latin typeface="Arial" pitchFamily="34" charset="0"/>
                <a:ea typeface="Arial" pitchFamily="34" charset="-122"/>
                <a:cs typeface="Arial" pitchFamily="34" charset="-120"/>
              </a:rPr>
              <a:t>— </a:t>
            </a:r>
            <a:pPr algn="l" indent="0" marL="0">
              <a:lnSpc>
                <a:spcPts val="2160"/>
              </a:lnSpc>
              <a:spcAft>
                <a:spcPts val="1400"/>
              </a:spcAft>
              <a:buNone/>
            </a:pPr>
            <a:r>
              <a:rPr lang="en-US" sz="1800" dirty="0">
                <a:solidFill>
                  <a:srgbClr val="142D3D"/>
                </a:solidFill>
                <a:latin typeface="Arial" pitchFamily="34" charset="0"/>
                <a:ea typeface="Arial" pitchFamily="34" charset="-122"/>
                <a:cs typeface="Arial" pitchFamily="34" charset="-120"/>
              </a:rPr>
              <a:t>Nivel de sistema</a:t>
            </a:r>
            <a:endParaRPr lang="en-US" sz="1800" dirty="0"/>
          </a:p>
        </p:txBody>
      </p:sp>
      <p:sp>
        <p:nvSpPr>
          <p:cNvPr id="9" name="Shape 7"/>
          <p:cNvSpPr/>
          <p:nvPr/>
        </p:nvSpPr>
        <p:spPr>
          <a:xfrm>
            <a:off x="4347972" y="1691640"/>
            <a:ext cx="3584448" cy="2542032"/>
          </a:xfrm>
          <a:prstGeom prst="roundRect">
            <a:avLst>
              <a:gd name="adj" fmla="val 2158"/>
            </a:avLst>
          </a:prstGeom>
          <a:solidFill>
            <a:srgbClr val="FFFFFF"/>
          </a:solidFill>
          <a:ln w="9525">
            <a:solidFill>
              <a:srgbClr val="D3DEE4"/>
            </a:solidFill>
            <a:prstDash val="solid"/>
          </a:ln>
        </p:spPr>
      </p:sp>
      <p:sp>
        <p:nvSpPr>
          <p:cNvPr id="10" name="Text 8"/>
          <p:cNvSpPr txBox="1"/>
          <p:nvPr/>
        </p:nvSpPr>
        <p:spPr>
          <a:xfrm>
            <a:off x="4604004" y="1938528"/>
            <a:ext cx="3127248" cy="274320"/>
          </a:xfrm>
          <a:prstGeom prst="rect">
            <a:avLst/>
          </a:prstGeom>
          <a:noFill/>
          <a:ln/>
        </p:spPr>
        <p:txBody>
          <a:bodyPr wrap="square" lIns="0" tIns="0" rIns="0" bIns="0" rtlCol="0" anchor="ctr"/>
          <a:lstStyle/>
          <a:p>
            <a:pPr algn="l" indent="0" marL="0">
              <a:lnSpc>
                <a:spcPts val="1800"/>
              </a:lnSpc>
              <a:buNone/>
            </a:pPr>
            <a:r>
              <a:rPr lang="en-US" sz="1500" b="1" dirty="0">
                <a:solidFill>
                  <a:srgbClr val="007C9F"/>
                </a:solidFill>
                <a:latin typeface="Arial" pitchFamily="34" charset="0"/>
                <a:ea typeface="Arial" pitchFamily="34" charset="-122"/>
                <a:cs typeface="Arial" pitchFamily="34" charset="-120"/>
              </a:rPr>
              <a:t>DISEÑO DE PRUEBAS</a:t>
            </a:r>
            <a:endParaRPr lang="en-US" sz="1500" dirty="0"/>
          </a:p>
        </p:txBody>
      </p:sp>
      <p:sp>
        <p:nvSpPr>
          <p:cNvPr id="11" name="Text 9"/>
          <p:cNvSpPr txBox="1"/>
          <p:nvPr/>
        </p:nvSpPr>
        <p:spPr>
          <a:xfrm>
            <a:off x="4604004" y="2395728"/>
            <a:ext cx="3081528" cy="1600200"/>
          </a:xfrm>
          <a:prstGeom prst="rect">
            <a:avLst/>
          </a:prstGeom>
          <a:noFill/>
          <a:ln/>
        </p:spPr>
        <p:txBody>
          <a:bodyPr wrap="square" lIns="0" tIns="0" rIns="0" bIns="0" rtlCol="0" anchor="t"/>
          <a:lstStyle/>
          <a:p>
            <a:pPr algn="l" indent="0" marL="0">
              <a:lnSpc>
                <a:spcPts val="2160"/>
              </a:lnSpc>
              <a:spcAft>
                <a:spcPts val="1400"/>
              </a:spcAft>
              <a:buNone/>
            </a:pPr>
            <a:r>
              <a:rPr lang="en-US" sz="1800" b="1" dirty="0">
                <a:solidFill>
                  <a:srgbClr val="007C9F"/>
                </a:solidFill>
                <a:latin typeface="Arial" pitchFamily="34" charset="0"/>
                <a:ea typeface="Arial" pitchFamily="34" charset="-122"/>
                <a:cs typeface="Arial" pitchFamily="34" charset="-120"/>
              </a:rPr>
              <a:t>— </a:t>
            </a:r>
            <a:pPr algn="l" indent="0" marL="0">
              <a:lnSpc>
                <a:spcPts val="2160"/>
              </a:lnSpc>
              <a:spcAft>
                <a:spcPts val="1400"/>
              </a:spcAft>
              <a:buNone/>
            </a:pPr>
            <a:r>
              <a:rPr lang="en-US" sz="1800" dirty="0">
                <a:solidFill>
                  <a:srgbClr val="142D3D"/>
                </a:solidFill>
                <a:latin typeface="Arial" pitchFamily="34" charset="0"/>
                <a:ea typeface="Arial" pitchFamily="34" charset="-122"/>
                <a:cs typeface="Arial" pitchFamily="34" charset="-120"/>
              </a:rPr>
              <a:t>18 casos</a:t>
            </a:r>
            <a:endParaRPr lang="en-US" sz="1800" dirty="0"/>
          </a:p>
          <a:p>
            <a:pPr algn="l" indent="0" marL="0">
              <a:lnSpc>
                <a:spcPts val="2160"/>
              </a:lnSpc>
              <a:spcAft>
                <a:spcPts val="1400"/>
              </a:spcAft>
              <a:buNone/>
            </a:pPr>
            <a:r>
              <a:rPr lang="en-US" sz="1800" b="1" dirty="0">
                <a:solidFill>
                  <a:srgbClr val="007C9F"/>
                </a:solidFill>
                <a:latin typeface="Arial" pitchFamily="34" charset="0"/>
                <a:ea typeface="Arial" pitchFamily="34" charset="-122"/>
                <a:cs typeface="Arial" pitchFamily="34" charset="-120"/>
              </a:rPr>
              <a:t>— </a:t>
            </a:r>
            <a:pPr algn="l" indent="0" marL="0">
              <a:lnSpc>
                <a:spcPts val="2160"/>
              </a:lnSpc>
              <a:spcAft>
                <a:spcPts val="1400"/>
              </a:spcAft>
              <a:buNone/>
            </a:pPr>
            <a:r>
              <a:rPr lang="en-US" sz="1800" dirty="0">
                <a:solidFill>
                  <a:srgbClr val="142D3D"/>
                </a:solidFill>
                <a:latin typeface="Arial" pitchFamily="34" charset="0"/>
                <a:ea typeface="Arial" pitchFamily="34" charset="-122"/>
                <a:cs typeface="Arial" pitchFamily="34" charset="-120"/>
              </a:rPr>
              <a:t>11 requisitos</a:t>
            </a:r>
            <a:endParaRPr lang="en-US" sz="1800" dirty="0"/>
          </a:p>
          <a:p>
            <a:pPr algn="l" indent="0" marL="0">
              <a:lnSpc>
                <a:spcPts val="2160"/>
              </a:lnSpc>
              <a:spcAft>
                <a:spcPts val="1400"/>
              </a:spcAft>
              <a:buNone/>
            </a:pPr>
            <a:r>
              <a:rPr lang="en-US" sz="1800" b="1" dirty="0">
                <a:solidFill>
                  <a:srgbClr val="007C9F"/>
                </a:solidFill>
                <a:latin typeface="Arial" pitchFamily="34" charset="0"/>
                <a:ea typeface="Arial" pitchFamily="34" charset="-122"/>
                <a:cs typeface="Arial" pitchFamily="34" charset="-120"/>
              </a:rPr>
              <a:t>— </a:t>
            </a:r>
            <a:pPr algn="l" indent="0" marL="0">
              <a:lnSpc>
                <a:spcPts val="2160"/>
              </a:lnSpc>
              <a:spcAft>
                <a:spcPts val="1400"/>
              </a:spcAft>
              <a:buNone/>
            </a:pPr>
            <a:r>
              <a:rPr lang="en-US" sz="1800" dirty="0">
                <a:solidFill>
                  <a:srgbClr val="142D3D"/>
                </a:solidFill>
                <a:latin typeface="Arial" pitchFamily="34" charset="0"/>
                <a:ea typeface="Arial" pitchFamily="34" charset="-122"/>
                <a:cs typeface="Arial" pitchFamily="34" charset="-120"/>
              </a:rPr>
              <a:t>26 condiciones</a:t>
            </a:r>
            <a:endParaRPr lang="en-US" sz="1800" dirty="0"/>
          </a:p>
        </p:txBody>
      </p:sp>
      <p:sp>
        <p:nvSpPr>
          <p:cNvPr id="12" name="Shape 10"/>
          <p:cNvSpPr/>
          <p:nvPr/>
        </p:nvSpPr>
        <p:spPr>
          <a:xfrm>
            <a:off x="8101584" y="1691640"/>
            <a:ext cx="3584448" cy="2542032"/>
          </a:xfrm>
          <a:prstGeom prst="roundRect">
            <a:avLst>
              <a:gd name="adj" fmla="val 2158"/>
            </a:avLst>
          </a:prstGeom>
          <a:solidFill>
            <a:srgbClr val="FFFFFF"/>
          </a:solidFill>
          <a:ln w="9525">
            <a:solidFill>
              <a:srgbClr val="D3DEE4"/>
            </a:solidFill>
            <a:prstDash val="solid"/>
          </a:ln>
        </p:spPr>
      </p:sp>
      <p:sp>
        <p:nvSpPr>
          <p:cNvPr id="13" name="Text 11"/>
          <p:cNvSpPr txBox="1"/>
          <p:nvPr/>
        </p:nvSpPr>
        <p:spPr>
          <a:xfrm>
            <a:off x="8357616" y="1938528"/>
            <a:ext cx="3127248" cy="274320"/>
          </a:xfrm>
          <a:prstGeom prst="rect">
            <a:avLst/>
          </a:prstGeom>
          <a:noFill/>
          <a:ln/>
        </p:spPr>
        <p:txBody>
          <a:bodyPr wrap="square" lIns="0" tIns="0" rIns="0" bIns="0" rtlCol="0" anchor="ctr"/>
          <a:lstStyle/>
          <a:p>
            <a:pPr algn="l" indent="0" marL="0">
              <a:lnSpc>
                <a:spcPts val="1800"/>
              </a:lnSpc>
              <a:buNone/>
            </a:pPr>
            <a:r>
              <a:rPr lang="en-US" sz="1500" b="1" dirty="0">
                <a:solidFill>
                  <a:srgbClr val="007C9F"/>
                </a:solidFill>
                <a:latin typeface="Arial" pitchFamily="34" charset="0"/>
                <a:ea typeface="Arial" pitchFamily="34" charset="-122"/>
                <a:cs typeface="Arial" pitchFamily="34" charset="-120"/>
              </a:rPr>
              <a:t>FUERA DEL ALCANCE</a:t>
            </a:r>
            <a:endParaRPr lang="en-US" sz="1500" dirty="0"/>
          </a:p>
        </p:txBody>
      </p:sp>
      <p:sp>
        <p:nvSpPr>
          <p:cNvPr id="14" name="Text 12"/>
          <p:cNvSpPr txBox="1"/>
          <p:nvPr/>
        </p:nvSpPr>
        <p:spPr>
          <a:xfrm>
            <a:off x="8357616" y="2395728"/>
            <a:ext cx="3081528" cy="1600200"/>
          </a:xfrm>
          <a:prstGeom prst="rect">
            <a:avLst/>
          </a:prstGeom>
          <a:noFill/>
          <a:ln/>
        </p:spPr>
        <p:txBody>
          <a:bodyPr wrap="square" lIns="0" tIns="0" rIns="0" bIns="0" rtlCol="0" anchor="t"/>
          <a:lstStyle/>
          <a:p>
            <a:pPr algn="l" indent="0" marL="0">
              <a:lnSpc>
                <a:spcPts val="2160"/>
              </a:lnSpc>
              <a:spcAft>
                <a:spcPts val="1400"/>
              </a:spcAft>
              <a:buNone/>
            </a:pPr>
            <a:r>
              <a:rPr lang="en-US" sz="1800" b="1" dirty="0">
                <a:solidFill>
                  <a:srgbClr val="007C9F"/>
                </a:solidFill>
                <a:latin typeface="Arial" pitchFamily="34" charset="0"/>
                <a:ea typeface="Arial" pitchFamily="34" charset="-122"/>
                <a:cs typeface="Arial" pitchFamily="34" charset="-120"/>
              </a:rPr>
              <a:t>— </a:t>
            </a:r>
            <a:pPr algn="l" indent="0" marL="0">
              <a:lnSpc>
                <a:spcPts val="2160"/>
              </a:lnSpc>
              <a:spcAft>
                <a:spcPts val="1400"/>
              </a:spcAft>
              <a:buNone/>
            </a:pPr>
            <a:r>
              <a:rPr lang="en-US" sz="1800" dirty="0">
                <a:solidFill>
                  <a:srgbClr val="142D3D"/>
                </a:solidFill>
                <a:latin typeface="Arial" pitchFamily="34" charset="0"/>
                <a:ea typeface="Arial" pitchFamily="34" charset="-122"/>
                <a:cs typeface="Arial" pitchFamily="34" charset="-120"/>
              </a:rPr>
              <a:t>Pagos reales</a:t>
            </a:r>
            <a:endParaRPr lang="en-US" sz="1800" dirty="0"/>
          </a:p>
          <a:p>
            <a:pPr algn="l" indent="0" marL="0">
              <a:lnSpc>
                <a:spcPts val="2160"/>
              </a:lnSpc>
              <a:spcAft>
                <a:spcPts val="1400"/>
              </a:spcAft>
              <a:buNone/>
            </a:pPr>
            <a:r>
              <a:rPr lang="en-US" sz="1800" b="1" dirty="0">
                <a:solidFill>
                  <a:srgbClr val="007C9F"/>
                </a:solidFill>
                <a:latin typeface="Arial" pitchFamily="34" charset="0"/>
                <a:ea typeface="Arial" pitchFamily="34" charset="-122"/>
                <a:cs typeface="Arial" pitchFamily="34" charset="-120"/>
              </a:rPr>
              <a:t>— </a:t>
            </a:r>
            <a:pPr algn="l" indent="0" marL="0">
              <a:lnSpc>
                <a:spcPts val="2160"/>
              </a:lnSpc>
              <a:spcAft>
                <a:spcPts val="1400"/>
              </a:spcAft>
              <a:buNone/>
            </a:pPr>
            <a:r>
              <a:rPr lang="en-US" sz="1800" dirty="0">
                <a:solidFill>
                  <a:srgbClr val="142D3D"/>
                </a:solidFill>
                <a:latin typeface="Arial" pitchFamily="34" charset="0"/>
                <a:ea typeface="Arial" pitchFamily="34" charset="-122"/>
                <a:cs typeface="Arial" pitchFamily="34" charset="-120"/>
              </a:rPr>
              <a:t>Pruebas de carga</a:t>
            </a:r>
            <a:endParaRPr lang="en-US" sz="1800" dirty="0"/>
          </a:p>
          <a:p>
            <a:pPr algn="l" indent="0" marL="0">
              <a:lnSpc>
                <a:spcPts val="2160"/>
              </a:lnSpc>
              <a:spcAft>
                <a:spcPts val="1400"/>
              </a:spcAft>
              <a:buNone/>
            </a:pPr>
            <a:r>
              <a:rPr lang="en-US" sz="1800" b="1" dirty="0">
                <a:solidFill>
                  <a:srgbClr val="007C9F"/>
                </a:solidFill>
                <a:latin typeface="Arial" pitchFamily="34" charset="0"/>
                <a:ea typeface="Arial" pitchFamily="34" charset="-122"/>
                <a:cs typeface="Arial" pitchFamily="34" charset="-120"/>
              </a:rPr>
              <a:t>— </a:t>
            </a:r>
            <a:pPr algn="l" indent="0" marL="0">
              <a:lnSpc>
                <a:spcPts val="2160"/>
              </a:lnSpc>
              <a:spcAft>
                <a:spcPts val="1400"/>
              </a:spcAft>
              <a:buNone/>
            </a:pPr>
            <a:r>
              <a:rPr lang="en-US" sz="1800" dirty="0">
                <a:solidFill>
                  <a:srgbClr val="142D3D"/>
                </a:solidFill>
                <a:latin typeface="Arial" pitchFamily="34" charset="0"/>
                <a:ea typeface="Arial" pitchFamily="34" charset="-122"/>
                <a:cs typeface="Arial" pitchFamily="34" charset="-120"/>
              </a:rPr>
              <a:t>Modificación de código</a:t>
            </a:r>
            <a:endParaRPr lang="en-US" sz="1800" dirty="0"/>
          </a:p>
        </p:txBody>
      </p:sp>
      <p:sp>
        <p:nvSpPr>
          <p:cNvPr id="15" name="Shape 13"/>
          <p:cNvSpPr/>
          <p:nvPr/>
        </p:nvSpPr>
        <p:spPr>
          <a:xfrm>
            <a:off x="594360" y="4526280"/>
            <a:ext cx="11002975" cy="841248"/>
          </a:xfrm>
          <a:prstGeom prst="roundRect">
            <a:avLst>
              <a:gd name="adj" fmla="val 6522"/>
            </a:avLst>
          </a:prstGeom>
          <a:solidFill>
            <a:srgbClr val="E3EDF1"/>
          </a:solidFill>
          <a:ln/>
        </p:spPr>
      </p:sp>
      <p:sp>
        <p:nvSpPr>
          <p:cNvPr id="16" name="Shape 14"/>
          <p:cNvSpPr/>
          <p:nvPr/>
        </p:nvSpPr>
        <p:spPr>
          <a:xfrm>
            <a:off x="850392" y="4736592"/>
            <a:ext cx="2261759" cy="301752"/>
          </a:xfrm>
          <a:prstGeom prst="roundRect">
            <a:avLst>
              <a:gd name="adj" fmla="val 15152"/>
            </a:avLst>
          </a:prstGeom>
          <a:solidFill>
            <a:srgbClr val="007C9F"/>
          </a:solidFill>
          <a:ln/>
        </p:spPr>
      </p:sp>
      <p:sp>
        <p:nvSpPr>
          <p:cNvPr id="17" name="Text 15"/>
          <p:cNvSpPr txBox="1"/>
          <p:nvPr/>
        </p:nvSpPr>
        <p:spPr>
          <a:xfrm>
            <a:off x="850392" y="4736592"/>
            <a:ext cx="2261759" cy="301752"/>
          </a:xfrm>
          <a:prstGeom prst="rect">
            <a:avLst/>
          </a:prstGeom>
          <a:noFill/>
          <a:ln/>
        </p:spPr>
        <p:txBody>
          <a:bodyPr wrap="square" lIns="25400" tIns="0" rIns="25400" bIns="0" rtlCol="0" anchor="ctr"/>
          <a:lstStyle/>
          <a:p>
            <a:pPr algn="ctr" indent="0" marL="0">
              <a:lnSpc>
                <a:spcPts val="1680"/>
              </a:lnSpc>
              <a:buNone/>
            </a:pPr>
            <a:r>
              <a:rPr lang="en-US" sz="1400" b="1" dirty="0">
                <a:solidFill>
                  <a:srgbClr val="FFFFFF"/>
                </a:solidFill>
                <a:latin typeface="Arial" pitchFamily="34" charset="0"/>
                <a:ea typeface="Arial" pitchFamily="34" charset="-122"/>
                <a:cs typeface="Arial" pitchFamily="34" charset="-120"/>
              </a:rPr>
              <a:t>REGLA DE EJECUCIÓN</a:t>
            </a:r>
            <a:endParaRPr lang="en-US" sz="1400" dirty="0"/>
          </a:p>
        </p:txBody>
      </p:sp>
      <p:sp>
        <p:nvSpPr>
          <p:cNvPr id="18" name="Text 16"/>
          <p:cNvSpPr txBox="1"/>
          <p:nvPr/>
        </p:nvSpPr>
        <p:spPr>
          <a:xfrm>
            <a:off x="3340751" y="4736592"/>
            <a:ext cx="8009696" cy="420624"/>
          </a:xfrm>
          <a:prstGeom prst="rect">
            <a:avLst/>
          </a:prstGeom>
          <a:noFill/>
          <a:ln/>
        </p:spPr>
        <p:txBody>
          <a:bodyPr wrap="square" lIns="0" tIns="0" rIns="0" bIns="0" rtlCol="0" anchor="ctr"/>
          <a:lstStyle/>
          <a:p>
            <a:pPr algn="l" indent="0" marL="0">
              <a:lnSpc>
                <a:spcPts val="2040"/>
              </a:lnSpc>
              <a:buNone/>
            </a:pPr>
            <a:r>
              <a:rPr lang="en-US" sz="1700" dirty="0">
                <a:solidFill>
                  <a:srgbClr val="142D3D"/>
                </a:solidFill>
                <a:latin typeface="Arial" pitchFamily="34" charset="0"/>
                <a:ea typeface="Arial" pitchFamily="34" charset="-122"/>
                <a:cs typeface="Arial" pitchFamily="34" charset="-120"/>
              </a:rPr>
              <a:t>Falta una precondición → el caso se suspende.</a:t>
            </a:r>
            <a:endParaRPr lang="en-US" sz="1700" dirty="0"/>
          </a:p>
        </p:txBody>
      </p:sp>
      <p:sp>
        <p:nvSpPr>
          <p:cNvPr id="19" name="Text 17"/>
          <p:cNvSpPr txBox="1"/>
          <p:nvPr/>
        </p:nvSpPr>
        <p:spPr>
          <a:xfrm>
            <a:off x="594360" y="5596128"/>
            <a:ext cx="11002975" cy="365760"/>
          </a:xfrm>
          <a:prstGeom prst="rect">
            <a:avLst/>
          </a:prstGeom>
          <a:noFill/>
          <a:ln/>
        </p:spPr>
        <p:txBody>
          <a:bodyPr wrap="square" lIns="0" tIns="0" rIns="0" bIns="0" rtlCol="0" anchor="ctr"/>
          <a:lstStyle/>
          <a:p>
            <a:pPr algn="l" indent="0" marL="0">
              <a:lnSpc>
                <a:spcPts val="1800"/>
              </a:lnSpc>
              <a:buNone/>
            </a:pPr>
            <a:r>
              <a:rPr lang="en-US" sz="1500" dirty="0">
                <a:solidFill>
                  <a:srgbClr val="516673"/>
                </a:solidFill>
                <a:latin typeface="Arial" pitchFamily="34" charset="0"/>
                <a:ea typeface="Arial" pitchFamily="34" charset="-122"/>
                <a:cs typeface="Arial" pitchFamily="34" charset="-120"/>
              </a:rPr>
              <a:t>Estimación: 24 horas, con reserva por bloqueos.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6F8"/>
        </a:solidFill>
      </p:bgPr>
    </p:bg>
    <p:spTree>
      <p:nvGrpSpPr>
        <p:cNvPr id="1" name=""/>
        <p:cNvGrpSpPr/>
        <p:nvPr/>
      </p:nvGrpSpPr>
      <p:grpSpPr>
        <a:xfrm>
          <a:off x="0" y="0"/>
          <a:ext cx="0" cy="0"/>
          <a:chOff x="0" y="0"/>
          <a:chExt cx="0" cy="0"/>
        </a:xfrm>
      </p:grpSpPr>
      <p:sp>
        <p:nvSpPr>
          <p:cNvPr id="2" name="Shape 0"/>
          <p:cNvSpPr/>
          <p:nvPr/>
        </p:nvSpPr>
        <p:spPr>
          <a:xfrm>
            <a:off x="594360" y="457200"/>
            <a:ext cx="457200" cy="457200"/>
          </a:xfrm>
          <a:prstGeom prst="ellipse">
            <a:avLst/>
          </a:prstGeom>
          <a:solidFill>
            <a:srgbClr val="007C9F"/>
          </a:solidFill>
          <a:ln/>
        </p:spPr>
      </p:sp>
      <p:sp>
        <p:nvSpPr>
          <p:cNvPr id="3" name="Text 1"/>
          <p:cNvSpPr txBox="1"/>
          <p:nvPr/>
        </p:nvSpPr>
        <p:spPr>
          <a:xfrm>
            <a:off x="594360" y="457200"/>
            <a:ext cx="457200" cy="457200"/>
          </a:xfrm>
          <a:prstGeom prst="rect">
            <a:avLst/>
          </a:prstGeom>
          <a:noFill/>
          <a:ln/>
        </p:spPr>
        <p:txBody>
          <a:bodyPr wrap="square" lIns="0" tIns="0" rIns="0" bIns="0" rtlCol="0" anchor="ctr"/>
          <a:lstStyle/>
          <a:p>
            <a:pPr algn="ctr" indent="0" marL="0">
              <a:lnSpc>
                <a:spcPts val="1920"/>
              </a:lnSpc>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4" name="Text 2"/>
          <p:cNvSpPr txBox="1"/>
          <p:nvPr/>
        </p:nvSpPr>
        <p:spPr>
          <a:xfrm>
            <a:off x="1207008" y="429768"/>
            <a:ext cx="7726680" cy="530352"/>
          </a:xfrm>
          <a:prstGeom prst="rect">
            <a:avLst/>
          </a:prstGeom>
          <a:noFill/>
          <a:ln/>
        </p:spPr>
        <p:txBody>
          <a:bodyPr wrap="square" lIns="0" tIns="0" rIns="0" bIns="0" rtlCol="0" anchor="ctr"/>
          <a:lstStyle/>
          <a:p>
            <a:pPr algn="l" indent="0" marL="0">
              <a:lnSpc>
                <a:spcPts val="3360"/>
              </a:lnSpc>
              <a:buNone/>
            </a:pPr>
            <a:r>
              <a:rPr lang="en-US" sz="2800" b="1" dirty="0">
                <a:solidFill>
                  <a:srgbClr val="142D3D"/>
                </a:solidFill>
                <a:latin typeface="Arial" pitchFamily="34" charset="0"/>
                <a:ea typeface="Arial" pitchFamily="34" charset="-122"/>
                <a:cs typeface="Arial" pitchFamily="34" charset="-120"/>
              </a:rPr>
              <a:t>Priorización y riesgo</a:t>
            </a:r>
            <a:endParaRPr lang="en-US" sz="2800" dirty="0"/>
          </a:p>
        </p:txBody>
      </p:sp>
      <p:sp>
        <p:nvSpPr>
          <p:cNvPr id="5" name="Text 3"/>
          <p:cNvSpPr txBox="1"/>
          <p:nvPr/>
        </p:nvSpPr>
        <p:spPr>
          <a:xfrm>
            <a:off x="9006840" y="429768"/>
            <a:ext cx="2590495" cy="530352"/>
          </a:xfrm>
          <a:prstGeom prst="rect">
            <a:avLst/>
          </a:prstGeom>
          <a:noFill/>
          <a:ln/>
        </p:spPr>
        <p:txBody>
          <a:bodyPr wrap="square" lIns="0" tIns="0" rIns="0" bIns="0" rtlCol="0" anchor="ctr"/>
          <a:lstStyle/>
          <a:p>
            <a:pPr algn="r" indent="0" marL="0">
              <a:lnSpc>
                <a:spcPts val="1680"/>
              </a:lnSpc>
              <a:buNone/>
            </a:pPr>
            <a:r>
              <a:rPr lang="en-US" sz="1400" dirty="0">
                <a:solidFill>
                  <a:srgbClr val="516673"/>
                </a:solidFill>
                <a:latin typeface="Arial" pitchFamily="34" charset="0"/>
                <a:ea typeface="Arial" pitchFamily="34" charset="-122"/>
                <a:cs typeface="Arial" pitchFamily="34" charset="-120"/>
              </a:rPr>
              <a:t>Franco · 1:10–1:40</a:t>
            </a:r>
            <a:endParaRPr lang="en-US" sz="1400" dirty="0"/>
          </a:p>
        </p:txBody>
      </p:sp>
      <p:sp>
        <p:nvSpPr>
          <p:cNvPr id="6" name="Text 4"/>
          <p:cNvSpPr txBox="1"/>
          <p:nvPr/>
        </p:nvSpPr>
        <p:spPr>
          <a:xfrm>
            <a:off x="868680" y="1691640"/>
            <a:ext cx="3840480" cy="274320"/>
          </a:xfrm>
          <a:prstGeom prst="rect">
            <a:avLst/>
          </a:prstGeom>
          <a:noFill/>
          <a:ln/>
        </p:spPr>
        <p:txBody>
          <a:bodyPr wrap="square" lIns="0" tIns="0" rIns="0" bIns="0" rtlCol="0" anchor="ctr"/>
          <a:lstStyle/>
          <a:p>
            <a:pPr algn="l" indent="0" marL="0">
              <a:lnSpc>
                <a:spcPts val="1680"/>
              </a:lnSpc>
              <a:buNone/>
            </a:pPr>
            <a:r>
              <a:rPr lang="en-US" sz="1400" b="1" dirty="0">
                <a:solidFill>
                  <a:srgbClr val="516673"/>
                </a:solidFill>
                <a:latin typeface="Arial" pitchFamily="34" charset="0"/>
                <a:ea typeface="Arial" pitchFamily="34" charset="-122"/>
                <a:cs typeface="Arial" pitchFamily="34" charset="-120"/>
              </a:rPr>
              <a:t>MATRIZ PROBABILIDAD × IMPACTO</a:t>
            </a:r>
            <a:endParaRPr lang="en-US" sz="1400" dirty="0"/>
          </a:p>
        </p:txBody>
      </p:sp>
      <p:sp>
        <p:nvSpPr>
          <p:cNvPr id="7" name="Text 5"/>
          <p:cNvSpPr txBox="1"/>
          <p:nvPr/>
        </p:nvSpPr>
        <p:spPr>
          <a:xfrm>
            <a:off x="868680" y="1993392"/>
            <a:ext cx="1188720" cy="502920"/>
          </a:xfrm>
          <a:prstGeom prst="rect">
            <a:avLst/>
          </a:prstGeom>
          <a:noFill/>
          <a:ln/>
        </p:spPr>
        <p:txBody>
          <a:bodyPr wrap="square" lIns="0" tIns="0" rIns="0" bIns="0" rtlCol="0" anchor="ctr"/>
          <a:lstStyle/>
          <a:p>
            <a:pPr algn="ctr" indent="0" marL="0">
              <a:lnSpc>
                <a:spcPts val="1680"/>
              </a:lnSpc>
              <a:buNone/>
            </a:pPr>
            <a:r>
              <a:rPr lang="en-US" sz="1400" b="1" dirty="0">
                <a:solidFill>
                  <a:srgbClr val="516673"/>
                </a:solidFill>
                <a:latin typeface="Arial" pitchFamily="34" charset="0"/>
                <a:ea typeface="Arial" pitchFamily="34" charset="-122"/>
                <a:cs typeface="Arial" pitchFamily="34" charset="-120"/>
              </a:rPr>
              <a:t>Impacto ↓</a:t>
            </a:r>
            <a:endParaRPr lang="en-US" sz="1400" dirty="0"/>
          </a:p>
        </p:txBody>
      </p:sp>
      <p:sp>
        <p:nvSpPr>
          <p:cNvPr id="8" name="Text 6"/>
          <p:cNvSpPr txBox="1"/>
          <p:nvPr/>
        </p:nvSpPr>
        <p:spPr>
          <a:xfrm>
            <a:off x="2057400" y="1993392"/>
            <a:ext cx="749808" cy="502920"/>
          </a:xfrm>
          <a:prstGeom prst="rect">
            <a:avLst/>
          </a:prstGeom>
          <a:noFill/>
          <a:ln/>
        </p:spPr>
        <p:txBody>
          <a:bodyPr wrap="square" lIns="0" tIns="0" rIns="0" bIns="0" rtlCol="0" anchor="ctr"/>
          <a:lstStyle/>
          <a:p>
            <a:pPr algn="ctr" indent="0" marL="0">
              <a:lnSpc>
                <a:spcPts val="1800"/>
              </a:lnSpc>
              <a:buNone/>
            </a:pPr>
            <a:r>
              <a:rPr lang="en-US" sz="1500" b="1" dirty="0">
                <a:solidFill>
                  <a:srgbClr val="516673"/>
                </a:solidFill>
                <a:latin typeface="Arial" pitchFamily="34" charset="0"/>
                <a:ea typeface="Arial" pitchFamily="34" charset="-122"/>
                <a:cs typeface="Arial" pitchFamily="34" charset="-120"/>
              </a:rPr>
              <a:t>1</a:t>
            </a:r>
            <a:endParaRPr lang="en-US" sz="1500" dirty="0"/>
          </a:p>
        </p:txBody>
      </p:sp>
      <p:sp>
        <p:nvSpPr>
          <p:cNvPr id="9" name="Text 7"/>
          <p:cNvSpPr txBox="1"/>
          <p:nvPr/>
        </p:nvSpPr>
        <p:spPr>
          <a:xfrm>
            <a:off x="2807208" y="1993392"/>
            <a:ext cx="749808" cy="502920"/>
          </a:xfrm>
          <a:prstGeom prst="rect">
            <a:avLst/>
          </a:prstGeom>
          <a:noFill/>
          <a:ln/>
        </p:spPr>
        <p:txBody>
          <a:bodyPr wrap="square" lIns="0" tIns="0" rIns="0" bIns="0" rtlCol="0" anchor="ctr"/>
          <a:lstStyle/>
          <a:p>
            <a:pPr algn="ctr" indent="0" marL="0">
              <a:lnSpc>
                <a:spcPts val="1800"/>
              </a:lnSpc>
              <a:buNone/>
            </a:pPr>
            <a:r>
              <a:rPr lang="en-US" sz="1500" b="1" dirty="0">
                <a:solidFill>
                  <a:srgbClr val="516673"/>
                </a:solidFill>
                <a:latin typeface="Arial" pitchFamily="34" charset="0"/>
                <a:ea typeface="Arial" pitchFamily="34" charset="-122"/>
                <a:cs typeface="Arial" pitchFamily="34" charset="-120"/>
              </a:rPr>
              <a:t>2</a:t>
            </a:r>
            <a:endParaRPr lang="en-US" sz="1500" dirty="0"/>
          </a:p>
        </p:txBody>
      </p:sp>
      <p:sp>
        <p:nvSpPr>
          <p:cNvPr id="10" name="Text 8"/>
          <p:cNvSpPr txBox="1"/>
          <p:nvPr/>
        </p:nvSpPr>
        <p:spPr>
          <a:xfrm>
            <a:off x="3557016" y="1993392"/>
            <a:ext cx="749808" cy="502920"/>
          </a:xfrm>
          <a:prstGeom prst="rect">
            <a:avLst/>
          </a:prstGeom>
          <a:noFill/>
          <a:ln/>
        </p:spPr>
        <p:txBody>
          <a:bodyPr wrap="square" lIns="0" tIns="0" rIns="0" bIns="0" rtlCol="0" anchor="ctr"/>
          <a:lstStyle/>
          <a:p>
            <a:pPr algn="ctr" indent="0" marL="0">
              <a:lnSpc>
                <a:spcPts val="1800"/>
              </a:lnSpc>
              <a:buNone/>
            </a:pPr>
            <a:r>
              <a:rPr lang="en-US" sz="1500" b="1" dirty="0">
                <a:solidFill>
                  <a:srgbClr val="516673"/>
                </a:solidFill>
                <a:latin typeface="Arial" pitchFamily="34" charset="0"/>
                <a:ea typeface="Arial" pitchFamily="34" charset="-122"/>
                <a:cs typeface="Arial" pitchFamily="34" charset="-120"/>
              </a:rPr>
              <a:t>3</a:t>
            </a:r>
            <a:endParaRPr lang="en-US" sz="1500" dirty="0"/>
          </a:p>
        </p:txBody>
      </p:sp>
      <p:sp>
        <p:nvSpPr>
          <p:cNvPr id="11" name="Text 9"/>
          <p:cNvSpPr txBox="1"/>
          <p:nvPr/>
        </p:nvSpPr>
        <p:spPr>
          <a:xfrm>
            <a:off x="868680" y="2514600"/>
            <a:ext cx="1188720" cy="658368"/>
          </a:xfrm>
          <a:prstGeom prst="rect">
            <a:avLst/>
          </a:prstGeom>
          <a:noFill/>
          <a:ln/>
        </p:spPr>
        <p:txBody>
          <a:bodyPr wrap="square" lIns="0" tIns="0" rIns="0" bIns="0" rtlCol="0" anchor="ctr"/>
          <a:lstStyle/>
          <a:p>
            <a:pPr algn="ctr" indent="0" marL="0">
              <a:lnSpc>
                <a:spcPts val="1800"/>
              </a:lnSpc>
              <a:buNone/>
            </a:pPr>
            <a:r>
              <a:rPr lang="en-US" sz="1500" b="1" dirty="0">
                <a:solidFill>
                  <a:srgbClr val="516673"/>
                </a:solidFill>
                <a:latin typeface="Arial" pitchFamily="34" charset="0"/>
                <a:ea typeface="Arial" pitchFamily="34" charset="-122"/>
                <a:cs typeface="Arial" pitchFamily="34" charset="-120"/>
              </a:rPr>
              <a:t>3</a:t>
            </a:r>
            <a:endParaRPr lang="en-US" sz="1500" dirty="0"/>
          </a:p>
        </p:txBody>
      </p:sp>
      <p:sp>
        <p:nvSpPr>
          <p:cNvPr id="12" name="Shape 10"/>
          <p:cNvSpPr/>
          <p:nvPr/>
        </p:nvSpPr>
        <p:spPr>
          <a:xfrm>
            <a:off x="2057400" y="2514600"/>
            <a:ext cx="749808" cy="658368"/>
          </a:xfrm>
          <a:prstGeom prst="roundRect">
            <a:avLst>
              <a:gd name="adj" fmla="val 4167"/>
            </a:avLst>
          </a:prstGeom>
          <a:solidFill>
            <a:srgbClr val="FFFFFF"/>
          </a:solidFill>
          <a:ln w="9525">
            <a:solidFill>
              <a:srgbClr val="D3DEE4"/>
            </a:solidFill>
            <a:prstDash val="solid"/>
          </a:ln>
        </p:spPr>
      </p:sp>
      <p:sp>
        <p:nvSpPr>
          <p:cNvPr id="13" name="Text 11"/>
          <p:cNvSpPr txBox="1"/>
          <p:nvPr/>
        </p:nvSpPr>
        <p:spPr>
          <a:xfrm>
            <a:off x="2057400" y="2514600"/>
            <a:ext cx="749808" cy="658368"/>
          </a:xfrm>
          <a:prstGeom prst="rect">
            <a:avLst/>
          </a:prstGeom>
          <a:noFill/>
          <a:ln/>
        </p:spPr>
        <p:txBody>
          <a:bodyPr wrap="square" lIns="0" tIns="0" rIns="0" bIns="0" rtlCol="0" anchor="ctr"/>
          <a:lstStyle/>
          <a:p>
            <a:pPr algn="ctr" indent="0" marL="0">
              <a:lnSpc>
                <a:spcPts val="1920"/>
              </a:lnSpc>
              <a:buNone/>
            </a:pPr>
            <a:r>
              <a:rPr lang="en-US" sz="1600" dirty="0">
                <a:solidFill>
                  <a:srgbClr val="142D3D"/>
                </a:solidFill>
                <a:latin typeface="Arial" pitchFamily="34" charset="0"/>
                <a:ea typeface="Arial" pitchFamily="34" charset="-122"/>
                <a:cs typeface="Arial" pitchFamily="34" charset="-120"/>
              </a:rPr>
              <a:t>3</a:t>
            </a:r>
            <a:endParaRPr lang="en-US" sz="1600" dirty="0"/>
          </a:p>
        </p:txBody>
      </p:sp>
      <p:sp>
        <p:nvSpPr>
          <p:cNvPr id="14" name="Shape 12"/>
          <p:cNvSpPr/>
          <p:nvPr/>
        </p:nvSpPr>
        <p:spPr>
          <a:xfrm>
            <a:off x="2807208" y="2514600"/>
            <a:ext cx="749808" cy="658368"/>
          </a:xfrm>
          <a:prstGeom prst="roundRect">
            <a:avLst>
              <a:gd name="adj" fmla="val 4167"/>
            </a:avLst>
          </a:prstGeom>
          <a:solidFill>
            <a:srgbClr val="E3EDF1"/>
          </a:solidFill>
          <a:ln w="9525">
            <a:solidFill>
              <a:srgbClr val="D3DEE4"/>
            </a:solidFill>
            <a:prstDash val="solid"/>
          </a:ln>
        </p:spPr>
      </p:sp>
      <p:sp>
        <p:nvSpPr>
          <p:cNvPr id="15" name="Text 13"/>
          <p:cNvSpPr txBox="1"/>
          <p:nvPr/>
        </p:nvSpPr>
        <p:spPr>
          <a:xfrm>
            <a:off x="2807208" y="2514600"/>
            <a:ext cx="749808" cy="658368"/>
          </a:xfrm>
          <a:prstGeom prst="rect">
            <a:avLst/>
          </a:prstGeom>
          <a:noFill/>
          <a:ln/>
        </p:spPr>
        <p:txBody>
          <a:bodyPr wrap="square" lIns="0" tIns="0" rIns="0" bIns="0" rtlCol="0" anchor="ctr"/>
          <a:lstStyle/>
          <a:p>
            <a:pPr algn="ctr" indent="0" marL="0">
              <a:lnSpc>
                <a:spcPts val="1920"/>
              </a:lnSpc>
              <a:buNone/>
            </a:pPr>
            <a:r>
              <a:rPr lang="en-US" sz="1600" b="1" dirty="0">
                <a:solidFill>
                  <a:srgbClr val="142D3D"/>
                </a:solidFill>
                <a:latin typeface="Arial" pitchFamily="34" charset="0"/>
                <a:ea typeface="Arial" pitchFamily="34" charset="-122"/>
                <a:cs typeface="Arial" pitchFamily="34" charset="-120"/>
              </a:rPr>
              <a:t>6</a:t>
            </a:r>
            <a:endParaRPr lang="en-US" sz="1600" dirty="0"/>
          </a:p>
        </p:txBody>
      </p:sp>
      <p:sp>
        <p:nvSpPr>
          <p:cNvPr id="16" name="Shape 14"/>
          <p:cNvSpPr/>
          <p:nvPr/>
        </p:nvSpPr>
        <p:spPr>
          <a:xfrm>
            <a:off x="3557016" y="2514600"/>
            <a:ext cx="749808" cy="658368"/>
          </a:xfrm>
          <a:prstGeom prst="roundRect">
            <a:avLst>
              <a:gd name="adj" fmla="val 4167"/>
            </a:avLst>
          </a:prstGeom>
          <a:solidFill>
            <a:srgbClr val="007C9F"/>
          </a:solidFill>
          <a:ln w="9525">
            <a:solidFill>
              <a:srgbClr val="D3DEE4"/>
            </a:solidFill>
            <a:prstDash val="solid"/>
          </a:ln>
        </p:spPr>
      </p:sp>
      <p:sp>
        <p:nvSpPr>
          <p:cNvPr id="17" name="Text 15"/>
          <p:cNvSpPr txBox="1"/>
          <p:nvPr/>
        </p:nvSpPr>
        <p:spPr>
          <a:xfrm>
            <a:off x="3557016" y="2514600"/>
            <a:ext cx="749808" cy="658368"/>
          </a:xfrm>
          <a:prstGeom prst="rect">
            <a:avLst/>
          </a:prstGeom>
          <a:noFill/>
          <a:ln/>
        </p:spPr>
        <p:txBody>
          <a:bodyPr wrap="square" lIns="0" tIns="0" rIns="0" bIns="0" rtlCol="0" anchor="ctr"/>
          <a:lstStyle/>
          <a:p>
            <a:pPr algn="ctr" indent="0" marL="0">
              <a:lnSpc>
                <a:spcPts val="1920"/>
              </a:lnSpc>
              <a:buNone/>
            </a:pPr>
            <a:r>
              <a:rPr lang="en-US" sz="1600" b="1" dirty="0">
                <a:solidFill>
                  <a:srgbClr val="FFFFFF"/>
                </a:solidFill>
                <a:latin typeface="Arial" pitchFamily="34" charset="0"/>
                <a:ea typeface="Arial" pitchFamily="34" charset="-122"/>
                <a:cs typeface="Arial" pitchFamily="34" charset="-120"/>
              </a:rPr>
              <a:t>9</a:t>
            </a:r>
            <a:endParaRPr lang="en-US" sz="1600" dirty="0"/>
          </a:p>
        </p:txBody>
      </p:sp>
      <p:sp>
        <p:nvSpPr>
          <p:cNvPr id="18" name="Text 16"/>
          <p:cNvSpPr txBox="1"/>
          <p:nvPr/>
        </p:nvSpPr>
        <p:spPr>
          <a:xfrm>
            <a:off x="868680" y="3172968"/>
            <a:ext cx="1188720" cy="658368"/>
          </a:xfrm>
          <a:prstGeom prst="rect">
            <a:avLst/>
          </a:prstGeom>
          <a:noFill/>
          <a:ln/>
        </p:spPr>
        <p:txBody>
          <a:bodyPr wrap="square" lIns="0" tIns="0" rIns="0" bIns="0" rtlCol="0" anchor="ctr"/>
          <a:lstStyle/>
          <a:p>
            <a:pPr algn="ctr" indent="0" marL="0">
              <a:lnSpc>
                <a:spcPts val="1800"/>
              </a:lnSpc>
              <a:buNone/>
            </a:pPr>
            <a:r>
              <a:rPr lang="en-US" sz="1500" b="1" dirty="0">
                <a:solidFill>
                  <a:srgbClr val="516673"/>
                </a:solidFill>
                <a:latin typeface="Arial" pitchFamily="34" charset="0"/>
                <a:ea typeface="Arial" pitchFamily="34" charset="-122"/>
                <a:cs typeface="Arial" pitchFamily="34" charset="-120"/>
              </a:rPr>
              <a:t>2</a:t>
            </a:r>
            <a:endParaRPr lang="en-US" sz="1500" dirty="0"/>
          </a:p>
        </p:txBody>
      </p:sp>
      <p:sp>
        <p:nvSpPr>
          <p:cNvPr id="19" name="Shape 17"/>
          <p:cNvSpPr/>
          <p:nvPr/>
        </p:nvSpPr>
        <p:spPr>
          <a:xfrm>
            <a:off x="2057400" y="3172968"/>
            <a:ext cx="749808" cy="658368"/>
          </a:xfrm>
          <a:prstGeom prst="roundRect">
            <a:avLst>
              <a:gd name="adj" fmla="val 4167"/>
            </a:avLst>
          </a:prstGeom>
          <a:solidFill>
            <a:srgbClr val="FFFFFF"/>
          </a:solidFill>
          <a:ln w="9525">
            <a:solidFill>
              <a:srgbClr val="D3DEE4"/>
            </a:solidFill>
            <a:prstDash val="solid"/>
          </a:ln>
        </p:spPr>
      </p:sp>
      <p:sp>
        <p:nvSpPr>
          <p:cNvPr id="20" name="Text 18"/>
          <p:cNvSpPr txBox="1"/>
          <p:nvPr/>
        </p:nvSpPr>
        <p:spPr>
          <a:xfrm>
            <a:off x="2057400" y="3172968"/>
            <a:ext cx="749808" cy="658368"/>
          </a:xfrm>
          <a:prstGeom prst="rect">
            <a:avLst/>
          </a:prstGeom>
          <a:noFill/>
          <a:ln/>
        </p:spPr>
        <p:txBody>
          <a:bodyPr wrap="square" lIns="0" tIns="0" rIns="0" bIns="0" rtlCol="0" anchor="ctr"/>
          <a:lstStyle/>
          <a:p>
            <a:pPr algn="ctr" indent="0" marL="0">
              <a:lnSpc>
                <a:spcPts val="1920"/>
              </a:lnSpc>
              <a:buNone/>
            </a:pPr>
            <a:r>
              <a:rPr lang="en-US" sz="1600" dirty="0">
                <a:solidFill>
                  <a:srgbClr val="142D3D"/>
                </a:solidFill>
                <a:latin typeface="Arial" pitchFamily="34" charset="0"/>
                <a:ea typeface="Arial" pitchFamily="34" charset="-122"/>
                <a:cs typeface="Arial" pitchFamily="34" charset="-120"/>
              </a:rPr>
              <a:t>2</a:t>
            </a:r>
            <a:endParaRPr lang="en-US" sz="1600" dirty="0"/>
          </a:p>
        </p:txBody>
      </p:sp>
      <p:sp>
        <p:nvSpPr>
          <p:cNvPr id="21" name="Shape 19"/>
          <p:cNvSpPr/>
          <p:nvPr/>
        </p:nvSpPr>
        <p:spPr>
          <a:xfrm>
            <a:off x="2807208" y="3172968"/>
            <a:ext cx="749808" cy="658368"/>
          </a:xfrm>
          <a:prstGeom prst="roundRect">
            <a:avLst>
              <a:gd name="adj" fmla="val 4167"/>
            </a:avLst>
          </a:prstGeom>
          <a:solidFill>
            <a:srgbClr val="FFFFFF"/>
          </a:solidFill>
          <a:ln w="9525">
            <a:solidFill>
              <a:srgbClr val="D3DEE4"/>
            </a:solidFill>
            <a:prstDash val="solid"/>
          </a:ln>
        </p:spPr>
      </p:sp>
      <p:sp>
        <p:nvSpPr>
          <p:cNvPr id="22" name="Text 20"/>
          <p:cNvSpPr txBox="1"/>
          <p:nvPr/>
        </p:nvSpPr>
        <p:spPr>
          <a:xfrm>
            <a:off x="2807208" y="3172968"/>
            <a:ext cx="749808" cy="658368"/>
          </a:xfrm>
          <a:prstGeom prst="rect">
            <a:avLst/>
          </a:prstGeom>
          <a:noFill/>
          <a:ln/>
        </p:spPr>
        <p:txBody>
          <a:bodyPr wrap="square" lIns="0" tIns="0" rIns="0" bIns="0" rtlCol="0" anchor="ctr"/>
          <a:lstStyle/>
          <a:p>
            <a:pPr algn="ctr" indent="0" marL="0">
              <a:lnSpc>
                <a:spcPts val="1920"/>
              </a:lnSpc>
              <a:buNone/>
            </a:pPr>
            <a:r>
              <a:rPr lang="en-US" sz="1600" dirty="0">
                <a:solidFill>
                  <a:srgbClr val="142D3D"/>
                </a:solidFill>
                <a:latin typeface="Arial" pitchFamily="34" charset="0"/>
                <a:ea typeface="Arial" pitchFamily="34" charset="-122"/>
                <a:cs typeface="Arial" pitchFamily="34" charset="-120"/>
              </a:rPr>
              <a:t>4</a:t>
            </a:r>
            <a:endParaRPr lang="en-US" sz="1600" dirty="0"/>
          </a:p>
        </p:txBody>
      </p:sp>
      <p:sp>
        <p:nvSpPr>
          <p:cNvPr id="23" name="Shape 21"/>
          <p:cNvSpPr/>
          <p:nvPr/>
        </p:nvSpPr>
        <p:spPr>
          <a:xfrm>
            <a:off x="3557016" y="3172968"/>
            <a:ext cx="749808" cy="658368"/>
          </a:xfrm>
          <a:prstGeom prst="roundRect">
            <a:avLst>
              <a:gd name="adj" fmla="val 4167"/>
            </a:avLst>
          </a:prstGeom>
          <a:solidFill>
            <a:srgbClr val="E3EDF1"/>
          </a:solidFill>
          <a:ln w="9525">
            <a:solidFill>
              <a:srgbClr val="D3DEE4"/>
            </a:solidFill>
            <a:prstDash val="solid"/>
          </a:ln>
        </p:spPr>
      </p:sp>
      <p:sp>
        <p:nvSpPr>
          <p:cNvPr id="24" name="Text 22"/>
          <p:cNvSpPr txBox="1"/>
          <p:nvPr/>
        </p:nvSpPr>
        <p:spPr>
          <a:xfrm>
            <a:off x="3557016" y="3172968"/>
            <a:ext cx="749808" cy="658368"/>
          </a:xfrm>
          <a:prstGeom prst="rect">
            <a:avLst/>
          </a:prstGeom>
          <a:noFill/>
          <a:ln/>
        </p:spPr>
        <p:txBody>
          <a:bodyPr wrap="square" lIns="0" tIns="0" rIns="0" bIns="0" rtlCol="0" anchor="ctr"/>
          <a:lstStyle/>
          <a:p>
            <a:pPr algn="ctr" indent="0" marL="0">
              <a:lnSpc>
                <a:spcPts val="1920"/>
              </a:lnSpc>
              <a:buNone/>
            </a:pPr>
            <a:r>
              <a:rPr lang="en-US" sz="1600" b="1" dirty="0">
                <a:solidFill>
                  <a:srgbClr val="142D3D"/>
                </a:solidFill>
                <a:latin typeface="Arial" pitchFamily="34" charset="0"/>
                <a:ea typeface="Arial" pitchFamily="34" charset="-122"/>
                <a:cs typeface="Arial" pitchFamily="34" charset="-120"/>
              </a:rPr>
              <a:t>6</a:t>
            </a:r>
            <a:endParaRPr lang="en-US" sz="1600" dirty="0"/>
          </a:p>
        </p:txBody>
      </p:sp>
      <p:sp>
        <p:nvSpPr>
          <p:cNvPr id="25" name="Text 23"/>
          <p:cNvSpPr txBox="1"/>
          <p:nvPr/>
        </p:nvSpPr>
        <p:spPr>
          <a:xfrm>
            <a:off x="868680" y="3831336"/>
            <a:ext cx="1188720" cy="658368"/>
          </a:xfrm>
          <a:prstGeom prst="rect">
            <a:avLst/>
          </a:prstGeom>
          <a:noFill/>
          <a:ln/>
        </p:spPr>
        <p:txBody>
          <a:bodyPr wrap="square" lIns="0" tIns="0" rIns="0" bIns="0" rtlCol="0" anchor="ctr"/>
          <a:lstStyle/>
          <a:p>
            <a:pPr algn="ctr" indent="0" marL="0">
              <a:lnSpc>
                <a:spcPts val="1800"/>
              </a:lnSpc>
              <a:buNone/>
            </a:pPr>
            <a:r>
              <a:rPr lang="en-US" sz="1500" b="1" dirty="0">
                <a:solidFill>
                  <a:srgbClr val="516673"/>
                </a:solidFill>
                <a:latin typeface="Arial" pitchFamily="34" charset="0"/>
                <a:ea typeface="Arial" pitchFamily="34" charset="-122"/>
                <a:cs typeface="Arial" pitchFamily="34" charset="-120"/>
              </a:rPr>
              <a:t>1</a:t>
            </a:r>
            <a:endParaRPr lang="en-US" sz="1500" dirty="0"/>
          </a:p>
        </p:txBody>
      </p:sp>
      <p:sp>
        <p:nvSpPr>
          <p:cNvPr id="26" name="Shape 24"/>
          <p:cNvSpPr/>
          <p:nvPr/>
        </p:nvSpPr>
        <p:spPr>
          <a:xfrm>
            <a:off x="2057400" y="3831336"/>
            <a:ext cx="749808" cy="658368"/>
          </a:xfrm>
          <a:prstGeom prst="roundRect">
            <a:avLst>
              <a:gd name="adj" fmla="val 4167"/>
            </a:avLst>
          </a:prstGeom>
          <a:solidFill>
            <a:srgbClr val="FFFFFF"/>
          </a:solidFill>
          <a:ln w="9525">
            <a:solidFill>
              <a:srgbClr val="D3DEE4"/>
            </a:solidFill>
            <a:prstDash val="solid"/>
          </a:ln>
        </p:spPr>
      </p:sp>
      <p:sp>
        <p:nvSpPr>
          <p:cNvPr id="27" name="Text 25"/>
          <p:cNvSpPr txBox="1"/>
          <p:nvPr/>
        </p:nvSpPr>
        <p:spPr>
          <a:xfrm>
            <a:off x="2057400" y="3831336"/>
            <a:ext cx="749808" cy="658368"/>
          </a:xfrm>
          <a:prstGeom prst="rect">
            <a:avLst/>
          </a:prstGeom>
          <a:noFill/>
          <a:ln/>
        </p:spPr>
        <p:txBody>
          <a:bodyPr wrap="square" lIns="0" tIns="0" rIns="0" bIns="0" rtlCol="0" anchor="ctr"/>
          <a:lstStyle/>
          <a:p>
            <a:pPr algn="ctr" indent="0" marL="0">
              <a:lnSpc>
                <a:spcPts val="1920"/>
              </a:lnSpc>
              <a:buNone/>
            </a:pPr>
            <a:r>
              <a:rPr lang="en-US" sz="1600" dirty="0">
                <a:solidFill>
                  <a:srgbClr val="142D3D"/>
                </a:solidFill>
                <a:latin typeface="Arial" pitchFamily="34" charset="0"/>
                <a:ea typeface="Arial" pitchFamily="34" charset="-122"/>
                <a:cs typeface="Arial" pitchFamily="34" charset="-120"/>
              </a:rPr>
              <a:t>1</a:t>
            </a:r>
            <a:endParaRPr lang="en-US" sz="1600" dirty="0"/>
          </a:p>
        </p:txBody>
      </p:sp>
      <p:sp>
        <p:nvSpPr>
          <p:cNvPr id="28" name="Shape 26"/>
          <p:cNvSpPr/>
          <p:nvPr/>
        </p:nvSpPr>
        <p:spPr>
          <a:xfrm>
            <a:off x="2807208" y="3831336"/>
            <a:ext cx="749808" cy="658368"/>
          </a:xfrm>
          <a:prstGeom prst="roundRect">
            <a:avLst>
              <a:gd name="adj" fmla="val 4167"/>
            </a:avLst>
          </a:prstGeom>
          <a:solidFill>
            <a:srgbClr val="FFFFFF"/>
          </a:solidFill>
          <a:ln w="9525">
            <a:solidFill>
              <a:srgbClr val="D3DEE4"/>
            </a:solidFill>
            <a:prstDash val="solid"/>
          </a:ln>
        </p:spPr>
      </p:sp>
      <p:sp>
        <p:nvSpPr>
          <p:cNvPr id="29" name="Text 27"/>
          <p:cNvSpPr txBox="1"/>
          <p:nvPr/>
        </p:nvSpPr>
        <p:spPr>
          <a:xfrm>
            <a:off x="2807208" y="3831336"/>
            <a:ext cx="749808" cy="658368"/>
          </a:xfrm>
          <a:prstGeom prst="rect">
            <a:avLst/>
          </a:prstGeom>
          <a:noFill/>
          <a:ln/>
        </p:spPr>
        <p:txBody>
          <a:bodyPr wrap="square" lIns="0" tIns="0" rIns="0" bIns="0" rtlCol="0" anchor="ctr"/>
          <a:lstStyle/>
          <a:p>
            <a:pPr algn="ctr" indent="0" marL="0">
              <a:lnSpc>
                <a:spcPts val="1920"/>
              </a:lnSpc>
              <a:buNone/>
            </a:pPr>
            <a:r>
              <a:rPr lang="en-US" sz="1600" dirty="0">
                <a:solidFill>
                  <a:srgbClr val="142D3D"/>
                </a:solidFill>
                <a:latin typeface="Arial" pitchFamily="34" charset="0"/>
                <a:ea typeface="Arial" pitchFamily="34" charset="-122"/>
                <a:cs typeface="Arial" pitchFamily="34" charset="-120"/>
              </a:rPr>
              <a:t>2</a:t>
            </a:r>
            <a:endParaRPr lang="en-US" sz="1600" dirty="0"/>
          </a:p>
        </p:txBody>
      </p:sp>
      <p:sp>
        <p:nvSpPr>
          <p:cNvPr id="30" name="Shape 28"/>
          <p:cNvSpPr/>
          <p:nvPr/>
        </p:nvSpPr>
        <p:spPr>
          <a:xfrm>
            <a:off x="3557016" y="3831336"/>
            <a:ext cx="749808" cy="658368"/>
          </a:xfrm>
          <a:prstGeom prst="roundRect">
            <a:avLst>
              <a:gd name="adj" fmla="val 4167"/>
            </a:avLst>
          </a:prstGeom>
          <a:solidFill>
            <a:srgbClr val="FFFFFF"/>
          </a:solidFill>
          <a:ln w="9525">
            <a:solidFill>
              <a:srgbClr val="D3DEE4"/>
            </a:solidFill>
            <a:prstDash val="solid"/>
          </a:ln>
        </p:spPr>
      </p:sp>
      <p:sp>
        <p:nvSpPr>
          <p:cNvPr id="31" name="Text 29"/>
          <p:cNvSpPr txBox="1"/>
          <p:nvPr/>
        </p:nvSpPr>
        <p:spPr>
          <a:xfrm>
            <a:off x="3557016" y="3831336"/>
            <a:ext cx="749808" cy="658368"/>
          </a:xfrm>
          <a:prstGeom prst="rect">
            <a:avLst/>
          </a:prstGeom>
          <a:noFill/>
          <a:ln/>
        </p:spPr>
        <p:txBody>
          <a:bodyPr wrap="square" lIns="0" tIns="0" rIns="0" bIns="0" rtlCol="0" anchor="ctr"/>
          <a:lstStyle/>
          <a:p>
            <a:pPr algn="ctr" indent="0" marL="0">
              <a:lnSpc>
                <a:spcPts val="1920"/>
              </a:lnSpc>
              <a:buNone/>
            </a:pPr>
            <a:r>
              <a:rPr lang="en-US" sz="1600" dirty="0">
                <a:solidFill>
                  <a:srgbClr val="142D3D"/>
                </a:solidFill>
                <a:latin typeface="Arial" pitchFamily="34" charset="0"/>
                <a:ea typeface="Arial" pitchFamily="34" charset="-122"/>
                <a:cs typeface="Arial" pitchFamily="34" charset="-120"/>
              </a:rPr>
              <a:t>3</a:t>
            </a:r>
            <a:endParaRPr lang="en-US" sz="1600" dirty="0"/>
          </a:p>
        </p:txBody>
      </p:sp>
      <p:sp>
        <p:nvSpPr>
          <p:cNvPr id="32" name="Text 30"/>
          <p:cNvSpPr txBox="1"/>
          <p:nvPr/>
        </p:nvSpPr>
        <p:spPr>
          <a:xfrm>
            <a:off x="2057400" y="4562856"/>
            <a:ext cx="2249424" cy="310896"/>
          </a:xfrm>
          <a:prstGeom prst="rect">
            <a:avLst/>
          </a:prstGeom>
          <a:noFill/>
          <a:ln/>
        </p:spPr>
        <p:txBody>
          <a:bodyPr wrap="square" lIns="0" tIns="0" rIns="0" bIns="0" rtlCol="0" anchor="ctr"/>
          <a:lstStyle/>
          <a:p>
            <a:pPr algn="ctr" indent="0" marL="0">
              <a:lnSpc>
                <a:spcPts val="1680"/>
              </a:lnSpc>
              <a:buNone/>
            </a:pPr>
            <a:r>
              <a:rPr lang="en-US" sz="1400" b="1" dirty="0">
                <a:solidFill>
                  <a:srgbClr val="516673"/>
                </a:solidFill>
                <a:latin typeface="Arial" pitchFamily="34" charset="0"/>
                <a:ea typeface="Arial" pitchFamily="34" charset="-122"/>
                <a:cs typeface="Arial" pitchFamily="34" charset="-120"/>
              </a:rPr>
              <a:t>Probabilidad →</a:t>
            </a:r>
            <a:endParaRPr lang="en-US" sz="1400" dirty="0"/>
          </a:p>
        </p:txBody>
      </p:sp>
      <p:sp>
        <p:nvSpPr>
          <p:cNvPr id="33" name="Shape 31"/>
          <p:cNvSpPr/>
          <p:nvPr/>
        </p:nvSpPr>
        <p:spPr>
          <a:xfrm>
            <a:off x="4846320" y="1691640"/>
            <a:ext cx="6751015" cy="1783080"/>
          </a:xfrm>
          <a:prstGeom prst="roundRect">
            <a:avLst>
              <a:gd name="adj" fmla="val 3077"/>
            </a:avLst>
          </a:prstGeom>
          <a:solidFill>
            <a:srgbClr val="FFFFFF"/>
          </a:solidFill>
          <a:ln w="9525">
            <a:solidFill>
              <a:srgbClr val="D3DEE4"/>
            </a:solidFill>
            <a:prstDash val="solid"/>
          </a:ln>
        </p:spPr>
      </p:sp>
      <p:sp>
        <p:nvSpPr>
          <p:cNvPr id="34" name="Text 32"/>
          <p:cNvSpPr txBox="1"/>
          <p:nvPr/>
        </p:nvSpPr>
        <p:spPr>
          <a:xfrm>
            <a:off x="5120640" y="1920240"/>
            <a:ext cx="3657600" cy="274320"/>
          </a:xfrm>
          <a:prstGeom prst="rect">
            <a:avLst/>
          </a:prstGeom>
          <a:noFill/>
          <a:ln/>
        </p:spPr>
        <p:txBody>
          <a:bodyPr wrap="square" lIns="0" tIns="0" rIns="0" bIns="0" rtlCol="0" anchor="ctr"/>
          <a:lstStyle/>
          <a:p>
            <a:pPr algn="l" indent="0" marL="0">
              <a:lnSpc>
                <a:spcPts val="1680"/>
              </a:lnSpc>
              <a:buNone/>
            </a:pPr>
            <a:r>
              <a:rPr lang="en-US" sz="1400" b="1" dirty="0">
                <a:solidFill>
                  <a:srgbClr val="007C9F"/>
                </a:solidFill>
                <a:latin typeface="Arial" pitchFamily="34" charset="0"/>
                <a:ea typeface="Arial" pitchFamily="34" charset="-122"/>
                <a:cs typeface="Arial" pitchFamily="34" charset="-120"/>
              </a:rPr>
              <a:t>RIESGO DE MAYOR PUNTAJE</a:t>
            </a:r>
            <a:endParaRPr lang="en-US" sz="1400" dirty="0"/>
          </a:p>
        </p:txBody>
      </p:sp>
      <p:sp>
        <p:nvSpPr>
          <p:cNvPr id="35" name="Text 33"/>
          <p:cNvSpPr txBox="1"/>
          <p:nvPr/>
        </p:nvSpPr>
        <p:spPr>
          <a:xfrm>
            <a:off x="5120640" y="2331720"/>
            <a:ext cx="6202375" cy="960120"/>
          </a:xfrm>
          <a:prstGeom prst="rect">
            <a:avLst/>
          </a:prstGeom>
          <a:noFill/>
          <a:ln/>
        </p:spPr>
        <p:txBody>
          <a:bodyPr wrap="square" lIns="0" tIns="0" rIns="0" bIns="0" rtlCol="0" anchor="t"/>
          <a:lstStyle/>
          <a:p>
            <a:pPr algn="l" indent="0" marL="0">
              <a:lnSpc>
                <a:spcPts val="2400"/>
              </a:lnSpc>
              <a:spcAft>
                <a:spcPts val="600"/>
              </a:spcAft>
              <a:buNone/>
            </a:pPr>
            <a:r>
              <a:rPr lang="en-US" sz="2000" b="1" dirty="0">
                <a:solidFill>
                  <a:srgbClr val="142D3D"/>
                </a:solidFill>
                <a:latin typeface="Arial" pitchFamily="34" charset="0"/>
                <a:ea typeface="Arial" pitchFamily="34" charset="-122"/>
                <a:cs typeface="Arial" pitchFamily="34" charset="-120"/>
              </a:rPr>
              <a:t>R03 · Riesgo monetario</a:t>
            </a:r>
            <a:endParaRPr lang="en-US" sz="2000" dirty="0"/>
          </a:p>
          <a:p>
            <a:pPr algn="l" indent="0" marL="0">
              <a:lnSpc>
                <a:spcPts val="3120"/>
              </a:lnSpc>
              <a:buNone/>
            </a:pPr>
            <a:r>
              <a:rPr lang="en-US" sz="2600" b="1" dirty="0">
                <a:solidFill>
                  <a:srgbClr val="007C9F"/>
                </a:solidFill>
                <a:latin typeface="Arial" pitchFamily="34" charset="0"/>
                <a:ea typeface="Arial" pitchFamily="34" charset="-122"/>
                <a:cs typeface="Arial" pitchFamily="34" charset="-120"/>
              </a:rPr>
              <a:t>3 × 3 = 9</a:t>
            </a:r>
            <a:pPr algn="l" indent="0" marL="0">
              <a:lnSpc>
                <a:spcPts val="3120"/>
              </a:lnSpc>
              <a:buNone/>
            </a:pPr>
            <a:r>
              <a:rPr lang="en-US" sz="1800" b="1" dirty="0">
                <a:solidFill>
                  <a:srgbClr val="142D3D"/>
                </a:solidFill>
                <a:latin typeface="Arial" pitchFamily="34" charset="0"/>
                <a:ea typeface="Arial" pitchFamily="34" charset="-122"/>
                <a:cs typeface="Arial" pitchFamily="34" charset="-120"/>
              </a:rPr>
              <a:t>   →  prioridad Alta</a:t>
            </a:r>
            <a:endParaRPr lang="en-US" sz="2000" dirty="0"/>
          </a:p>
        </p:txBody>
      </p:sp>
      <p:sp>
        <p:nvSpPr>
          <p:cNvPr id="36" name="Shape 34"/>
          <p:cNvSpPr/>
          <p:nvPr/>
        </p:nvSpPr>
        <p:spPr>
          <a:xfrm>
            <a:off x="4846320" y="3657600"/>
            <a:ext cx="6751015" cy="1737360"/>
          </a:xfrm>
          <a:prstGeom prst="roundRect">
            <a:avLst>
              <a:gd name="adj" fmla="val 3158"/>
            </a:avLst>
          </a:prstGeom>
          <a:solidFill>
            <a:srgbClr val="FFFFFF"/>
          </a:solidFill>
          <a:ln w="9525">
            <a:solidFill>
              <a:srgbClr val="D3DEE4"/>
            </a:solidFill>
            <a:prstDash val="solid"/>
          </a:ln>
        </p:spPr>
      </p:sp>
      <p:sp>
        <p:nvSpPr>
          <p:cNvPr id="37" name="Text 35"/>
          <p:cNvSpPr txBox="1"/>
          <p:nvPr/>
        </p:nvSpPr>
        <p:spPr>
          <a:xfrm>
            <a:off x="5120640" y="3886200"/>
            <a:ext cx="4572000" cy="274320"/>
          </a:xfrm>
          <a:prstGeom prst="rect">
            <a:avLst/>
          </a:prstGeom>
          <a:noFill/>
          <a:ln/>
        </p:spPr>
        <p:txBody>
          <a:bodyPr wrap="square" lIns="0" tIns="0" rIns="0" bIns="0" rtlCol="0" anchor="ctr"/>
          <a:lstStyle/>
          <a:p>
            <a:pPr algn="l" indent="0" marL="0">
              <a:lnSpc>
                <a:spcPts val="1680"/>
              </a:lnSpc>
              <a:buNone/>
            </a:pPr>
            <a:r>
              <a:rPr lang="en-US" sz="1400" b="1" dirty="0">
                <a:solidFill>
                  <a:srgbClr val="007C9F"/>
                </a:solidFill>
                <a:latin typeface="Arial" pitchFamily="34" charset="0"/>
                <a:ea typeface="Arial" pitchFamily="34" charset="-122"/>
                <a:cs typeface="Arial" pitchFamily="34" charset="-120"/>
              </a:rPr>
              <a:t>DÓNDE SANGRA EL NEGOCIO</a:t>
            </a:r>
            <a:endParaRPr lang="en-US" sz="1400" dirty="0"/>
          </a:p>
        </p:txBody>
      </p:sp>
      <p:sp>
        <p:nvSpPr>
          <p:cNvPr id="38" name="Shape 36"/>
          <p:cNvSpPr/>
          <p:nvPr/>
        </p:nvSpPr>
        <p:spPr>
          <a:xfrm>
            <a:off x="5120640" y="4279392"/>
            <a:ext cx="872823" cy="402336"/>
          </a:xfrm>
          <a:prstGeom prst="roundRect">
            <a:avLst>
              <a:gd name="adj" fmla="val 11364"/>
            </a:avLst>
          </a:prstGeom>
          <a:solidFill>
            <a:srgbClr val="E3EDF1"/>
          </a:solidFill>
          <a:ln/>
        </p:spPr>
      </p:sp>
      <p:sp>
        <p:nvSpPr>
          <p:cNvPr id="39" name="Text 37"/>
          <p:cNvSpPr txBox="1"/>
          <p:nvPr/>
        </p:nvSpPr>
        <p:spPr>
          <a:xfrm>
            <a:off x="5120640" y="4279392"/>
            <a:ext cx="872823" cy="402336"/>
          </a:xfrm>
          <a:prstGeom prst="rect">
            <a:avLst/>
          </a:prstGeom>
          <a:noFill/>
          <a:ln/>
        </p:spPr>
        <p:txBody>
          <a:bodyPr wrap="square" lIns="25400" tIns="0" rIns="25400" bIns="0" rtlCol="0" anchor="ctr"/>
          <a:lstStyle/>
          <a:p>
            <a:pPr algn="ctr" indent="0" marL="0">
              <a:lnSpc>
                <a:spcPts val="1800"/>
              </a:lnSpc>
              <a:buNone/>
            </a:pPr>
            <a:r>
              <a:rPr lang="en-US" sz="1500" b="1" dirty="0">
                <a:solidFill>
                  <a:srgbClr val="142D3D"/>
                </a:solidFill>
                <a:latin typeface="Arial" pitchFamily="34" charset="0"/>
                <a:ea typeface="Arial" pitchFamily="34" charset="-122"/>
                <a:cs typeface="Arial" pitchFamily="34" charset="-120"/>
              </a:rPr>
              <a:t>Dinero</a:t>
            </a:r>
            <a:endParaRPr lang="en-US" sz="1500" dirty="0"/>
          </a:p>
        </p:txBody>
      </p:sp>
      <p:sp>
        <p:nvSpPr>
          <p:cNvPr id="40" name="Shape 38"/>
          <p:cNvSpPr/>
          <p:nvPr/>
        </p:nvSpPr>
        <p:spPr>
          <a:xfrm>
            <a:off x="6139767" y="4279392"/>
            <a:ext cx="1177385" cy="402336"/>
          </a:xfrm>
          <a:prstGeom prst="roundRect">
            <a:avLst>
              <a:gd name="adj" fmla="val 11364"/>
            </a:avLst>
          </a:prstGeom>
          <a:solidFill>
            <a:srgbClr val="E3EDF1"/>
          </a:solidFill>
          <a:ln/>
        </p:spPr>
      </p:sp>
      <p:sp>
        <p:nvSpPr>
          <p:cNvPr id="41" name="Text 39"/>
          <p:cNvSpPr txBox="1"/>
          <p:nvPr/>
        </p:nvSpPr>
        <p:spPr>
          <a:xfrm>
            <a:off x="6139767" y="4279392"/>
            <a:ext cx="1177385" cy="402336"/>
          </a:xfrm>
          <a:prstGeom prst="rect">
            <a:avLst/>
          </a:prstGeom>
          <a:noFill/>
          <a:ln/>
        </p:spPr>
        <p:txBody>
          <a:bodyPr wrap="square" lIns="25400" tIns="0" rIns="25400" bIns="0" rtlCol="0" anchor="ctr"/>
          <a:lstStyle/>
          <a:p>
            <a:pPr algn="ctr" indent="0" marL="0">
              <a:lnSpc>
                <a:spcPts val="1800"/>
              </a:lnSpc>
              <a:buNone/>
            </a:pPr>
            <a:r>
              <a:rPr lang="en-US" sz="1500" b="1" dirty="0">
                <a:solidFill>
                  <a:srgbClr val="142D3D"/>
                </a:solidFill>
                <a:latin typeface="Arial" pitchFamily="34" charset="0"/>
                <a:ea typeface="Arial" pitchFamily="34" charset="-122"/>
                <a:cs typeface="Arial" pitchFamily="34" charset="-120"/>
              </a:rPr>
              <a:t>Inventario</a:t>
            </a:r>
            <a:endParaRPr lang="en-US" sz="1500" dirty="0"/>
          </a:p>
        </p:txBody>
      </p:sp>
      <p:sp>
        <p:nvSpPr>
          <p:cNvPr id="42" name="Shape 40"/>
          <p:cNvSpPr/>
          <p:nvPr/>
        </p:nvSpPr>
        <p:spPr>
          <a:xfrm>
            <a:off x="7463457" y="4279392"/>
            <a:ext cx="1345597" cy="402336"/>
          </a:xfrm>
          <a:prstGeom prst="roundRect">
            <a:avLst>
              <a:gd name="adj" fmla="val 11364"/>
            </a:avLst>
          </a:prstGeom>
          <a:solidFill>
            <a:srgbClr val="E3EDF1"/>
          </a:solidFill>
          <a:ln/>
        </p:spPr>
      </p:sp>
      <p:sp>
        <p:nvSpPr>
          <p:cNvPr id="43" name="Text 41"/>
          <p:cNvSpPr txBox="1"/>
          <p:nvPr/>
        </p:nvSpPr>
        <p:spPr>
          <a:xfrm>
            <a:off x="7463457" y="4279392"/>
            <a:ext cx="1345597" cy="402336"/>
          </a:xfrm>
          <a:prstGeom prst="rect">
            <a:avLst/>
          </a:prstGeom>
          <a:noFill/>
          <a:ln/>
        </p:spPr>
        <p:txBody>
          <a:bodyPr wrap="square" lIns="25400" tIns="0" rIns="25400" bIns="0" rtlCol="0" anchor="ctr"/>
          <a:lstStyle/>
          <a:p>
            <a:pPr algn="ctr" indent="0" marL="0">
              <a:lnSpc>
                <a:spcPts val="1800"/>
              </a:lnSpc>
              <a:buNone/>
            </a:pPr>
            <a:r>
              <a:rPr lang="en-US" sz="1500" b="1" dirty="0">
                <a:solidFill>
                  <a:srgbClr val="142D3D"/>
                </a:solidFill>
                <a:latin typeface="Arial" pitchFamily="34" charset="0"/>
                <a:ea typeface="Arial" pitchFamily="34" charset="-122"/>
                <a:cs typeface="Arial" pitchFamily="34" charset="-120"/>
              </a:rPr>
              <a:t>Descuentos</a:t>
            </a:r>
            <a:endParaRPr lang="en-US" sz="1500" dirty="0"/>
          </a:p>
        </p:txBody>
      </p:sp>
      <p:sp>
        <p:nvSpPr>
          <p:cNvPr id="44" name="Shape 42"/>
          <p:cNvSpPr/>
          <p:nvPr/>
        </p:nvSpPr>
        <p:spPr>
          <a:xfrm>
            <a:off x="8955357" y="4279392"/>
            <a:ext cx="988362" cy="402336"/>
          </a:xfrm>
          <a:prstGeom prst="roundRect">
            <a:avLst>
              <a:gd name="adj" fmla="val 11364"/>
            </a:avLst>
          </a:prstGeom>
          <a:solidFill>
            <a:srgbClr val="E3EDF1"/>
          </a:solidFill>
          <a:ln/>
        </p:spPr>
      </p:sp>
      <p:sp>
        <p:nvSpPr>
          <p:cNvPr id="45" name="Text 43"/>
          <p:cNvSpPr txBox="1"/>
          <p:nvPr/>
        </p:nvSpPr>
        <p:spPr>
          <a:xfrm>
            <a:off x="8955357" y="4279392"/>
            <a:ext cx="988362" cy="402336"/>
          </a:xfrm>
          <a:prstGeom prst="rect">
            <a:avLst/>
          </a:prstGeom>
          <a:noFill/>
          <a:ln/>
        </p:spPr>
        <p:txBody>
          <a:bodyPr wrap="square" lIns="25400" tIns="0" rIns="25400" bIns="0" rtlCol="0" anchor="ctr"/>
          <a:lstStyle/>
          <a:p>
            <a:pPr algn="ctr" indent="0" marL="0">
              <a:lnSpc>
                <a:spcPts val="1800"/>
              </a:lnSpc>
              <a:buNone/>
            </a:pPr>
            <a:r>
              <a:rPr lang="en-US" sz="1500" b="1" dirty="0">
                <a:solidFill>
                  <a:srgbClr val="142D3D"/>
                </a:solidFill>
                <a:latin typeface="Arial" pitchFamily="34" charset="0"/>
                <a:ea typeface="Arial" pitchFamily="34" charset="-122"/>
                <a:cs typeface="Arial" pitchFamily="34" charset="-120"/>
              </a:rPr>
              <a:t>Compra</a:t>
            </a:r>
            <a:endParaRPr lang="en-US" sz="1500" dirty="0"/>
          </a:p>
        </p:txBody>
      </p:sp>
      <p:sp>
        <p:nvSpPr>
          <p:cNvPr id="46" name="Text 44"/>
          <p:cNvSpPr txBox="1"/>
          <p:nvPr/>
        </p:nvSpPr>
        <p:spPr>
          <a:xfrm>
            <a:off x="5120640" y="4846320"/>
            <a:ext cx="6202375" cy="310896"/>
          </a:xfrm>
          <a:prstGeom prst="rect">
            <a:avLst/>
          </a:prstGeom>
          <a:noFill/>
          <a:ln/>
        </p:spPr>
        <p:txBody>
          <a:bodyPr wrap="square" lIns="0" tIns="0" rIns="0" bIns="0" rtlCol="0" anchor="ctr"/>
          <a:lstStyle/>
          <a:p>
            <a:pPr algn="l" indent="0" marL="0">
              <a:lnSpc>
                <a:spcPts val="1800"/>
              </a:lnSpc>
              <a:buNone/>
            </a:pPr>
            <a:r>
              <a:rPr lang="en-US" sz="1500" dirty="0">
                <a:solidFill>
                  <a:srgbClr val="516673"/>
                </a:solidFill>
                <a:latin typeface="Arial" pitchFamily="34" charset="0"/>
                <a:ea typeface="Arial" pitchFamily="34" charset="-122"/>
                <a:cs typeface="Arial" pitchFamily="34" charset="-120"/>
              </a:rPr>
              <a:t>Escala 1–3. De 6 a 9, prioridad Alta.</a:t>
            </a:r>
            <a:endParaRPr lang="en-US" sz="1500" dirty="0"/>
          </a:p>
        </p:txBody>
      </p:sp>
      <p:sp>
        <p:nvSpPr>
          <p:cNvPr id="47" name="Text 45"/>
          <p:cNvSpPr txBox="1"/>
          <p:nvPr/>
        </p:nvSpPr>
        <p:spPr>
          <a:xfrm>
            <a:off x="4846320" y="5623560"/>
            <a:ext cx="6751015" cy="365760"/>
          </a:xfrm>
          <a:prstGeom prst="rect">
            <a:avLst/>
          </a:prstGeom>
          <a:noFill/>
          <a:ln/>
        </p:spPr>
        <p:txBody>
          <a:bodyPr wrap="square" lIns="0" tIns="0" rIns="0" bIns="0" rtlCol="0" anchor="ctr"/>
          <a:lstStyle/>
          <a:p>
            <a:pPr algn="l" indent="0" marL="0">
              <a:lnSpc>
                <a:spcPts val="1800"/>
              </a:lnSpc>
              <a:buNone/>
            </a:pPr>
            <a:r>
              <a:rPr lang="en-US" sz="1500" dirty="0">
                <a:solidFill>
                  <a:srgbClr val="516673"/>
                </a:solidFill>
                <a:latin typeface="Arial" pitchFamily="34" charset="0"/>
                <a:ea typeface="Arial" pitchFamily="34" charset="-122"/>
                <a:cs typeface="Arial" pitchFamily="34" charset="-120"/>
              </a:rPr>
              <a:t>14 casos de prioridad Alta · 4 de prioridad Media</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6F8"/>
        </a:solidFill>
      </p:bgPr>
    </p:bg>
    <p:spTree>
      <p:nvGrpSpPr>
        <p:cNvPr id="1" name=""/>
        <p:cNvGrpSpPr/>
        <p:nvPr/>
      </p:nvGrpSpPr>
      <p:grpSpPr>
        <a:xfrm>
          <a:off x="0" y="0"/>
          <a:ext cx="0" cy="0"/>
          <a:chOff x="0" y="0"/>
          <a:chExt cx="0" cy="0"/>
        </a:xfrm>
      </p:grpSpPr>
      <p:sp>
        <p:nvSpPr>
          <p:cNvPr id="2" name="Shape 0"/>
          <p:cNvSpPr/>
          <p:nvPr/>
        </p:nvSpPr>
        <p:spPr>
          <a:xfrm>
            <a:off x="594360" y="457200"/>
            <a:ext cx="457200" cy="457200"/>
          </a:xfrm>
          <a:prstGeom prst="ellipse">
            <a:avLst/>
          </a:prstGeom>
          <a:solidFill>
            <a:srgbClr val="007C9F"/>
          </a:solidFill>
          <a:ln/>
        </p:spPr>
      </p:sp>
      <p:sp>
        <p:nvSpPr>
          <p:cNvPr id="3" name="Text 1"/>
          <p:cNvSpPr txBox="1"/>
          <p:nvPr/>
        </p:nvSpPr>
        <p:spPr>
          <a:xfrm>
            <a:off x="594360" y="457200"/>
            <a:ext cx="457200" cy="457200"/>
          </a:xfrm>
          <a:prstGeom prst="rect">
            <a:avLst/>
          </a:prstGeom>
          <a:noFill/>
          <a:ln/>
        </p:spPr>
        <p:txBody>
          <a:bodyPr wrap="square" lIns="0" tIns="0" rIns="0" bIns="0" rtlCol="0" anchor="ctr"/>
          <a:lstStyle/>
          <a:p>
            <a:pPr algn="ctr" indent="0" marL="0">
              <a:lnSpc>
                <a:spcPts val="1920"/>
              </a:lnSpc>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4" name="Text 2"/>
          <p:cNvSpPr txBox="1"/>
          <p:nvPr/>
        </p:nvSpPr>
        <p:spPr>
          <a:xfrm>
            <a:off x="1207008" y="429768"/>
            <a:ext cx="7726680" cy="530352"/>
          </a:xfrm>
          <a:prstGeom prst="rect">
            <a:avLst/>
          </a:prstGeom>
          <a:noFill/>
          <a:ln/>
        </p:spPr>
        <p:txBody>
          <a:bodyPr wrap="square" lIns="0" tIns="0" rIns="0" bIns="0" rtlCol="0" anchor="ctr"/>
          <a:lstStyle/>
          <a:p>
            <a:pPr algn="l" indent="0" marL="0">
              <a:lnSpc>
                <a:spcPts val="3360"/>
              </a:lnSpc>
              <a:buNone/>
            </a:pPr>
            <a:r>
              <a:rPr lang="en-US" sz="2800" b="1" dirty="0">
                <a:solidFill>
                  <a:srgbClr val="142D3D"/>
                </a:solidFill>
                <a:latin typeface="Arial" pitchFamily="34" charset="0"/>
                <a:ea typeface="Arial" pitchFamily="34" charset="-122"/>
                <a:cs typeface="Arial" pitchFamily="34" charset="-120"/>
              </a:rPr>
              <a:t>Trazabilidad de cuatro eslabones</a:t>
            </a:r>
            <a:endParaRPr lang="en-US" sz="2800" dirty="0"/>
          </a:p>
        </p:txBody>
      </p:sp>
      <p:sp>
        <p:nvSpPr>
          <p:cNvPr id="5" name="Text 3"/>
          <p:cNvSpPr txBox="1"/>
          <p:nvPr/>
        </p:nvSpPr>
        <p:spPr>
          <a:xfrm>
            <a:off x="9006840" y="429768"/>
            <a:ext cx="2590495" cy="530352"/>
          </a:xfrm>
          <a:prstGeom prst="rect">
            <a:avLst/>
          </a:prstGeom>
          <a:noFill/>
          <a:ln/>
        </p:spPr>
        <p:txBody>
          <a:bodyPr wrap="square" lIns="0" tIns="0" rIns="0" bIns="0" rtlCol="0" anchor="ctr"/>
          <a:lstStyle/>
          <a:p>
            <a:pPr algn="r" indent="0" marL="0">
              <a:lnSpc>
                <a:spcPts val="1680"/>
              </a:lnSpc>
              <a:buNone/>
            </a:pPr>
            <a:r>
              <a:rPr lang="en-US" sz="1400" dirty="0">
                <a:solidFill>
                  <a:srgbClr val="516673"/>
                </a:solidFill>
                <a:latin typeface="Arial" pitchFamily="34" charset="0"/>
                <a:ea typeface="Arial" pitchFamily="34" charset="-122"/>
                <a:cs typeface="Arial" pitchFamily="34" charset="-120"/>
              </a:rPr>
              <a:t>Franco · 1:40–2:05</a:t>
            </a:r>
            <a:endParaRPr lang="en-US" sz="1400" dirty="0"/>
          </a:p>
        </p:txBody>
      </p:sp>
      <p:sp>
        <p:nvSpPr>
          <p:cNvPr id="6" name="Shape 4"/>
          <p:cNvSpPr/>
          <p:nvPr/>
        </p:nvSpPr>
        <p:spPr>
          <a:xfrm>
            <a:off x="594360" y="2240280"/>
            <a:ext cx="2468880" cy="1554480"/>
          </a:xfrm>
          <a:prstGeom prst="roundRect">
            <a:avLst>
              <a:gd name="adj" fmla="val 3529"/>
            </a:avLst>
          </a:prstGeom>
          <a:solidFill>
            <a:srgbClr val="FFFFFF"/>
          </a:solidFill>
          <a:ln w="9525">
            <a:solidFill>
              <a:srgbClr val="D3DEE4"/>
            </a:solidFill>
            <a:prstDash val="solid"/>
          </a:ln>
        </p:spPr>
      </p:sp>
      <p:sp>
        <p:nvSpPr>
          <p:cNvPr id="7" name="Shape 5"/>
          <p:cNvSpPr/>
          <p:nvPr/>
        </p:nvSpPr>
        <p:spPr>
          <a:xfrm>
            <a:off x="795528" y="2441448"/>
            <a:ext cx="1243489" cy="301752"/>
          </a:xfrm>
          <a:prstGeom prst="roundRect">
            <a:avLst>
              <a:gd name="adj" fmla="val 15152"/>
            </a:avLst>
          </a:prstGeom>
          <a:solidFill>
            <a:srgbClr val="007C9F"/>
          </a:solidFill>
          <a:ln/>
        </p:spPr>
      </p:sp>
      <p:sp>
        <p:nvSpPr>
          <p:cNvPr id="8" name="Text 6"/>
          <p:cNvSpPr txBox="1"/>
          <p:nvPr/>
        </p:nvSpPr>
        <p:spPr>
          <a:xfrm>
            <a:off x="795528" y="2441448"/>
            <a:ext cx="1243489" cy="301752"/>
          </a:xfrm>
          <a:prstGeom prst="rect">
            <a:avLst/>
          </a:prstGeom>
          <a:noFill/>
          <a:ln/>
        </p:spPr>
        <p:txBody>
          <a:bodyPr wrap="square" lIns="25400" tIns="0" rIns="25400" bIns="0" rtlCol="0" anchor="ctr"/>
          <a:lstStyle/>
          <a:p>
            <a:pPr algn="ctr" indent="0" marL="0">
              <a:lnSpc>
                <a:spcPts val="1680"/>
              </a:lnSpc>
              <a:buNone/>
            </a:pPr>
            <a:r>
              <a:rPr lang="en-US" sz="1400" b="1" dirty="0">
                <a:solidFill>
                  <a:srgbClr val="FFFFFF"/>
                </a:solidFill>
                <a:latin typeface="Arial" pitchFamily="34" charset="0"/>
                <a:ea typeface="Arial" pitchFamily="34" charset="-122"/>
                <a:cs typeface="Arial" pitchFamily="34" charset="-120"/>
              </a:rPr>
              <a:t>REQUISITO</a:t>
            </a:r>
            <a:endParaRPr lang="en-US" sz="1400" dirty="0"/>
          </a:p>
        </p:txBody>
      </p:sp>
      <p:sp>
        <p:nvSpPr>
          <p:cNvPr id="9" name="Text 7"/>
          <p:cNvSpPr txBox="1"/>
          <p:nvPr/>
        </p:nvSpPr>
        <p:spPr>
          <a:xfrm>
            <a:off x="795528" y="2862072"/>
            <a:ext cx="2066544" cy="786384"/>
          </a:xfrm>
          <a:prstGeom prst="rect">
            <a:avLst/>
          </a:prstGeom>
          <a:noFill/>
          <a:ln/>
        </p:spPr>
        <p:txBody>
          <a:bodyPr wrap="square" lIns="0" tIns="0" rIns="0" bIns="0" rtlCol="0" anchor="t"/>
          <a:lstStyle/>
          <a:p>
            <a:pPr algn="l" indent="0" marL="0">
              <a:lnSpc>
                <a:spcPts val="1920"/>
              </a:lnSpc>
              <a:buNone/>
            </a:pPr>
            <a:r>
              <a:rPr lang="en-US" sz="1600" dirty="0">
                <a:solidFill>
                  <a:srgbClr val="142D3D"/>
                </a:solidFill>
                <a:latin typeface="Arial" pitchFamily="34" charset="0"/>
                <a:ea typeface="Arial" pitchFamily="34" charset="-122"/>
                <a:cs typeface="Arial" pitchFamily="34" charset="-120"/>
              </a:rPr>
              <a:t>Recalcular el total al cambiar la cantidad</a:t>
            </a:r>
            <a:endParaRPr lang="en-US" sz="1600" dirty="0"/>
          </a:p>
        </p:txBody>
      </p:sp>
      <p:sp>
        <p:nvSpPr>
          <p:cNvPr id="10" name="Text 8"/>
          <p:cNvSpPr txBox="1"/>
          <p:nvPr/>
        </p:nvSpPr>
        <p:spPr>
          <a:xfrm>
            <a:off x="3063240" y="2788920"/>
            <a:ext cx="374904" cy="457200"/>
          </a:xfrm>
          <a:prstGeom prst="rect">
            <a:avLst/>
          </a:prstGeom>
          <a:noFill/>
          <a:ln/>
        </p:spPr>
        <p:txBody>
          <a:bodyPr wrap="square" lIns="0" tIns="0" rIns="0" bIns="0" rtlCol="0" anchor="ctr"/>
          <a:lstStyle/>
          <a:p>
            <a:pPr algn="ctr" indent="0" marL="0">
              <a:lnSpc>
                <a:spcPts val="2640"/>
              </a:lnSpc>
              <a:buNone/>
            </a:pPr>
            <a:r>
              <a:rPr lang="en-US" sz="2200" b="1" dirty="0">
                <a:solidFill>
                  <a:srgbClr val="007C9F"/>
                </a:solidFill>
                <a:latin typeface="Arial" pitchFamily="34" charset="0"/>
                <a:ea typeface="Arial" pitchFamily="34" charset="-122"/>
                <a:cs typeface="Arial" pitchFamily="34" charset="-120"/>
              </a:rPr>
              <a:t>↔</a:t>
            </a:r>
            <a:endParaRPr lang="en-US" sz="2200" dirty="0"/>
          </a:p>
        </p:txBody>
      </p:sp>
      <p:sp>
        <p:nvSpPr>
          <p:cNvPr id="11" name="Shape 9"/>
          <p:cNvSpPr/>
          <p:nvPr/>
        </p:nvSpPr>
        <p:spPr>
          <a:xfrm>
            <a:off x="3438144" y="2240280"/>
            <a:ext cx="2468880" cy="1554480"/>
          </a:xfrm>
          <a:prstGeom prst="roundRect">
            <a:avLst>
              <a:gd name="adj" fmla="val 3529"/>
            </a:avLst>
          </a:prstGeom>
          <a:solidFill>
            <a:srgbClr val="FFFFFF"/>
          </a:solidFill>
          <a:ln w="9525">
            <a:solidFill>
              <a:srgbClr val="D3DEE4"/>
            </a:solidFill>
            <a:prstDash val="solid"/>
          </a:ln>
        </p:spPr>
      </p:sp>
      <p:sp>
        <p:nvSpPr>
          <p:cNvPr id="12" name="Shape 10"/>
          <p:cNvSpPr/>
          <p:nvPr/>
        </p:nvSpPr>
        <p:spPr>
          <a:xfrm>
            <a:off x="3639312" y="2441448"/>
            <a:ext cx="785098" cy="301752"/>
          </a:xfrm>
          <a:prstGeom prst="roundRect">
            <a:avLst>
              <a:gd name="adj" fmla="val 15152"/>
            </a:avLst>
          </a:prstGeom>
          <a:solidFill>
            <a:srgbClr val="007C9F"/>
          </a:solidFill>
          <a:ln/>
        </p:spPr>
      </p:sp>
      <p:sp>
        <p:nvSpPr>
          <p:cNvPr id="13" name="Text 11"/>
          <p:cNvSpPr txBox="1"/>
          <p:nvPr/>
        </p:nvSpPr>
        <p:spPr>
          <a:xfrm>
            <a:off x="3639312" y="2441448"/>
            <a:ext cx="785098" cy="301752"/>
          </a:xfrm>
          <a:prstGeom prst="rect">
            <a:avLst/>
          </a:prstGeom>
          <a:noFill/>
          <a:ln/>
        </p:spPr>
        <p:txBody>
          <a:bodyPr wrap="square" lIns="25400" tIns="0" rIns="25400" bIns="0" rtlCol="0" anchor="ctr"/>
          <a:lstStyle/>
          <a:p>
            <a:pPr algn="ctr" indent="0" marL="0">
              <a:lnSpc>
                <a:spcPts val="1680"/>
              </a:lnSpc>
              <a:buNone/>
            </a:pPr>
            <a:r>
              <a:rPr lang="en-US" sz="1400" b="1" dirty="0">
                <a:solidFill>
                  <a:srgbClr val="FFFFFF"/>
                </a:solidFill>
                <a:latin typeface="Arial" pitchFamily="34" charset="0"/>
                <a:ea typeface="Arial" pitchFamily="34" charset="-122"/>
                <a:cs typeface="Arial" pitchFamily="34" charset="-120"/>
              </a:rPr>
              <a:t>CASO</a:t>
            </a:r>
            <a:endParaRPr lang="en-US" sz="1400" dirty="0"/>
          </a:p>
        </p:txBody>
      </p:sp>
      <p:sp>
        <p:nvSpPr>
          <p:cNvPr id="14" name="Text 12"/>
          <p:cNvSpPr txBox="1"/>
          <p:nvPr/>
        </p:nvSpPr>
        <p:spPr>
          <a:xfrm>
            <a:off x="3639312" y="2862072"/>
            <a:ext cx="2066544" cy="786384"/>
          </a:xfrm>
          <a:prstGeom prst="rect">
            <a:avLst/>
          </a:prstGeom>
          <a:noFill/>
          <a:ln/>
        </p:spPr>
        <p:txBody>
          <a:bodyPr wrap="square" lIns="0" tIns="0" rIns="0" bIns="0" rtlCol="0" anchor="t"/>
          <a:lstStyle/>
          <a:p>
            <a:pPr algn="l" indent="0" marL="0">
              <a:lnSpc>
                <a:spcPts val="1920"/>
              </a:lnSpc>
              <a:buNone/>
            </a:pPr>
            <a:r>
              <a:rPr lang="en-US" sz="1600" dirty="0">
                <a:solidFill>
                  <a:srgbClr val="142D3D"/>
                </a:solidFill>
                <a:latin typeface="Arial" pitchFamily="34" charset="0"/>
                <a:ea typeface="Arial" pitchFamily="34" charset="-122"/>
                <a:cs typeface="Arial" pitchFamily="34" charset="-120"/>
              </a:rPr>
              <a:t>CP-CAR-01 · iPod Nano, 1 → 2 unidades</a:t>
            </a:r>
            <a:endParaRPr lang="en-US" sz="1600" dirty="0"/>
          </a:p>
        </p:txBody>
      </p:sp>
      <p:sp>
        <p:nvSpPr>
          <p:cNvPr id="15" name="Text 13"/>
          <p:cNvSpPr txBox="1"/>
          <p:nvPr/>
        </p:nvSpPr>
        <p:spPr>
          <a:xfrm>
            <a:off x="5907024" y="2788920"/>
            <a:ext cx="374904" cy="457200"/>
          </a:xfrm>
          <a:prstGeom prst="rect">
            <a:avLst/>
          </a:prstGeom>
          <a:noFill/>
          <a:ln/>
        </p:spPr>
        <p:txBody>
          <a:bodyPr wrap="square" lIns="0" tIns="0" rIns="0" bIns="0" rtlCol="0" anchor="ctr"/>
          <a:lstStyle/>
          <a:p>
            <a:pPr algn="ctr" indent="0" marL="0">
              <a:lnSpc>
                <a:spcPts val="2640"/>
              </a:lnSpc>
              <a:buNone/>
            </a:pPr>
            <a:r>
              <a:rPr lang="en-US" sz="2200" b="1" dirty="0">
                <a:solidFill>
                  <a:srgbClr val="007C9F"/>
                </a:solidFill>
                <a:latin typeface="Arial" pitchFamily="34" charset="0"/>
                <a:ea typeface="Arial" pitchFamily="34" charset="-122"/>
                <a:cs typeface="Arial" pitchFamily="34" charset="-120"/>
              </a:rPr>
              <a:t>↔</a:t>
            </a:r>
            <a:endParaRPr lang="en-US" sz="2200" dirty="0"/>
          </a:p>
        </p:txBody>
      </p:sp>
      <p:sp>
        <p:nvSpPr>
          <p:cNvPr id="16" name="Shape 14"/>
          <p:cNvSpPr/>
          <p:nvPr/>
        </p:nvSpPr>
        <p:spPr>
          <a:xfrm>
            <a:off x="6281928" y="2240280"/>
            <a:ext cx="2468880" cy="1554480"/>
          </a:xfrm>
          <a:prstGeom prst="roundRect">
            <a:avLst>
              <a:gd name="adj" fmla="val 3529"/>
            </a:avLst>
          </a:prstGeom>
          <a:solidFill>
            <a:srgbClr val="FFFFFF"/>
          </a:solidFill>
          <a:ln w="9525">
            <a:solidFill>
              <a:srgbClr val="D3DEE4"/>
            </a:solidFill>
            <a:prstDash val="solid"/>
          </a:ln>
        </p:spPr>
      </p:sp>
      <p:sp>
        <p:nvSpPr>
          <p:cNvPr id="17" name="Shape 15"/>
          <p:cNvSpPr/>
          <p:nvPr/>
        </p:nvSpPr>
        <p:spPr>
          <a:xfrm>
            <a:off x="6483096" y="2441448"/>
            <a:ext cx="1305782" cy="301752"/>
          </a:xfrm>
          <a:prstGeom prst="roundRect">
            <a:avLst>
              <a:gd name="adj" fmla="val 15152"/>
            </a:avLst>
          </a:prstGeom>
          <a:solidFill>
            <a:srgbClr val="007C9F"/>
          </a:solidFill>
          <a:ln/>
        </p:spPr>
      </p:sp>
      <p:sp>
        <p:nvSpPr>
          <p:cNvPr id="18" name="Text 16"/>
          <p:cNvSpPr txBox="1"/>
          <p:nvPr/>
        </p:nvSpPr>
        <p:spPr>
          <a:xfrm>
            <a:off x="6483096" y="2441448"/>
            <a:ext cx="1305782" cy="301752"/>
          </a:xfrm>
          <a:prstGeom prst="rect">
            <a:avLst/>
          </a:prstGeom>
          <a:noFill/>
          <a:ln/>
        </p:spPr>
        <p:txBody>
          <a:bodyPr wrap="square" lIns="25400" tIns="0" rIns="25400" bIns="0" rtlCol="0" anchor="ctr"/>
          <a:lstStyle/>
          <a:p>
            <a:pPr algn="ctr" indent="0" marL="0">
              <a:lnSpc>
                <a:spcPts val="1680"/>
              </a:lnSpc>
              <a:buNone/>
            </a:pPr>
            <a:r>
              <a:rPr lang="en-US" sz="1400" b="1" dirty="0">
                <a:solidFill>
                  <a:srgbClr val="FFFFFF"/>
                </a:solidFill>
                <a:latin typeface="Arial" pitchFamily="34" charset="0"/>
                <a:ea typeface="Arial" pitchFamily="34" charset="-122"/>
                <a:cs typeface="Arial" pitchFamily="34" charset="-120"/>
              </a:rPr>
              <a:t>EJECUCIÓN</a:t>
            </a:r>
            <a:endParaRPr lang="en-US" sz="1400" dirty="0"/>
          </a:p>
        </p:txBody>
      </p:sp>
      <p:sp>
        <p:nvSpPr>
          <p:cNvPr id="19" name="Text 17"/>
          <p:cNvSpPr txBox="1"/>
          <p:nvPr/>
        </p:nvSpPr>
        <p:spPr>
          <a:xfrm>
            <a:off x="6483096" y="2862072"/>
            <a:ext cx="2066544" cy="786384"/>
          </a:xfrm>
          <a:prstGeom prst="rect">
            <a:avLst/>
          </a:prstGeom>
          <a:noFill/>
          <a:ln/>
        </p:spPr>
        <p:txBody>
          <a:bodyPr wrap="square" lIns="0" tIns="0" rIns="0" bIns="0" rtlCol="0" anchor="t"/>
          <a:lstStyle/>
          <a:p>
            <a:pPr algn="l" indent="0" marL="0">
              <a:lnSpc>
                <a:spcPts val="1920"/>
              </a:lnSpc>
              <a:buNone/>
            </a:pPr>
            <a:r>
              <a:rPr lang="en-US" sz="1600" dirty="0">
                <a:solidFill>
                  <a:srgbClr val="142D3D"/>
                </a:solidFill>
                <a:latin typeface="Arial" pitchFamily="34" charset="0"/>
                <a:ea typeface="Arial" pitchFamily="34" charset="-122"/>
                <a:cs typeface="Arial" pitchFamily="34" charset="-120"/>
              </a:rPr>
              <a:t>25/09/2026 · Falló</a:t>
            </a:r>
            <a:endParaRPr lang="en-US" sz="1600" dirty="0"/>
          </a:p>
        </p:txBody>
      </p:sp>
      <p:sp>
        <p:nvSpPr>
          <p:cNvPr id="20" name="Text 18"/>
          <p:cNvSpPr txBox="1"/>
          <p:nvPr/>
        </p:nvSpPr>
        <p:spPr>
          <a:xfrm>
            <a:off x="8750808" y="2788920"/>
            <a:ext cx="374904" cy="457200"/>
          </a:xfrm>
          <a:prstGeom prst="rect">
            <a:avLst/>
          </a:prstGeom>
          <a:noFill/>
          <a:ln/>
        </p:spPr>
        <p:txBody>
          <a:bodyPr wrap="square" lIns="0" tIns="0" rIns="0" bIns="0" rtlCol="0" anchor="ctr"/>
          <a:lstStyle/>
          <a:p>
            <a:pPr algn="ctr" indent="0" marL="0">
              <a:lnSpc>
                <a:spcPts val="2640"/>
              </a:lnSpc>
              <a:buNone/>
            </a:pPr>
            <a:r>
              <a:rPr lang="en-US" sz="2200" b="1" dirty="0">
                <a:solidFill>
                  <a:srgbClr val="007C9F"/>
                </a:solidFill>
                <a:latin typeface="Arial" pitchFamily="34" charset="0"/>
                <a:ea typeface="Arial" pitchFamily="34" charset="-122"/>
                <a:cs typeface="Arial" pitchFamily="34" charset="-120"/>
              </a:rPr>
              <a:t>↔</a:t>
            </a:r>
            <a:endParaRPr lang="en-US" sz="2200" dirty="0"/>
          </a:p>
        </p:txBody>
      </p:sp>
      <p:sp>
        <p:nvSpPr>
          <p:cNvPr id="21" name="Shape 19"/>
          <p:cNvSpPr/>
          <p:nvPr/>
        </p:nvSpPr>
        <p:spPr>
          <a:xfrm>
            <a:off x="9125712" y="2240280"/>
            <a:ext cx="2468880" cy="1554480"/>
          </a:xfrm>
          <a:prstGeom prst="roundRect">
            <a:avLst>
              <a:gd name="adj" fmla="val 3529"/>
            </a:avLst>
          </a:prstGeom>
          <a:solidFill>
            <a:srgbClr val="FFFFFF"/>
          </a:solidFill>
          <a:ln w="9525">
            <a:solidFill>
              <a:srgbClr val="D3DEE4"/>
            </a:solidFill>
            <a:prstDash val="solid"/>
          </a:ln>
        </p:spPr>
      </p:sp>
      <p:sp>
        <p:nvSpPr>
          <p:cNvPr id="22" name="Shape 20"/>
          <p:cNvSpPr/>
          <p:nvPr/>
        </p:nvSpPr>
        <p:spPr>
          <a:xfrm>
            <a:off x="9326880" y="2441448"/>
            <a:ext cx="1115759" cy="301752"/>
          </a:xfrm>
          <a:prstGeom prst="roundRect">
            <a:avLst>
              <a:gd name="adj" fmla="val 15152"/>
            </a:avLst>
          </a:prstGeom>
          <a:solidFill>
            <a:srgbClr val="BA3C3C"/>
          </a:solidFill>
          <a:ln/>
        </p:spPr>
      </p:sp>
      <p:sp>
        <p:nvSpPr>
          <p:cNvPr id="23" name="Text 21"/>
          <p:cNvSpPr txBox="1"/>
          <p:nvPr/>
        </p:nvSpPr>
        <p:spPr>
          <a:xfrm>
            <a:off x="9326880" y="2441448"/>
            <a:ext cx="1115759" cy="301752"/>
          </a:xfrm>
          <a:prstGeom prst="rect">
            <a:avLst/>
          </a:prstGeom>
          <a:noFill/>
          <a:ln/>
        </p:spPr>
        <p:txBody>
          <a:bodyPr wrap="square" lIns="25400" tIns="0" rIns="25400" bIns="0" rtlCol="0" anchor="ctr"/>
          <a:lstStyle/>
          <a:p>
            <a:pPr algn="ctr" indent="0" marL="0">
              <a:lnSpc>
                <a:spcPts val="1680"/>
              </a:lnSpc>
              <a:buNone/>
            </a:pPr>
            <a:r>
              <a:rPr lang="en-US" sz="1400" b="1" dirty="0">
                <a:solidFill>
                  <a:srgbClr val="FFFFFF"/>
                </a:solidFill>
                <a:latin typeface="Arial" pitchFamily="34" charset="0"/>
                <a:ea typeface="Arial" pitchFamily="34" charset="-122"/>
                <a:cs typeface="Arial" pitchFamily="34" charset="-120"/>
              </a:rPr>
              <a:t>DEFECTO</a:t>
            </a:r>
            <a:endParaRPr lang="en-US" sz="1400" dirty="0"/>
          </a:p>
        </p:txBody>
      </p:sp>
      <p:sp>
        <p:nvSpPr>
          <p:cNvPr id="24" name="Text 22"/>
          <p:cNvSpPr txBox="1"/>
          <p:nvPr/>
        </p:nvSpPr>
        <p:spPr>
          <a:xfrm>
            <a:off x="9326880" y="2862072"/>
            <a:ext cx="2066544" cy="786384"/>
          </a:xfrm>
          <a:prstGeom prst="rect">
            <a:avLst/>
          </a:prstGeom>
          <a:noFill/>
          <a:ln/>
        </p:spPr>
        <p:txBody>
          <a:bodyPr wrap="square" lIns="0" tIns="0" rIns="0" bIns="0" rtlCol="0" anchor="t"/>
          <a:lstStyle/>
          <a:p>
            <a:pPr algn="l" indent="0" marL="0">
              <a:lnSpc>
                <a:spcPts val="1920"/>
              </a:lnSpc>
              <a:buNone/>
            </a:pPr>
            <a:r>
              <a:rPr lang="en-US" sz="1600" dirty="0">
                <a:solidFill>
                  <a:srgbClr val="142D3D"/>
                </a:solidFill>
                <a:latin typeface="Arial" pitchFamily="34" charset="0"/>
                <a:ea typeface="Arial" pitchFamily="34" charset="-122"/>
                <a:cs typeface="Arial" pitchFamily="34" charset="-120"/>
              </a:rPr>
              <a:t>DEF-01 · Abierto</a:t>
            </a:r>
            <a:endParaRPr lang="en-US" sz="1600" dirty="0"/>
          </a:p>
        </p:txBody>
      </p:sp>
      <p:sp>
        <p:nvSpPr>
          <p:cNvPr id="25" name="Text 23"/>
          <p:cNvSpPr txBox="1"/>
          <p:nvPr/>
        </p:nvSpPr>
        <p:spPr>
          <a:xfrm>
            <a:off x="594360" y="1783080"/>
            <a:ext cx="11002975" cy="329184"/>
          </a:xfrm>
          <a:prstGeom prst="rect">
            <a:avLst/>
          </a:prstGeom>
          <a:noFill/>
          <a:ln/>
        </p:spPr>
        <p:txBody>
          <a:bodyPr wrap="square" lIns="0" tIns="0" rIns="0" bIns="0" rtlCol="0" anchor="ctr"/>
          <a:lstStyle/>
          <a:p>
            <a:pPr algn="l" indent="0" marL="0">
              <a:lnSpc>
                <a:spcPts val="1800"/>
              </a:lnSpc>
              <a:buNone/>
            </a:pPr>
            <a:r>
              <a:rPr lang="en-US" sz="1500" dirty="0">
                <a:solidFill>
                  <a:srgbClr val="516673"/>
                </a:solidFill>
                <a:latin typeface="Arial" pitchFamily="34" charset="0"/>
                <a:ea typeface="Arial" pitchFamily="34" charset="-122"/>
                <a:cs typeface="Arial" pitchFamily="34" charset="-120"/>
              </a:rPr>
              <a:t>Requisito ↔ caso ↔ ejecución ↔ defecto</a:t>
            </a:r>
            <a:endParaRPr lang="en-US" sz="1500" dirty="0"/>
          </a:p>
        </p:txBody>
      </p:sp>
      <p:sp>
        <p:nvSpPr>
          <p:cNvPr id="26" name="Shape 24"/>
          <p:cNvSpPr/>
          <p:nvPr/>
        </p:nvSpPr>
        <p:spPr>
          <a:xfrm>
            <a:off x="594360" y="4114800"/>
            <a:ext cx="11002975" cy="868680"/>
          </a:xfrm>
          <a:prstGeom prst="roundRect">
            <a:avLst>
              <a:gd name="adj" fmla="val 6316"/>
            </a:avLst>
          </a:prstGeom>
          <a:solidFill>
            <a:srgbClr val="E3EDF1"/>
          </a:solidFill>
          <a:ln/>
        </p:spPr>
      </p:sp>
      <p:sp>
        <p:nvSpPr>
          <p:cNvPr id="27" name="Shape 25"/>
          <p:cNvSpPr/>
          <p:nvPr/>
        </p:nvSpPr>
        <p:spPr>
          <a:xfrm>
            <a:off x="850392" y="4325112"/>
            <a:ext cx="1551242" cy="301752"/>
          </a:xfrm>
          <a:prstGeom prst="roundRect">
            <a:avLst>
              <a:gd name="adj" fmla="val 15152"/>
            </a:avLst>
          </a:prstGeom>
          <a:solidFill>
            <a:srgbClr val="A46810"/>
          </a:solidFill>
          <a:ln/>
        </p:spPr>
      </p:sp>
      <p:sp>
        <p:nvSpPr>
          <p:cNvPr id="28" name="Text 26"/>
          <p:cNvSpPr txBox="1"/>
          <p:nvPr/>
        </p:nvSpPr>
        <p:spPr>
          <a:xfrm>
            <a:off x="850392" y="4325112"/>
            <a:ext cx="1551242" cy="301752"/>
          </a:xfrm>
          <a:prstGeom prst="rect">
            <a:avLst/>
          </a:prstGeom>
          <a:noFill/>
          <a:ln/>
        </p:spPr>
        <p:txBody>
          <a:bodyPr wrap="square" lIns="25400" tIns="0" rIns="25400" bIns="0" rtlCol="0" anchor="ctr"/>
          <a:lstStyle/>
          <a:p>
            <a:pPr algn="ctr" indent="0" marL="0">
              <a:lnSpc>
                <a:spcPts val="1680"/>
              </a:lnSpc>
              <a:buNone/>
            </a:pPr>
            <a:r>
              <a:rPr lang="en-US" sz="1400" b="1" dirty="0">
                <a:solidFill>
                  <a:srgbClr val="FFFFFF"/>
                </a:solidFill>
                <a:latin typeface="Arial" pitchFamily="34" charset="0"/>
                <a:ea typeface="Arial" pitchFamily="34" charset="-122"/>
                <a:cs typeface="Arial" pitchFamily="34" charset="-120"/>
              </a:rPr>
              <a:t>ADVERTENCIA</a:t>
            </a:r>
            <a:endParaRPr lang="en-US" sz="1400" dirty="0"/>
          </a:p>
        </p:txBody>
      </p:sp>
      <p:sp>
        <p:nvSpPr>
          <p:cNvPr id="29" name="Text 27"/>
          <p:cNvSpPr txBox="1"/>
          <p:nvPr/>
        </p:nvSpPr>
        <p:spPr>
          <a:xfrm>
            <a:off x="2630234" y="4325112"/>
            <a:ext cx="8674494" cy="438912"/>
          </a:xfrm>
          <a:prstGeom prst="rect">
            <a:avLst/>
          </a:prstGeom>
          <a:noFill/>
          <a:ln/>
        </p:spPr>
        <p:txBody>
          <a:bodyPr wrap="square" lIns="0" tIns="0" rIns="0" bIns="0" rtlCol="0" anchor="ctr"/>
          <a:lstStyle/>
          <a:p>
            <a:pPr algn="l" indent="0" marL="0">
              <a:lnSpc>
                <a:spcPts val="2160"/>
              </a:lnSpc>
              <a:buNone/>
            </a:pPr>
            <a:r>
              <a:rPr lang="en-US" sz="1800" b="1" dirty="0">
                <a:solidFill>
                  <a:srgbClr val="142D3D"/>
                </a:solidFill>
                <a:latin typeface="Arial" pitchFamily="34" charset="0"/>
                <a:ea typeface="Arial" pitchFamily="34" charset="-122"/>
                <a:cs typeface="Arial" pitchFamily="34" charset="-120"/>
              </a:rPr>
              <a:t>Cubrir un requisito en el diseño no significa que haya pasado.</a:t>
            </a:r>
            <a:endParaRPr lang="en-US" sz="1800" dirty="0"/>
          </a:p>
        </p:txBody>
      </p:sp>
      <p:sp>
        <p:nvSpPr>
          <p:cNvPr id="30" name="Text 28"/>
          <p:cNvSpPr txBox="1"/>
          <p:nvPr/>
        </p:nvSpPr>
        <p:spPr>
          <a:xfrm>
            <a:off x="594360" y="5166360"/>
            <a:ext cx="11002975" cy="365760"/>
          </a:xfrm>
          <a:prstGeom prst="rect">
            <a:avLst/>
          </a:prstGeom>
          <a:noFill/>
          <a:ln/>
        </p:spPr>
        <p:txBody>
          <a:bodyPr wrap="square" lIns="0" tIns="0" rIns="0" bIns="0" rtlCol="0" anchor="ctr"/>
          <a:lstStyle/>
          <a:p>
            <a:pPr algn="l" indent="0" marL="0">
              <a:lnSpc>
                <a:spcPts val="1800"/>
              </a:lnSpc>
              <a:buNone/>
            </a:pPr>
            <a:r>
              <a:rPr lang="en-US" sz="1500" dirty="0">
                <a:solidFill>
                  <a:srgbClr val="516673"/>
                </a:solidFill>
                <a:latin typeface="Arial" pitchFamily="34" charset="0"/>
                <a:ea typeface="Arial" pitchFamily="34" charset="-122"/>
                <a:cs typeface="Arial" pitchFamily="34" charset="-120"/>
              </a:rPr>
              <a:t>Justifica la prioridad y devuelve a la evidencia.</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6F8"/>
        </a:solidFill>
      </p:bgPr>
    </p:bg>
    <p:spTree>
      <p:nvGrpSpPr>
        <p:cNvPr id="1" name=""/>
        <p:cNvGrpSpPr/>
        <p:nvPr/>
      </p:nvGrpSpPr>
      <p:grpSpPr>
        <a:xfrm>
          <a:off x="0" y="0"/>
          <a:ext cx="0" cy="0"/>
          <a:chOff x="0" y="0"/>
          <a:chExt cx="0" cy="0"/>
        </a:xfrm>
      </p:grpSpPr>
      <p:sp>
        <p:nvSpPr>
          <p:cNvPr id="2" name="Shape 0"/>
          <p:cNvSpPr/>
          <p:nvPr/>
        </p:nvSpPr>
        <p:spPr>
          <a:xfrm>
            <a:off x="594360" y="457200"/>
            <a:ext cx="457200" cy="457200"/>
          </a:xfrm>
          <a:prstGeom prst="ellipse">
            <a:avLst/>
          </a:prstGeom>
          <a:solidFill>
            <a:srgbClr val="007C9F"/>
          </a:solidFill>
          <a:ln/>
        </p:spPr>
      </p:sp>
      <p:sp>
        <p:nvSpPr>
          <p:cNvPr id="3" name="Text 1"/>
          <p:cNvSpPr txBox="1"/>
          <p:nvPr/>
        </p:nvSpPr>
        <p:spPr>
          <a:xfrm>
            <a:off x="594360" y="457200"/>
            <a:ext cx="457200" cy="457200"/>
          </a:xfrm>
          <a:prstGeom prst="rect">
            <a:avLst/>
          </a:prstGeom>
          <a:noFill/>
          <a:ln/>
        </p:spPr>
        <p:txBody>
          <a:bodyPr wrap="square" lIns="0" tIns="0" rIns="0" bIns="0" rtlCol="0" anchor="ctr"/>
          <a:lstStyle/>
          <a:p>
            <a:pPr algn="ctr" indent="0" marL="0">
              <a:lnSpc>
                <a:spcPts val="1920"/>
              </a:lnSpc>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4" name="Text 2"/>
          <p:cNvSpPr txBox="1"/>
          <p:nvPr/>
        </p:nvSpPr>
        <p:spPr>
          <a:xfrm>
            <a:off x="1207008" y="429768"/>
            <a:ext cx="7726680" cy="530352"/>
          </a:xfrm>
          <a:prstGeom prst="rect">
            <a:avLst/>
          </a:prstGeom>
          <a:noFill/>
          <a:ln/>
        </p:spPr>
        <p:txBody>
          <a:bodyPr wrap="square" lIns="0" tIns="0" rIns="0" bIns="0" rtlCol="0" anchor="ctr"/>
          <a:lstStyle/>
          <a:p>
            <a:pPr algn="l" indent="0" marL="0">
              <a:lnSpc>
                <a:spcPts val="3360"/>
              </a:lnSpc>
              <a:buNone/>
            </a:pPr>
            <a:r>
              <a:rPr lang="en-US" sz="2800" b="1" dirty="0">
                <a:solidFill>
                  <a:srgbClr val="142D3D"/>
                </a:solidFill>
                <a:latin typeface="Arial" pitchFamily="34" charset="0"/>
                <a:ea typeface="Arial" pitchFamily="34" charset="-122"/>
                <a:cs typeface="Arial" pitchFamily="34" charset="-120"/>
              </a:rPr>
              <a:t>Técnicas de caja negra</a:t>
            </a:r>
            <a:endParaRPr lang="en-US" sz="2800" dirty="0"/>
          </a:p>
        </p:txBody>
      </p:sp>
      <p:sp>
        <p:nvSpPr>
          <p:cNvPr id="5" name="Text 3"/>
          <p:cNvSpPr txBox="1"/>
          <p:nvPr/>
        </p:nvSpPr>
        <p:spPr>
          <a:xfrm>
            <a:off x="9006840" y="429768"/>
            <a:ext cx="2590495" cy="530352"/>
          </a:xfrm>
          <a:prstGeom prst="rect">
            <a:avLst/>
          </a:prstGeom>
          <a:noFill/>
          <a:ln/>
        </p:spPr>
        <p:txBody>
          <a:bodyPr wrap="square" lIns="0" tIns="0" rIns="0" bIns="0" rtlCol="0" anchor="ctr"/>
          <a:lstStyle/>
          <a:p>
            <a:pPr algn="r" indent="0" marL="0">
              <a:lnSpc>
                <a:spcPts val="1680"/>
              </a:lnSpc>
              <a:buNone/>
            </a:pPr>
            <a:r>
              <a:rPr lang="en-US" sz="1400" dirty="0">
                <a:solidFill>
                  <a:srgbClr val="516673"/>
                </a:solidFill>
                <a:latin typeface="Arial" pitchFamily="34" charset="0"/>
                <a:ea typeface="Arial" pitchFamily="34" charset="-122"/>
                <a:cs typeface="Arial" pitchFamily="34" charset="-120"/>
              </a:rPr>
              <a:t>Franco · 2:05–3:00</a:t>
            </a:r>
            <a:endParaRPr lang="en-US" sz="1400" dirty="0"/>
          </a:p>
        </p:txBody>
      </p:sp>
      <p:sp>
        <p:nvSpPr>
          <p:cNvPr id="6" name="Text 4"/>
          <p:cNvSpPr txBox="1"/>
          <p:nvPr/>
        </p:nvSpPr>
        <p:spPr>
          <a:xfrm>
            <a:off x="795528" y="1737360"/>
            <a:ext cx="3886200" cy="384048"/>
          </a:xfrm>
          <a:prstGeom prst="rect">
            <a:avLst/>
          </a:prstGeom>
          <a:noFill/>
          <a:ln/>
        </p:spPr>
        <p:txBody>
          <a:bodyPr wrap="square" lIns="0" tIns="0" rIns="0" bIns="0" rtlCol="0" anchor="ctr"/>
          <a:lstStyle/>
          <a:p>
            <a:pPr algn="l" indent="0" marL="0">
              <a:lnSpc>
                <a:spcPts val="1680"/>
              </a:lnSpc>
              <a:buNone/>
            </a:pPr>
            <a:r>
              <a:rPr lang="en-US" sz="1400" b="1" dirty="0">
                <a:solidFill>
                  <a:srgbClr val="516673"/>
                </a:solidFill>
                <a:latin typeface="Arial" pitchFamily="34" charset="0"/>
                <a:ea typeface="Arial" pitchFamily="34" charset="-122"/>
                <a:cs typeface="Arial" pitchFamily="34" charset="-120"/>
              </a:rPr>
              <a:t>TÉCNICA</a:t>
            </a:r>
            <a:endParaRPr lang="en-US" sz="1400" dirty="0"/>
          </a:p>
        </p:txBody>
      </p:sp>
      <p:sp>
        <p:nvSpPr>
          <p:cNvPr id="7" name="Text 5"/>
          <p:cNvSpPr txBox="1"/>
          <p:nvPr/>
        </p:nvSpPr>
        <p:spPr>
          <a:xfrm>
            <a:off x="4864608" y="1737360"/>
            <a:ext cx="6568135" cy="384048"/>
          </a:xfrm>
          <a:prstGeom prst="rect">
            <a:avLst/>
          </a:prstGeom>
          <a:noFill/>
          <a:ln/>
        </p:spPr>
        <p:txBody>
          <a:bodyPr wrap="square" lIns="0" tIns="0" rIns="0" bIns="0" rtlCol="0" anchor="ctr"/>
          <a:lstStyle/>
          <a:p>
            <a:pPr algn="l" indent="0" marL="0">
              <a:lnSpc>
                <a:spcPts val="1680"/>
              </a:lnSpc>
              <a:buNone/>
            </a:pPr>
            <a:r>
              <a:rPr lang="en-US" sz="1400" b="1" dirty="0">
                <a:solidFill>
                  <a:srgbClr val="516673"/>
                </a:solidFill>
                <a:latin typeface="Arial" pitchFamily="34" charset="0"/>
                <a:ea typeface="Arial" pitchFamily="34" charset="-122"/>
                <a:cs typeface="Arial" pitchFamily="34" charset="-120"/>
              </a:rPr>
              <a:t>DÓNDE SE APLICÓ</a:t>
            </a:r>
            <a:endParaRPr lang="en-US" sz="1400" dirty="0"/>
          </a:p>
        </p:txBody>
      </p:sp>
      <p:sp>
        <p:nvSpPr>
          <p:cNvPr id="8" name="Shape 6"/>
          <p:cNvSpPr/>
          <p:nvPr/>
        </p:nvSpPr>
        <p:spPr>
          <a:xfrm>
            <a:off x="594360" y="2157984"/>
            <a:ext cx="11002975" cy="566928"/>
          </a:xfrm>
          <a:prstGeom prst="roundRect">
            <a:avLst>
              <a:gd name="adj" fmla="val 6452"/>
            </a:avLst>
          </a:prstGeom>
          <a:solidFill>
            <a:srgbClr val="FFFFFF"/>
          </a:solidFill>
          <a:ln/>
        </p:spPr>
      </p:sp>
      <p:sp>
        <p:nvSpPr>
          <p:cNvPr id="9" name="Text 7"/>
          <p:cNvSpPr txBox="1"/>
          <p:nvPr/>
        </p:nvSpPr>
        <p:spPr>
          <a:xfrm>
            <a:off x="795528" y="2157984"/>
            <a:ext cx="3886200" cy="566928"/>
          </a:xfrm>
          <a:prstGeom prst="rect">
            <a:avLst/>
          </a:prstGeom>
          <a:noFill/>
          <a:ln/>
        </p:spPr>
        <p:txBody>
          <a:bodyPr wrap="square" lIns="0" tIns="0" rIns="0" bIns="0" rtlCol="0" anchor="ctr"/>
          <a:lstStyle/>
          <a:p>
            <a:pPr algn="l" indent="0" marL="0">
              <a:lnSpc>
                <a:spcPts val="2040"/>
              </a:lnSpc>
              <a:buNone/>
            </a:pPr>
            <a:r>
              <a:rPr lang="en-US" sz="1700" b="1" dirty="0">
                <a:solidFill>
                  <a:srgbClr val="142D3D"/>
                </a:solidFill>
                <a:latin typeface="Arial" pitchFamily="34" charset="0"/>
                <a:ea typeface="Arial" pitchFamily="34" charset="-122"/>
                <a:cs typeface="Arial" pitchFamily="34" charset="-120"/>
              </a:rPr>
              <a:t>Partición de equivalencia</a:t>
            </a:r>
            <a:endParaRPr lang="en-US" sz="1700" dirty="0"/>
          </a:p>
        </p:txBody>
      </p:sp>
      <p:sp>
        <p:nvSpPr>
          <p:cNvPr id="10" name="Text 8"/>
          <p:cNvSpPr txBox="1"/>
          <p:nvPr/>
        </p:nvSpPr>
        <p:spPr>
          <a:xfrm>
            <a:off x="4864608" y="2157984"/>
            <a:ext cx="6531559" cy="566928"/>
          </a:xfrm>
          <a:prstGeom prst="rect">
            <a:avLst/>
          </a:prstGeom>
          <a:noFill/>
          <a:ln/>
        </p:spPr>
        <p:txBody>
          <a:bodyPr wrap="square" lIns="0" tIns="0" rIns="0" bIns="0" rtlCol="0" anchor="ctr"/>
          <a:lstStyle/>
          <a:p>
            <a:pPr algn="l" indent="0" marL="0">
              <a:lnSpc>
                <a:spcPts val="1920"/>
              </a:lnSpc>
              <a:buNone/>
            </a:pPr>
            <a:r>
              <a:rPr lang="en-US" sz="1600" dirty="0">
                <a:solidFill>
                  <a:srgbClr val="516673"/>
                </a:solidFill>
                <a:latin typeface="Arial" pitchFamily="34" charset="0"/>
                <a:ea typeface="Arial" pitchFamily="34" charset="-122"/>
                <a:cs typeface="Arial" pitchFamily="34" charset="-120"/>
              </a:rPr>
              <a:t>Opciones presentes y ausentes</a:t>
            </a:r>
            <a:endParaRPr lang="en-US" sz="1600" dirty="0"/>
          </a:p>
        </p:txBody>
      </p:sp>
      <p:sp>
        <p:nvSpPr>
          <p:cNvPr id="11" name="Shape 9"/>
          <p:cNvSpPr/>
          <p:nvPr/>
        </p:nvSpPr>
        <p:spPr>
          <a:xfrm>
            <a:off x="594360" y="2779776"/>
            <a:ext cx="11002975" cy="566928"/>
          </a:xfrm>
          <a:prstGeom prst="roundRect">
            <a:avLst>
              <a:gd name="adj" fmla="val 6452"/>
            </a:avLst>
          </a:prstGeom>
          <a:solidFill>
            <a:srgbClr val="E3EDF1"/>
          </a:solidFill>
          <a:ln/>
        </p:spPr>
      </p:sp>
      <p:sp>
        <p:nvSpPr>
          <p:cNvPr id="12" name="Text 10"/>
          <p:cNvSpPr txBox="1"/>
          <p:nvPr/>
        </p:nvSpPr>
        <p:spPr>
          <a:xfrm>
            <a:off x="795528" y="2779776"/>
            <a:ext cx="3886200" cy="566928"/>
          </a:xfrm>
          <a:prstGeom prst="rect">
            <a:avLst/>
          </a:prstGeom>
          <a:noFill/>
          <a:ln/>
        </p:spPr>
        <p:txBody>
          <a:bodyPr wrap="square" lIns="0" tIns="0" rIns="0" bIns="0" rtlCol="0" anchor="ctr"/>
          <a:lstStyle/>
          <a:p>
            <a:pPr algn="l" indent="0" marL="0">
              <a:lnSpc>
                <a:spcPts val="2040"/>
              </a:lnSpc>
              <a:buNone/>
            </a:pPr>
            <a:r>
              <a:rPr lang="en-US" sz="1700" b="1" dirty="0">
                <a:solidFill>
                  <a:srgbClr val="142D3D"/>
                </a:solidFill>
                <a:latin typeface="Arial" pitchFamily="34" charset="0"/>
                <a:ea typeface="Arial" pitchFamily="34" charset="-122"/>
                <a:cs typeface="Arial" pitchFamily="34" charset="-120"/>
              </a:rPr>
              <a:t>Valores límite</a:t>
            </a:r>
            <a:endParaRPr lang="en-US" sz="1700" dirty="0"/>
          </a:p>
        </p:txBody>
      </p:sp>
      <p:sp>
        <p:nvSpPr>
          <p:cNvPr id="13" name="Text 11"/>
          <p:cNvSpPr txBox="1"/>
          <p:nvPr/>
        </p:nvSpPr>
        <p:spPr>
          <a:xfrm>
            <a:off x="4864608" y="2779776"/>
            <a:ext cx="6531559" cy="566928"/>
          </a:xfrm>
          <a:prstGeom prst="rect">
            <a:avLst/>
          </a:prstGeom>
          <a:noFill/>
          <a:ln/>
        </p:spPr>
        <p:txBody>
          <a:bodyPr wrap="square" lIns="0" tIns="0" rIns="0" bIns="0" rtlCol="0" anchor="ctr"/>
          <a:lstStyle/>
          <a:p>
            <a:pPr algn="l" indent="0" marL="0">
              <a:lnSpc>
                <a:spcPts val="1920"/>
              </a:lnSpc>
              <a:buNone/>
            </a:pPr>
            <a:r>
              <a:rPr lang="en-US" sz="1600" dirty="0">
                <a:solidFill>
                  <a:srgbClr val="516673"/>
                </a:solidFill>
                <a:latin typeface="Arial" pitchFamily="34" charset="0"/>
                <a:ea typeface="Arial" pitchFamily="34" charset="-122"/>
                <a:cs typeface="Arial" pitchFamily="34" charset="-120"/>
              </a:rPr>
              <a:t>0 y 1 · stock 147 y 148</a:t>
            </a:r>
            <a:endParaRPr lang="en-US" sz="1600" dirty="0"/>
          </a:p>
        </p:txBody>
      </p:sp>
      <p:sp>
        <p:nvSpPr>
          <p:cNvPr id="14" name="Shape 12"/>
          <p:cNvSpPr/>
          <p:nvPr/>
        </p:nvSpPr>
        <p:spPr>
          <a:xfrm>
            <a:off x="594360" y="3401568"/>
            <a:ext cx="11002975" cy="566928"/>
          </a:xfrm>
          <a:prstGeom prst="roundRect">
            <a:avLst>
              <a:gd name="adj" fmla="val 6452"/>
            </a:avLst>
          </a:prstGeom>
          <a:solidFill>
            <a:srgbClr val="FFFFFF"/>
          </a:solidFill>
          <a:ln/>
        </p:spPr>
      </p:sp>
      <p:sp>
        <p:nvSpPr>
          <p:cNvPr id="15" name="Text 13"/>
          <p:cNvSpPr txBox="1"/>
          <p:nvPr/>
        </p:nvSpPr>
        <p:spPr>
          <a:xfrm>
            <a:off x="795528" y="3401568"/>
            <a:ext cx="3886200" cy="566928"/>
          </a:xfrm>
          <a:prstGeom prst="rect">
            <a:avLst/>
          </a:prstGeom>
          <a:noFill/>
          <a:ln/>
        </p:spPr>
        <p:txBody>
          <a:bodyPr wrap="square" lIns="0" tIns="0" rIns="0" bIns="0" rtlCol="0" anchor="ctr"/>
          <a:lstStyle/>
          <a:p>
            <a:pPr algn="l" indent="0" marL="0">
              <a:lnSpc>
                <a:spcPts val="2040"/>
              </a:lnSpc>
              <a:buNone/>
            </a:pPr>
            <a:r>
              <a:rPr lang="en-US" sz="1700" b="1" dirty="0">
                <a:solidFill>
                  <a:srgbClr val="142D3D"/>
                </a:solidFill>
                <a:latin typeface="Arial" pitchFamily="34" charset="0"/>
                <a:ea typeface="Arial" pitchFamily="34" charset="-122"/>
                <a:cs typeface="Arial" pitchFamily="34" charset="-120"/>
              </a:rPr>
              <a:t>Tabla de decisión</a:t>
            </a:r>
            <a:endParaRPr lang="en-US" sz="1700" dirty="0"/>
          </a:p>
        </p:txBody>
      </p:sp>
      <p:sp>
        <p:nvSpPr>
          <p:cNvPr id="16" name="Text 14"/>
          <p:cNvSpPr txBox="1"/>
          <p:nvPr/>
        </p:nvSpPr>
        <p:spPr>
          <a:xfrm>
            <a:off x="4864608" y="3401568"/>
            <a:ext cx="6531559" cy="566928"/>
          </a:xfrm>
          <a:prstGeom prst="rect">
            <a:avLst/>
          </a:prstGeom>
          <a:noFill/>
          <a:ln/>
        </p:spPr>
        <p:txBody>
          <a:bodyPr wrap="square" lIns="0" tIns="0" rIns="0" bIns="0" rtlCol="0" anchor="ctr"/>
          <a:lstStyle/>
          <a:p>
            <a:pPr algn="l" indent="0" marL="0">
              <a:lnSpc>
                <a:spcPts val="1920"/>
              </a:lnSpc>
              <a:buNone/>
            </a:pPr>
            <a:r>
              <a:rPr lang="en-US" sz="1600" dirty="0">
                <a:solidFill>
                  <a:srgbClr val="516673"/>
                </a:solidFill>
                <a:latin typeface="Arial" pitchFamily="34" charset="0"/>
                <a:ea typeface="Arial" pitchFamily="34" charset="-122"/>
                <a:cs typeface="Arial" pitchFamily="34" charset="-120"/>
              </a:rPr>
              <a:t>Vigencia, elegibilidad y repetición del cupón</a:t>
            </a:r>
            <a:endParaRPr lang="en-US" sz="1600" dirty="0"/>
          </a:p>
        </p:txBody>
      </p:sp>
      <p:sp>
        <p:nvSpPr>
          <p:cNvPr id="17" name="Shape 15"/>
          <p:cNvSpPr/>
          <p:nvPr/>
        </p:nvSpPr>
        <p:spPr>
          <a:xfrm>
            <a:off x="594360" y="4023360"/>
            <a:ext cx="11002975" cy="566928"/>
          </a:xfrm>
          <a:prstGeom prst="roundRect">
            <a:avLst>
              <a:gd name="adj" fmla="val 6452"/>
            </a:avLst>
          </a:prstGeom>
          <a:solidFill>
            <a:srgbClr val="E3EDF1"/>
          </a:solidFill>
          <a:ln/>
        </p:spPr>
      </p:sp>
      <p:sp>
        <p:nvSpPr>
          <p:cNvPr id="18" name="Text 16"/>
          <p:cNvSpPr txBox="1"/>
          <p:nvPr/>
        </p:nvSpPr>
        <p:spPr>
          <a:xfrm>
            <a:off x="795528" y="4023360"/>
            <a:ext cx="3886200" cy="566928"/>
          </a:xfrm>
          <a:prstGeom prst="rect">
            <a:avLst/>
          </a:prstGeom>
          <a:noFill/>
          <a:ln/>
        </p:spPr>
        <p:txBody>
          <a:bodyPr wrap="square" lIns="0" tIns="0" rIns="0" bIns="0" rtlCol="0" anchor="ctr"/>
          <a:lstStyle/>
          <a:p>
            <a:pPr algn="l" indent="0" marL="0">
              <a:lnSpc>
                <a:spcPts val="2040"/>
              </a:lnSpc>
              <a:buNone/>
            </a:pPr>
            <a:r>
              <a:rPr lang="en-US" sz="1700" b="1" dirty="0">
                <a:solidFill>
                  <a:srgbClr val="142D3D"/>
                </a:solidFill>
                <a:latin typeface="Arial" pitchFamily="34" charset="0"/>
                <a:ea typeface="Arial" pitchFamily="34" charset="-122"/>
                <a:cs typeface="Arial" pitchFamily="34" charset="-120"/>
              </a:rPr>
              <a:t>Transición de estados</a:t>
            </a:r>
            <a:endParaRPr lang="en-US" sz="1700" dirty="0"/>
          </a:p>
        </p:txBody>
      </p:sp>
      <p:sp>
        <p:nvSpPr>
          <p:cNvPr id="19" name="Text 17"/>
          <p:cNvSpPr txBox="1"/>
          <p:nvPr/>
        </p:nvSpPr>
        <p:spPr>
          <a:xfrm>
            <a:off x="4864608" y="4023360"/>
            <a:ext cx="6531559" cy="566928"/>
          </a:xfrm>
          <a:prstGeom prst="rect">
            <a:avLst/>
          </a:prstGeom>
          <a:noFill/>
          <a:ln/>
        </p:spPr>
        <p:txBody>
          <a:bodyPr wrap="square" lIns="0" tIns="0" rIns="0" bIns="0" rtlCol="0" anchor="ctr"/>
          <a:lstStyle/>
          <a:p>
            <a:pPr algn="l" indent="0" marL="0">
              <a:lnSpc>
                <a:spcPts val="1920"/>
              </a:lnSpc>
              <a:buNone/>
            </a:pPr>
            <a:r>
              <a:rPr lang="en-US" sz="1600" dirty="0">
                <a:solidFill>
                  <a:srgbClr val="516673"/>
                </a:solidFill>
                <a:latin typeface="Arial" pitchFamily="34" charset="0"/>
                <a:ea typeface="Arial" pitchFamily="34" charset="-122"/>
                <a:cs typeface="Arial" pitchFamily="34" charset="-120"/>
              </a:rPr>
              <a:t>Doble clic en «Comprar»</a:t>
            </a:r>
            <a:endParaRPr lang="en-US" sz="1600" dirty="0"/>
          </a:p>
        </p:txBody>
      </p:sp>
      <p:sp>
        <p:nvSpPr>
          <p:cNvPr id="20" name="Shape 18"/>
          <p:cNvSpPr/>
          <p:nvPr/>
        </p:nvSpPr>
        <p:spPr>
          <a:xfrm>
            <a:off x="594360" y="4645152"/>
            <a:ext cx="11002975" cy="566928"/>
          </a:xfrm>
          <a:prstGeom prst="roundRect">
            <a:avLst>
              <a:gd name="adj" fmla="val 6452"/>
            </a:avLst>
          </a:prstGeom>
          <a:solidFill>
            <a:srgbClr val="FFFFFF"/>
          </a:solidFill>
          <a:ln/>
        </p:spPr>
      </p:sp>
      <p:sp>
        <p:nvSpPr>
          <p:cNvPr id="21" name="Text 19"/>
          <p:cNvSpPr txBox="1"/>
          <p:nvPr/>
        </p:nvSpPr>
        <p:spPr>
          <a:xfrm>
            <a:off x="795528" y="4645152"/>
            <a:ext cx="3886200" cy="566928"/>
          </a:xfrm>
          <a:prstGeom prst="rect">
            <a:avLst/>
          </a:prstGeom>
          <a:noFill/>
          <a:ln/>
        </p:spPr>
        <p:txBody>
          <a:bodyPr wrap="square" lIns="0" tIns="0" rIns="0" bIns="0" rtlCol="0" anchor="ctr"/>
          <a:lstStyle/>
          <a:p>
            <a:pPr algn="l" indent="0" marL="0">
              <a:lnSpc>
                <a:spcPts val="2040"/>
              </a:lnSpc>
              <a:buNone/>
            </a:pPr>
            <a:r>
              <a:rPr lang="en-US" sz="1700" b="1" dirty="0">
                <a:solidFill>
                  <a:srgbClr val="142D3D"/>
                </a:solidFill>
                <a:latin typeface="Arial" pitchFamily="34" charset="0"/>
                <a:ea typeface="Arial" pitchFamily="34" charset="-122"/>
                <a:cs typeface="Arial" pitchFamily="34" charset="-120"/>
              </a:rPr>
              <a:t>Casos de uso</a:t>
            </a:r>
            <a:endParaRPr lang="en-US" sz="1700" dirty="0"/>
          </a:p>
        </p:txBody>
      </p:sp>
      <p:sp>
        <p:nvSpPr>
          <p:cNvPr id="22" name="Text 20"/>
          <p:cNvSpPr txBox="1"/>
          <p:nvPr/>
        </p:nvSpPr>
        <p:spPr>
          <a:xfrm>
            <a:off x="4864608" y="4645152"/>
            <a:ext cx="6531559" cy="566928"/>
          </a:xfrm>
          <a:prstGeom prst="rect">
            <a:avLst/>
          </a:prstGeom>
          <a:noFill/>
          <a:ln/>
        </p:spPr>
        <p:txBody>
          <a:bodyPr wrap="square" lIns="0" tIns="0" rIns="0" bIns="0" rtlCol="0" anchor="ctr"/>
          <a:lstStyle/>
          <a:p>
            <a:pPr algn="l" indent="0" marL="0">
              <a:lnSpc>
                <a:spcPts val="1920"/>
              </a:lnSpc>
              <a:buNone/>
            </a:pPr>
            <a:r>
              <a:rPr lang="en-US" sz="1600" dirty="0">
                <a:solidFill>
                  <a:srgbClr val="516673"/>
                </a:solidFill>
                <a:latin typeface="Arial" pitchFamily="34" charset="0"/>
                <a:ea typeface="Arial" pitchFamily="34" charset="-122"/>
                <a:cs typeface="Arial" pitchFamily="34" charset="-120"/>
              </a:rPr>
              <a:t>Compra y consulta administrativa</a:t>
            </a:r>
            <a:endParaRPr lang="en-US" sz="1600" dirty="0"/>
          </a:p>
        </p:txBody>
      </p:sp>
      <p:sp>
        <p:nvSpPr>
          <p:cNvPr id="23" name="Shape 21"/>
          <p:cNvSpPr/>
          <p:nvPr/>
        </p:nvSpPr>
        <p:spPr>
          <a:xfrm>
            <a:off x="594360" y="5468112"/>
            <a:ext cx="11002975" cy="804672"/>
          </a:xfrm>
          <a:prstGeom prst="roundRect">
            <a:avLst>
              <a:gd name="adj" fmla="val 6818"/>
            </a:avLst>
          </a:prstGeom>
          <a:solidFill>
            <a:srgbClr val="E3EDF1"/>
          </a:solidFill>
          <a:ln/>
        </p:spPr>
      </p:sp>
      <p:sp>
        <p:nvSpPr>
          <p:cNvPr id="24" name="Shape 22"/>
          <p:cNvSpPr/>
          <p:nvPr/>
        </p:nvSpPr>
        <p:spPr>
          <a:xfrm>
            <a:off x="850392" y="5669280"/>
            <a:ext cx="1138619" cy="301752"/>
          </a:xfrm>
          <a:prstGeom prst="roundRect">
            <a:avLst>
              <a:gd name="adj" fmla="val 15152"/>
            </a:avLst>
          </a:prstGeom>
          <a:solidFill>
            <a:srgbClr val="A46810"/>
          </a:solidFill>
          <a:ln/>
        </p:spPr>
      </p:sp>
      <p:sp>
        <p:nvSpPr>
          <p:cNvPr id="25" name="Text 23"/>
          <p:cNvSpPr txBox="1"/>
          <p:nvPr/>
        </p:nvSpPr>
        <p:spPr>
          <a:xfrm>
            <a:off x="850392" y="5669280"/>
            <a:ext cx="1138619" cy="301752"/>
          </a:xfrm>
          <a:prstGeom prst="rect">
            <a:avLst/>
          </a:prstGeom>
          <a:noFill/>
          <a:ln/>
        </p:spPr>
        <p:txBody>
          <a:bodyPr wrap="square" lIns="25400" tIns="0" rIns="25400" bIns="0" rtlCol="0" anchor="ctr"/>
          <a:lstStyle/>
          <a:p>
            <a:pPr algn="ctr" indent="0" marL="0">
              <a:lnSpc>
                <a:spcPts val="1680"/>
              </a:lnSpc>
              <a:buNone/>
            </a:pPr>
            <a:r>
              <a:rPr lang="en-US" sz="1400" b="1" dirty="0">
                <a:solidFill>
                  <a:srgbClr val="FFFFFF"/>
                </a:solidFill>
                <a:latin typeface="Arial" pitchFamily="34" charset="0"/>
                <a:ea typeface="Arial" pitchFamily="34" charset="-122"/>
                <a:cs typeface="Arial" pitchFamily="34" charset="-120"/>
              </a:rPr>
              <a:t>ALCANCE</a:t>
            </a:r>
            <a:endParaRPr lang="en-US" sz="1400" dirty="0"/>
          </a:p>
        </p:txBody>
      </p:sp>
      <p:sp>
        <p:nvSpPr>
          <p:cNvPr id="26" name="Text 24"/>
          <p:cNvSpPr txBox="1"/>
          <p:nvPr/>
        </p:nvSpPr>
        <p:spPr>
          <a:xfrm>
            <a:off x="2217611" y="5669280"/>
            <a:ext cx="9087117" cy="411480"/>
          </a:xfrm>
          <a:prstGeom prst="rect">
            <a:avLst/>
          </a:prstGeom>
          <a:noFill/>
          <a:ln/>
        </p:spPr>
        <p:txBody>
          <a:bodyPr wrap="square" lIns="0" tIns="0" rIns="0" bIns="0" rtlCol="0" anchor="ctr"/>
          <a:lstStyle/>
          <a:p>
            <a:pPr algn="l" indent="0" marL="0">
              <a:lnSpc>
                <a:spcPts val="2040"/>
              </a:lnSpc>
              <a:buNone/>
            </a:pPr>
            <a:r>
              <a:rPr lang="en-US" sz="1700" dirty="0">
                <a:solidFill>
                  <a:srgbClr val="142D3D"/>
                </a:solidFill>
                <a:latin typeface="Arial" pitchFamily="34" charset="0"/>
                <a:ea typeface="Arial" pitchFamily="34" charset="-122"/>
                <a:cs typeface="Arial" pitchFamily="34" charset="-120"/>
              </a:rPr>
              <a:t>Justifican el diseño, no la verificación.</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6F8"/>
        </a:solidFill>
      </p:bgPr>
    </p:bg>
    <p:spTree>
      <p:nvGrpSpPr>
        <p:cNvPr id="1" name=""/>
        <p:cNvGrpSpPr/>
        <p:nvPr/>
      </p:nvGrpSpPr>
      <p:grpSpPr>
        <a:xfrm>
          <a:off x="0" y="0"/>
          <a:ext cx="0" cy="0"/>
          <a:chOff x="0" y="0"/>
          <a:chExt cx="0" cy="0"/>
        </a:xfrm>
      </p:grpSpPr>
      <p:sp>
        <p:nvSpPr>
          <p:cNvPr id="2" name="Shape 0"/>
          <p:cNvSpPr/>
          <p:nvPr/>
        </p:nvSpPr>
        <p:spPr>
          <a:xfrm>
            <a:off x="594360" y="457200"/>
            <a:ext cx="457200" cy="457200"/>
          </a:xfrm>
          <a:prstGeom prst="ellipse">
            <a:avLst/>
          </a:prstGeom>
          <a:solidFill>
            <a:srgbClr val="007C9F"/>
          </a:solidFill>
          <a:ln/>
        </p:spPr>
      </p:sp>
      <p:sp>
        <p:nvSpPr>
          <p:cNvPr id="3" name="Text 1"/>
          <p:cNvSpPr txBox="1"/>
          <p:nvPr/>
        </p:nvSpPr>
        <p:spPr>
          <a:xfrm>
            <a:off x="594360" y="457200"/>
            <a:ext cx="457200" cy="457200"/>
          </a:xfrm>
          <a:prstGeom prst="rect">
            <a:avLst/>
          </a:prstGeom>
          <a:noFill/>
          <a:ln/>
        </p:spPr>
        <p:txBody>
          <a:bodyPr wrap="square" lIns="0" tIns="0" rIns="0" bIns="0" rtlCol="0" anchor="ctr"/>
          <a:lstStyle/>
          <a:p>
            <a:pPr algn="ctr" indent="0" marL="0">
              <a:lnSpc>
                <a:spcPts val="1920"/>
              </a:lnSpc>
              <a:buNone/>
            </a:pPr>
            <a:r>
              <a:rPr lang="en-US" sz="1600" b="1" dirty="0">
                <a:solidFill>
                  <a:srgbClr val="FFFFFF"/>
                </a:solidFill>
                <a:latin typeface="Arial" pitchFamily="34" charset="0"/>
                <a:ea typeface="Arial" pitchFamily="34" charset="-122"/>
                <a:cs typeface="Arial" pitchFamily="34" charset="-120"/>
              </a:rPr>
              <a:t>6</a:t>
            </a:r>
            <a:endParaRPr lang="en-US" sz="1600" dirty="0"/>
          </a:p>
        </p:txBody>
      </p:sp>
      <p:sp>
        <p:nvSpPr>
          <p:cNvPr id="4" name="Text 2"/>
          <p:cNvSpPr txBox="1"/>
          <p:nvPr/>
        </p:nvSpPr>
        <p:spPr>
          <a:xfrm>
            <a:off x="1207008" y="429768"/>
            <a:ext cx="7726680" cy="530352"/>
          </a:xfrm>
          <a:prstGeom prst="rect">
            <a:avLst/>
          </a:prstGeom>
          <a:noFill/>
          <a:ln/>
        </p:spPr>
        <p:txBody>
          <a:bodyPr wrap="square" lIns="0" tIns="0" rIns="0" bIns="0" rtlCol="0" anchor="ctr"/>
          <a:lstStyle/>
          <a:p>
            <a:pPr algn="l" indent="0" marL="0">
              <a:lnSpc>
                <a:spcPts val="3360"/>
              </a:lnSpc>
              <a:buNone/>
            </a:pPr>
            <a:r>
              <a:rPr lang="en-US" sz="2800" b="1" dirty="0">
                <a:solidFill>
                  <a:srgbClr val="142D3D"/>
                </a:solidFill>
                <a:latin typeface="Arial" pitchFamily="34" charset="0"/>
                <a:ea typeface="Arial" pitchFamily="34" charset="-122"/>
                <a:cs typeface="Arial" pitchFamily="34" charset="-120"/>
              </a:rPr>
              <a:t>Catálogo y opciones de producto</a:t>
            </a:r>
            <a:endParaRPr lang="en-US" sz="2800" dirty="0"/>
          </a:p>
        </p:txBody>
      </p:sp>
      <p:sp>
        <p:nvSpPr>
          <p:cNvPr id="5" name="Text 3"/>
          <p:cNvSpPr txBox="1"/>
          <p:nvPr/>
        </p:nvSpPr>
        <p:spPr>
          <a:xfrm>
            <a:off x="9006840" y="429768"/>
            <a:ext cx="2590495" cy="530352"/>
          </a:xfrm>
          <a:prstGeom prst="rect">
            <a:avLst/>
          </a:prstGeom>
          <a:noFill/>
          <a:ln/>
        </p:spPr>
        <p:txBody>
          <a:bodyPr wrap="square" lIns="0" tIns="0" rIns="0" bIns="0" rtlCol="0" anchor="ctr"/>
          <a:lstStyle/>
          <a:p>
            <a:pPr algn="r" indent="0" marL="0">
              <a:lnSpc>
                <a:spcPts val="1680"/>
              </a:lnSpc>
              <a:buNone/>
            </a:pPr>
            <a:r>
              <a:rPr lang="en-US" sz="1400" dirty="0">
                <a:solidFill>
                  <a:srgbClr val="516673"/>
                </a:solidFill>
                <a:latin typeface="Arial" pitchFamily="34" charset="0"/>
                <a:ea typeface="Arial" pitchFamily="34" charset="-122"/>
                <a:cs typeface="Arial" pitchFamily="34" charset="-120"/>
              </a:rPr>
              <a:t>Franco · 3:00–3:55</a:t>
            </a:r>
            <a:endParaRPr lang="en-US" sz="1400" dirty="0"/>
          </a:p>
        </p:txBody>
      </p:sp>
      <p:sp>
        <p:nvSpPr>
          <p:cNvPr id="6" name="Shape 4"/>
          <p:cNvSpPr/>
          <p:nvPr/>
        </p:nvSpPr>
        <p:spPr>
          <a:xfrm>
            <a:off x="594360" y="1691640"/>
            <a:ext cx="5413248" cy="1572768"/>
          </a:xfrm>
          <a:prstGeom prst="roundRect">
            <a:avLst>
              <a:gd name="adj" fmla="val 3488"/>
            </a:avLst>
          </a:prstGeom>
          <a:solidFill>
            <a:srgbClr val="FFFFFF"/>
          </a:solidFill>
          <a:ln w="9525">
            <a:solidFill>
              <a:srgbClr val="D3DEE4"/>
            </a:solidFill>
            <a:prstDash val="solid"/>
          </a:ln>
        </p:spPr>
      </p:sp>
      <p:sp>
        <p:nvSpPr>
          <p:cNvPr id="7" name="Shape 5"/>
          <p:cNvSpPr/>
          <p:nvPr/>
        </p:nvSpPr>
        <p:spPr>
          <a:xfrm>
            <a:off x="832104" y="1929384"/>
            <a:ext cx="762238" cy="301752"/>
          </a:xfrm>
          <a:prstGeom prst="roundRect">
            <a:avLst>
              <a:gd name="adj" fmla="val 15152"/>
            </a:avLst>
          </a:prstGeom>
          <a:solidFill>
            <a:srgbClr val="18744D"/>
          </a:solidFill>
          <a:ln/>
        </p:spPr>
      </p:sp>
      <p:sp>
        <p:nvSpPr>
          <p:cNvPr id="8" name="Text 6"/>
          <p:cNvSpPr txBox="1"/>
          <p:nvPr/>
        </p:nvSpPr>
        <p:spPr>
          <a:xfrm>
            <a:off x="832104" y="1929384"/>
            <a:ext cx="762238" cy="301752"/>
          </a:xfrm>
          <a:prstGeom prst="rect">
            <a:avLst/>
          </a:prstGeom>
          <a:noFill/>
          <a:ln/>
        </p:spPr>
        <p:txBody>
          <a:bodyPr wrap="square" lIns="25400" tIns="0" rIns="25400" bIns="0" rtlCol="0" anchor="ctr"/>
          <a:lstStyle/>
          <a:p>
            <a:pPr algn="ctr" indent="0" marL="0">
              <a:lnSpc>
                <a:spcPts val="1680"/>
              </a:lnSpc>
              <a:buNone/>
            </a:pPr>
            <a:r>
              <a:rPr lang="en-US" sz="1400" b="1" dirty="0">
                <a:solidFill>
                  <a:srgbClr val="FFFFFF"/>
                </a:solidFill>
                <a:latin typeface="Arial" pitchFamily="34" charset="0"/>
                <a:ea typeface="Arial" pitchFamily="34" charset="-122"/>
                <a:cs typeface="Arial" pitchFamily="34" charset="-120"/>
              </a:rPr>
              <a:t>PASÓ</a:t>
            </a:r>
            <a:endParaRPr lang="en-US" sz="1400" dirty="0"/>
          </a:p>
        </p:txBody>
      </p:sp>
      <p:sp>
        <p:nvSpPr>
          <p:cNvPr id="9" name="Text 7"/>
          <p:cNvSpPr txBox="1"/>
          <p:nvPr/>
        </p:nvSpPr>
        <p:spPr>
          <a:xfrm>
            <a:off x="1777222" y="1929384"/>
            <a:ext cx="3992642" cy="301752"/>
          </a:xfrm>
          <a:prstGeom prst="rect">
            <a:avLst/>
          </a:prstGeom>
          <a:noFill/>
          <a:ln/>
        </p:spPr>
        <p:txBody>
          <a:bodyPr wrap="square" lIns="0" tIns="0" rIns="0" bIns="0" rtlCol="0" anchor="ctr"/>
          <a:lstStyle/>
          <a:p>
            <a:pPr algn="r" indent="0" marL="0">
              <a:lnSpc>
                <a:spcPts val="1800"/>
              </a:lnSpc>
              <a:buNone/>
            </a:pPr>
            <a:r>
              <a:rPr lang="en-US" sz="1500" b="1" dirty="0">
                <a:solidFill>
                  <a:srgbClr val="516673"/>
                </a:solidFill>
                <a:latin typeface="Arial" pitchFamily="34" charset="0"/>
                <a:ea typeface="Arial" pitchFamily="34" charset="-122"/>
                <a:cs typeface="Arial" pitchFamily="34" charset="-120"/>
              </a:rPr>
              <a:t>CP-CAT-02</a:t>
            </a:r>
            <a:endParaRPr lang="en-US" sz="1500" dirty="0"/>
          </a:p>
        </p:txBody>
      </p:sp>
      <p:sp>
        <p:nvSpPr>
          <p:cNvPr id="10" name="Text 8"/>
          <p:cNvSpPr txBox="1"/>
          <p:nvPr/>
        </p:nvSpPr>
        <p:spPr>
          <a:xfrm>
            <a:off x="832104" y="2404872"/>
            <a:ext cx="4937760" cy="914400"/>
          </a:xfrm>
          <a:prstGeom prst="rect">
            <a:avLst/>
          </a:prstGeom>
          <a:noFill/>
          <a:ln/>
        </p:spPr>
        <p:txBody>
          <a:bodyPr wrap="square" lIns="0" tIns="0" rIns="0" bIns="0" rtlCol="0" anchor="t"/>
          <a:lstStyle/>
          <a:p>
            <a:pPr algn="l" indent="0" marL="0">
              <a:lnSpc>
                <a:spcPts val="2040"/>
              </a:lnSpc>
              <a:buNone/>
            </a:pPr>
            <a:r>
              <a:rPr lang="en-US" sz="1700" dirty="0">
                <a:solidFill>
                  <a:srgbClr val="142D3D"/>
                </a:solidFill>
                <a:latin typeface="Arial" pitchFamily="34" charset="0"/>
                <a:ea typeface="Arial" pitchFamily="34" charset="-122"/>
                <a:cs typeface="Arial" pitchFamily="34" charset="-120"/>
              </a:rPr>
              <a:t>12 precios: 98 → 1202 y a la inversa.</a:t>
            </a:r>
            <a:endParaRPr lang="en-US" sz="1700" dirty="0"/>
          </a:p>
        </p:txBody>
      </p:sp>
      <p:sp>
        <p:nvSpPr>
          <p:cNvPr id="11" name="Shape 9"/>
          <p:cNvSpPr/>
          <p:nvPr/>
        </p:nvSpPr>
        <p:spPr>
          <a:xfrm>
            <a:off x="6199632" y="1691640"/>
            <a:ext cx="5413248" cy="1572768"/>
          </a:xfrm>
          <a:prstGeom prst="roundRect">
            <a:avLst>
              <a:gd name="adj" fmla="val 3488"/>
            </a:avLst>
          </a:prstGeom>
          <a:solidFill>
            <a:srgbClr val="FFFFFF"/>
          </a:solidFill>
          <a:ln w="9525">
            <a:solidFill>
              <a:srgbClr val="D3DEE4"/>
            </a:solidFill>
            <a:prstDash val="solid"/>
          </a:ln>
        </p:spPr>
      </p:sp>
      <p:sp>
        <p:nvSpPr>
          <p:cNvPr id="12" name="Shape 10"/>
          <p:cNvSpPr/>
          <p:nvPr/>
        </p:nvSpPr>
        <p:spPr>
          <a:xfrm>
            <a:off x="6437376" y="1929384"/>
            <a:ext cx="762238" cy="301752"/>
          </a:xfrm>
          <a:prstGeom prst="roundRect">
            <a:avLst>
              <a:gd name="adj" fmla="val 15152"/>
            </a:avLst>
          </a:prstGeom>
          <a:solidFill>
            <a:srgbClr val="18744D"/>
          </a:solidFill>
          <a:ln/>
        </p:spPr>
      </p:sp>
      <p:sp>
        <p:nvSpPr>
          <p:cNvPr id="13" name="Text 11"/>
          <p:cNvSpPr txBox="1"/>
          <p:nvPr/>
        </p:nvSpPr>
        <p:spPr>
          <a:xfrm>
            <a:off x="6437376" y="1929384"/>
            <a:ext cx="762238" cy="301752"/>
          </a:xfrm>
          <a:prstGeom prst="rect">
            <a:avLst/>
          </a:prstGeom>
          <a:noFill/>
          <a:ln/>
        </p:spPr>
        <p:txBody>
          <a:bodyPr wrap="square" lIns="25400" tIns="0" rIns="25400" bIns="0" rtlCol="0" anchor="ctr"/>
          <a:lstStyle/>
          <a:p>
            <a:pPr algn="ctr" indent="0" marL="0">
              <a:lnSpc>
                <a:spcPts val="1680"/>
              </a:lnSpc>
              <a:buNone/>
            </a:pPr>
            <a:r>
              <a:rPr lang="en-US" sz="1400" b="1" dirty="0">
                <a:solidFill>
                  <a:srgbClr val="FFFFFF"/>
                </a:solidFill>
                <a:latin typeface="Arial" pitchFamily="34" charset="0"/>
                <a:ea typeface="Arial" pitchFamily="34" charset="-122"/>
                <a:cs typeface="Arial" pitchFamily="34" charset="-120"/>
              </a:rPr>
              <a:t>PASÓ</a:t>
            </a:r>
            <a:endParaRPr lang="en-US" sz="1400" dirty="0"/>
          </a:p>
        </p:txBody>
      </p:sp>
      <p:sp>
        <p:nvSpPr>
          <p:cNvPr id="14" name="Text 12"/>
          <p:cNvSpPr txBox="1"/>
          <p:nvPr/>
        </p:nvSpPr>
        <p:spPr>
          <a:xfrm>
            <a:off x="7382494" y="1929384"/>
            <a:ext cx="3992642" cy="301752"/>
          </a:xfrm>
          <a:prstGeom prst="rect">
            <a:avLst/>
          </a:prstGeom>
          <a:noFill/>
          <a:ln/>
        </p:spPr>
        <p:txBody>
          <a:bodyPr wrap="square" lIns="0" tIns="0" rIns="0" bIns="0" rtlCol="0" anchor="ctr"/>
          <a:lstStyle/>
          <a:p>
            <a:pPr algn="r" indent="0" marL="0">
              <a:lnSpc>
                <a:spcPts val="1800"/>
              </a:lnSpc>
              <a:buNone/>
            </a:pPr>
            <a:r>
              <a:rPr lang="en-US" sz="1500" b="1" dirty="0">
                <a:solidFill>
                  <a:srgbClr val="516673"/>
                </a:solidFill>
                <a:latin typeface="Arial" pitchFamily="34" charset="0"/>
                <a:ea typeface="Arial" pitchFamily="34" charset="-122"/>
                <a:cs typeface="Arial" pitchFamily="34" charset="-120"/>
              </a:rPr>
              <a:t>CP-PRO-01</a:t>
            </a:r>
            <a:endParaRPr lang="en-US" sz="1500" dirty="0"/>
          </a:p>
        </p:txBody>
      </p:sp>
      <p:sp>
        <p:nvSpPr>
          <p:cNvPr id="15" name="Text 13"/>
          <p:cNvSpPr txBox="1"/>
          <p:nvPr/>
        </p:nvSpPr>
        <p:spPr>
          <a:xfrm>
            <a:off x="6437376" y="2404872"/>
            <a:ext cx="4937760" cy="914400"/>
          </a:xfrm>
          <a:prstGeom prst="rect">
            <a:avLst/>
          </a:prstGeom>
          <a:noFill/>
          <a:ln/>
        </p:spPr>
        <p:txBody>
          <a:bodyPr wrap="square" lIns="0" tIns="0" rIns="0" bIns="0" rtlCol="0" anchor="t"/>
          <a:lstStyle/>
          <a:p>
            <a:pPr algn="l" indent="0" marL="0">
              <a:lnSpc>
                <a:spcPts val="2040"/>
              </a:lnSpc>
              <a:buNone/>
            </a:pPr>
            <a:r>
              <a:rPr lang="en-US" sz="1700" dirty="0">
                <a:solidFill>
                  <a:srgbClr val="142D3D"/>
                </a:solidFill>
                <a:latin typeface="Arial" pitchFamily="34" charset="0"/>
                <a:ea typeface="Arial" pitchFamily="34" charset="-122"/>
                <a:cs typeface="Arial" pitchFamily="34" charset="-120"/>
              </a:rPr>
              <a:t>Canon · «Select required!» · carrito vacío.</a:t>
            </a:r>
            <a:endParaRPr lang="en-US" sz="1700" dirty="0"/>
          </a:p>
        </p:txBody>
      </p:sp>
      <p:sp>
        <p:nvSpPr>
          <p:cNvPr id="16" name="Shape 14"/>
          <p:cNvSpPr/>
          <p:nvPr/>
        </p:nvSpPr>
        <p:spPr>
          <a:xfrm>
            <a:off x="594360" y="3465576"/>
            <a:ext cx="5413248" cy="1572768"/>
          </a:xfrm>
          <a:prstGeom prst="roundRect">
            <a:avLst>
              <a:gd name="adj" fmla="val 3488"/>
            </a:avLst>
          </a:prstGeom>
          <a:solidFill>
            <a:srgbClr val="FFFFFF"/>
          </a:solidFill>
          <a:ln w="9525">
            <a:solidFill>
              <a:srgbClr val="D3DEE4"/>
            </a:solidFill>
            <a:prstDash val="solid"/>
          </a:ln>
        </p:spPr>
      </p:sp>
      <p:sp>
        <p:nvSpPr>
          <p:cNvPr id="17" name="Shape 15"/>
          <p:cNvSpPr/>
          <p:nvPr/>
        </p:nvSpPr>
        <p:spPr>
          <a:xfrm>
            <a:off x="832104" y="3703320"/>
            <a:ext cx="1423416" cy="301752"/>
          </a:xfrm>
          <a:prstGeom prst="roundRect">
            <a:avLst>
              <a:gd name="adj" fmla="val 15152"/>
            </a:avLst>
          </a:prstGeom>
          <a:solidFill>
            <a:srgbClr val="A46810"/>
          </a:solidFill>
          <a:ln/>
        </p:spPr>
      </p:sp>
      <p:sp>
        <p:nvSpPr>
          <p:cNvPr id="18" name="Text 16"/>
          <p:cNvSpPr txBox="1"/>
          <p:nvPr/>
        </p:nvSpPr>
        <p:spPr>
          <a:xfrm>
            <a:off x="832104" y="3703320"/>
            <a:ext cx="1423416" cy="301752"/>
          </a:xfrm>
          <a:prstGeom prst="rect">
            <a:avLst/>
          </a:prstGeom>
          <a:noFill/>
          <a:ln/>
        </p:spPr>
        <p:txBody>
          <a:bodyPr wrap="square" lIns="25400" tIns="0" rIns="25400" bIns="0" rtlCol="0" anchor="ctr"/>
          <a:lstStyle/>
          <a:p>
            <a:pPr algn="ctr" indent="0" marL="0">
              <a:lnSpc>
                <a:spcPts val="1680"/>
              </a:lnSpc>
              <a:buNone/>
            </a:pPr>
            <a:r>
              <a:rPr lang="en-US" sz="1400" b="1" dirty="0">
                <a:solidFill>
                  <a:srgbClr val="FFFFFF"/>
                </a:solidFill>
                <a:latin typeface="Arial" pitchFamily="34" charset="0"/>
                <a:ea typeface="Arial" pitchFamily="34" charset="-122"/>
                <a:cs typeface="Arial" pitchFamily="34" charset="-120"/>
              </a:rPr>
              <a:t>BLOQUEADO</a:t>
            </a:r>
            <a:endParaRPr lang="en-US" sz="1400" dirty="0"/>
          </a:p>
        </p:txBody>
      </p:sp>
      <p:sp>
        <p:nvSpPr>
          <p:cNvPr id="19" name="Text 17"/>
          <p:cNvSpPr txBox="1"/>
          <p:nvPr/>
        </p:nvSpPr>
        <p:spPr>
          <a:xfrm>
            <a:off x="2438400" y="3703320"/>
            <a:ext cx="3331464" cy="301752"/>
          </a:xfrm>
          <a:prstGeom prst="rect">
            <a:avLst/>
          </a:prstGeom>
          <a:noFill/>
          <a:ln/>
        </p:spPr>
        <p:txBody>
          <a:bodyPr wrap="square" lIns="0" tIns="0" rIns="0" bIns="0" rtlCol="0" anchor="ctr"/>
          <a:lstStyle/>
          <a:p>
            <a:pPr algn="r" indent="0" marL="0">
              <a:lnSpc>
                <a:spcPts val="1800"/>
              </a:lnSpc>
              <a:buNone/>
            </a:pPr>
            <a:r>
              <a:rPr lang="en-US" sz="1500" b="1" dirty="0">
                <a:solidFill>
                  <a:srgbClr val="516673"/>
                </a:solidFill>
                <a:latin typeface="Arial" pitchFamily="34" charset="0"/>
                <a:ea typeface="Arial" pitchFamily="34" charset="-122"/>
                <a:cs typeface="Arial" pitchFamily="34" charset="-120"/>
              </a:rPr>
              <a:t>CP-PRO-02</a:t>
            </a:r>
            <a:endParaRPr lang="en-US" sz="1500" dirty="0"/>
          </a:p>
        </p:txBody>
      </p:sp>
      <p:sp>
        <p:nvSpPr>
          <p:cNvPr id="20" name="Text 18"/>
          <p:cNvSpPr txBox="1"/>
          <p:nvPr/>
        </p:nvSpPr>
        <p:spPr>
          <a:xfrm>
            <a:off x="832104" y="4178808"/>
            <a:ext cx="4937760" cy="914400"/>
          </a:xfrm>
          <a:prstGeom prst="rect">
            <a:avLst/>
          </a:prstGeom>
          <a:noFill/>
          <a:ln/>
        </p:spPr>
        <p:txBody>
          <a:bodyPr wrap="square" lIns="0" tIns="0" rIns="0" bIns="0" rtlCol="0" anchor="t"/>
          <a:lstStyle/>
          <a:p>
            <a:pPr algn="l" indent="0" marL="0">
              <a:lnSpc>
                <a:spcPts val="2040"/>
              </a:lnSpc>
              <a:buNone/>
            </a:pPr>
            <a:r>
              <a:rPr lang="en-US" sz="1700" dirty="0">
                <a:solidFill>
                  <a:srgbClr val="142D3D"/>
                </a:solidFill>
                <a:latin typeface="Arial" pitchFamily="34" charset="0"/>
                <a:ea typeface="Arial" pitchFamily="34" charset="-122"/>
                <a:cs typeface="Arial" pitchFamily="34" charset="-120"/>
              </a:rPr>
              <a:t>Opciones requeridas sin valores seleccionables.</a:t>
            </a:r>
            <a:endParaRPr lang="en-US" sz="1700" dirty="0"/>
          </a:p>
        </p:txBody>
      </p:sp>
      <p:sp>
        <p:nvSpPr>
          <p:cNvPr id="21" name="Shape 19"/>
          <p:cNvSpPr/>
          <p:nvPr/>
        </p:nvSpPr>
        <p:spPr>
          <a:xfrm>
            <a:off x="6199632" y="3465576"/>
            <a:ext cx="5413248" cy="1572768"/>
          </a:xfrm>
          <a:prstGeom prst="roundRect">
            <a:avLst>
              <a:gd name="adj" fmla="val 3488"/>
            </a:avLst>
          </a:prstGeom>
          <a:solidFill>
            <a:srgbClr val="FFFFFF"/>
          </a:solidFill>
          <a:ln w="9525">
            <a:solidFill>
              <a:srgbClr val="D3DEE4"/>
            </a:solidFill>
            <a:prstDash val="solid"/>
          </a:ln>
        </p:spPr>
      </p:sp>
      <p:sp>
        <p:nvSpPr>
          <p:cNvPr id="22" name="Shape 20"/>
          <p:cNvSpPr/>
          <p:nvPr/>
        </p:nvSpPr>
        <p:spPr>
          <a:xfrm>
            <a:off x="6437376" y="3703320"/>
            <a:ext cx="1423416" cy="301752"/>
          </a:xfrm>
          <a:prstGeom prst="roundRect">
            <a:avLst>
              <a:gd name="adj" fmla="val 15152"/>
            </a:avLst>
          </a:prstGeom>
          <a:solidFill>
            <a:srgbClr val="A46810"/>
          </a:solidFill>
          <a:ln/>
        </p:spPr>
      </p:sp>
      <p:sp>
        <p:nvSpPr>
          <p:cNvPr id="23" name="Text 21"/>
          <p:cNvSpPr txBox="1"/>
          <p:nvPr/>
        </p:nvSpPr>
        <p:spPr>
          <a:xfrm>
            <a:off x="6437376" y="3703320"/>
            <a:ext cx="1423416" cy="301752"/>
          </a:xfrm>
          <a:prstGeom prst="rect">
            <a:avLst/>
          </a:prstGeom>
          <a:noFill/>
          <a:ln/>
        </p:spPr>
        <p:txBody>
          <a:bodyPr wrap="square" lIns="25400" tIns="0" rIns="25400" bIns="0" rtlCol="0" anchor="ctr"/>
          <a:lstStyle/>
          <a:p>
            <a:pPr algn="ctr" indent="0" marL="0">
              <a:lnSpc>
                <a:spcPts val="1680"/>
              </a:lnSpc>
              <a:buNone/>
            </a:pPr>
            <a:r>
              <a:rPr lang="en-US" sz="1400" b="1" dirty="0">
                <a:solidFill>
                  <a:srgbClr val="FFFFFF"/>
                </a:solidFill>
                <a:latin typeface="Arial" pitchFamily="34" charset="0"/>
                <a:ea typeface="Arial" pitchFamily="34" charset="-122"/>
                <a:cs typeface="Arial" pitchFamily="34" charset="-120"/>
              </a:rPr>
              <a:t>BLOQUEADO</a:t>
            </a:r>
            <a:endParaRPr lang="en-US" sz="1400" dirty="0"/>
          </a:p>
        </p:txBody>
      </p:sp>
      <p:sp>
        <p:nvSpPr>
          <p:cNvPr id="24" name="Text 22"/>
          <p:cNvSpPr txBox="1"/>
          <p:nvPr/>
        </p:nvSpPr>
        <p:spPr>
          <a:xfrm>
            <a:off x="8043672" y="3703320"/>
            <a:ext cx="3331464" cy="301752"/>
          </a:xfrm>
          <a:prstGeom prst="rect">
            <a:avLst/>
          </a:prstGeom>
          <a:noFill/>
          <a:ln/>
        </p:spPr>
        <p:txBody>
          <a:bodyPr wrap="square" lIns="0" tIns="0" rIns="0" bIns="0" rtlCol="0" anchor="ctr"/>
          <a:lstStyle/>
          <a:p>
            <a:pPr algn="r" indent="0" marL="0">
              <a:lnSpc>
                <a:spcPts val="1800"/>
              </a:lnSpc>
              <a:buNone/>
            </a:pPr>
            <a:r>
              <a:rPr lang="en-US" sz="1500" b="1" dirty="0">
                <a:solidFill>
                  <a:srgbClr val="516673"/>
                </a:solidFill>
                <a:latin typeface="Arial" pitchFamily="34" charset="0"/>
                <a:ea typeface="Arial" pitchFamily="34" charset="-122"/>
                <a:cs typeface="Arial" pitchFamily="34" charset="-120"/>
              </a:rPr>
              <a:t>CP-CUP-01 / CP-CUP-02</a:t>
            </a:r>
            <a:endParaRPr lang="en-US" sz="1500" dirty="0"/>
          </a:p>
        </p:txBody>
      </p:sp>
      <p:sp>
        <p:nvSpPr>
          <p:cNvPr id="25" name="Text 23"/>
          <p:cNvSpPr txBox="1"/>
          <p:nvPr/>
        </p:nvSpPr>
        <p:spPr>
          <a:xfrm>
            <a:off x="6437376" y="4178808"/>
            <a:ext cx="4937760" cy="914400"/>
          </a:xfrm>
          <a:prstGeom prst="rect">
            <a:avLst/>
          </a:prstGeom>
          <a:noFill/>
          <a:ln/>
        </p:spPr>
        <p:txBody>
          <a:bodyPr wrap="square" lIns="0" tIns="0" rIns="0" bIns="0" rtlCol="0" anchor="t"/>
          <a:lstStyle/>
          <a:p>
            <a:pPr algn="l" indent="0" marL="0">
              <a:lnSpc>
                <a:spcPts val="2040"/>
              </a:lnSpc>
              <a:buNone/>
            </a:pPr>
            <a:r>
              <a:rPr lang="en-US" sz="1700" dirty="0">
                <a:solidFill>
                  <a:srgbClr val="142D3D"/>
                </a:solidFill>
                <a:latin typeface="Arial" pitchFamily="34" charset="0"/>
                <a:ea typeface="Arial" pitchFamily="34" charset="-122"/>
                <a:cs typeface="Arial" pitchFamily="34" charset="-120"/>
              </a:rPr>
              <a:t>Tres cupones: deshabilitados y vencidos.</a:t>
            </a:r>
            <a:endParaRPr lang="en-US" sz="1700" dirty="0"/>
          </a:p>
        </p:txBody>
      </p:sp>
      <p:sp>
        <p:nvSpPr>
          <p:cNvPr id="26" name="Shape 24"/>
          <p:cNvSpPr/>
          <p:nvPr/>
        </p:nvSpPr>
        <p:spPr>
          <a:xfrm>
            <a:off x="594360" y="5330952"/>
            <a:ext cx="11002975" cy="804672"/>
          </a:xfrm>
          <a:prstGeom prst="roundRect">
            <a:avLst>
              <a:gd name="adj" fmla="val 6818"/>
            </a:avLst>
          </a:prstGeom>
          <a:solidFill>
            <a:srgbClr val="E3EDF1"/>
          </a:solidFill>
          <a:ln/>
        </p:spPr>
      </p:sp>
      <p:sp>
        <p:nvSpPr>
          <p:cNvPr id="27" name="Shape 25"/>
          <p:cNvSpPr/>
          <p:nvPr/>
        </p:nvSpPr>
        <p:spPr>
          <a:xfrm>
            <a:off x="850392" y="5532120"/>
            <a:ext cx="2441638" cy="301752"/>
          </a:xfrm>
          <a:prstGeom prst="roundRect">
            <a:avLst>
              <a:gd name="adj" fmla="val 15152"/>
            </a:avLst>
          </a:prstGeom>
          <a:solidFill>
            <a:srgbClr val="007C9F"/>
          </a:solidFill>
          <a:ln/>
        </p:spPr>
      </p:sp>
      <p:sp>
        <p:nvSpPr>
          <p:cNvPr id="28" name="Text 26"/>
          <p:cNvSpPr txBox="1"/>
          <p:nvPr/>
        </p:nvSpPr>
        <p:spPr>
          <a:xfrm>
            <a:off x="850392" y="5532120"/>
            <a:ext cx="2441638" cy="301752"/>
          </a:xfrm>
          <a:prstGeom prst="rect">
            <a:avLst/>
          </a:prstGeom>
          <a:noFill/>
          <a:ln/>
        </p:spPr>
        <p:txBody>
          <a:bodyPr wrap="square" lIns="25400" tIns="0" rIns="25400" bIns="0" rtlCol="0" anchor="ctr"/>
          <a:lstStyle/>
          <a:p>
            <a:pPr algn="ctr" indent="0" marL="0">
              <a:lnSpc>
                <a:spcPts val="1680"/>
              </a:lnSpc>
              <a:buNone/>
            </a:pPr>
            <a:r>
              <a:rPr lang="en-US" sz="1400" b="1" dirty="0">
                <a:solidFill>
                  <a:srgbClr val="FFFFFF"/>
                </a:solidFill>
                <a:latin typeface="Arial" pitchFamily="34" charset="0"/>
                <a:ea typeface="Arial" pitchFamily="34" charset="-122"/>
                <a:cs typeface="Arial" pitchFamily="34" charset="-120"/>
              </a:rPr>
              <a:t>REGLA DE AGREGACIÓN</a:t>
            </a:r>
            <a:endParaRPr lang="en-US" sz="1400" dirty="0"/>
          </a:p>
        </p:txBody>
      </p:sp>
      <p:sp>
        <p:nvSpPr>
          <p:cNvPr id="29" name="Text 27"/>
          <p:cNvSpPr txBox="1"/>
          <p:nvPr/>
        </p:nvSpPr>
        <p:spPr>
          <a:xfrm>
            <a:off x="3520631" y="5532120"/>
            <a:ext cx="7784097" cy="411480"/>
          </a:xfrm>
          <a:prstGeom prst="rect">
            <a:avLst/>
          </a:prstGeom>
          <a:noFill/>
          <a:ln/>
        </p:spPr>
        <p:txBody>
          <a:bodyPr wrap="square" lIns="0" tIns="0" rIns="0" bIns="0" rtlCol="0" anchor="ctr"/>
          <a:lstStyle/>
          <a:p>
            <a:pPr algn="l" indent="0" marL="0">
              <a:lnSpc>
                <a:spcPts val="2040"/>
              </a:lnSpc>
              <a:buNone/>
            </a:pPr>
            <a:r>
              <a:rPr lang="en-US" sz="1700" b="1" dirty="0">
                <a:solidFill>
                  <a:srgbClr val="142D3D"/>
                </a:solidFill>
                <a:latin typeface="Arial" pitchFamily="34" charset="0"/>
                <a:ea typeface="Arial" pitchFamily="34" charset="-122"/>
                <a:cs typeface="Arial" pitchFamily="34" charset="-120"/>
              </a:rPr>
              <a:t>Sin su variante positiva obligatoria, un caso no se aprueba.</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6F8"/>
        </a:solidFill>
      </p:bgPr>
    </p:bg>
    <p:spTree>
      <p:nvGrpSpPr>
        <p:cNvPr id="1" name=""/>
        <p:cNvGrpSpPr/>
        <p:nvPr/>
      </p:nvGrpSpPr>
      <p:grpSpPr>
        <a:xfrm>
          <a:off x="0" y="0"/>
          <a:ext cx="0" cy="0"/>
          <a:chOff x="0" y="0"/>
          <a:chExt cx="0" cy="0"/>
        </a:xfrm>
      </p:grpSpPr>
      <p:sp>
        <p:nvSpPr>
          <p:cNvPr id="2" name="Shape 0"/>
          <p:cNvSpPr/>
          <p:nvPr/>
        </p:nvSpPr>
        <p:spPr>
          <a:xfrm>
            <a:off x="594360" y="457200"/>
            <a:ext cx="457200" cy="457200"/>
          </a:xfrm>
          <a:prstGeom prst="ellipse">
            <a:avLst/>
          </a:prstGeom>
          <a:solidFill>
            <a:srgbClr val="007C9F"/>
          </a:solidFill>
          <a:ln/>
        </p:spPr>
      </p:sp>
      <p:sp>
        <p:nvSpPr>
          <p:cNvPr id="3" name="Text 1"/>
          <p:cNvSpPr txBox="1"/>
          <p:nvPr/>
        </p:nvSpPr>
        <p:spPr>
          <a:xfrm>
            <a:off x="594360" y="457200"/>
            <a:ext cx="457200" cy="457200"/>
          </a:xfrm>
          <a:prstGeom prst="rect">
            <a:avLst/>
          </a:prstGeom>
          <a:noFill/>
          <a:ln/>
        </p:spPr>
        <p:txBody>
          <a:bodyPr wrap="square" lIns="0" tIns="0" rIns="0" bIns="0" rtlCol="0" anchor="ctr"/>
          <a:lstStyle/>
          <a:p>
            <a:pPr algn="ctr" indent="0" marL="0">
              <a:lnSpc>
                <a:spcPts val="1920"/>
              </a:lnSpc>
              <a:buNone/>
            </a:pPr>
            <a:r>
              <a:rPr lang="en-US" sz="1600" b="1" dirty="0">
                <a:solidFill>
                  <a:srgbClr val="FFFFFF"/>
                </a:solidFill>
                <a:latin typeface="Arial" pitchFamily="34" charset="0"/>
                <a:ea typeface="Arial" pitchFamily="34" charset="-122"/>
                <a:cs typeface="Arial" pitchFamily="34" charset="-120"/>
              </a:rPr>
              <a:t>7</a:t>
            </a:r>
            <a:endParaRPr lang="en-US" sz="1600" dirty="0"/>
          </a:p>
        </p:txBody>
      </p:sp>
      <p:sp>
        <p:nvSpPr>
          <p:cNvPr id="4" name="Text 2"/>
          <p:cNvSpPr txBox="1"/>
          <p:nvPr/>
        </p:nvSpPr>
        <p:spPr>
          <a:xfrm>
            <a:off x="1207008" y="429768"/>
            <a:ext cx="7726680" cy="530352"/>
          </a:xfrm>
          <a:prstGeom prst="rect">
            <a:avLst/>
          </a:prstGeom>
          <a:noFill/>
          <a:ln/>
        </p:spPr>
        <p:txBody>
          <a:bodyPr wrap="square" lIns="0" tIns="0" rIns="0" bIns="0" rtlCol="0" anchor="ctr"/>
          <a:lstStyle/>
          <a:p>
            <a:pPr algn="l" indent="0" marL="0">
              <a:lnSpc>
                <a:spcPts val="3360"/>
              </a:lnSpc>
              <a:buNone/>
            </a:pPr>
            <a:r>
              <a:rPr lang="en-US" sz="2800" b="1" dirty="0">
                <a:solidFill>
                  <a:srgbClr val="142D3D"/>
                </a:solidFill>
                <a:latin typeface="Arial" pitchFamily="34" charset="0"/>
                <a:ea typeface="Arial" pitchFamily="34" charset="-122"/>
                <a:cs typeface="Arial" pitchFamily="34" charset="-120"/>
              </a:rPr>
              <a:t>DEF-01 · defecto abierto</a:t>
            </a:r>
            <a:endParaRPr lang="en-US" sz="2800" dirty="0"/>
          </a:p>
        </p:txBody>
      </p:sp>
      <p:sp>
        <p:nvSpPr>
          <p:cNvPr id="5" name="Text 3"/>
          <p:cNvSpPr txBox="1"/>
          <p:nvPr/>
        </p:nvSpPr>
        <p:spPr>
          <a:xfrm>
            <a:off x="9006840" y="429768"/>
            <a:ext cx="2590495" cy="530352"/>
          </a:xfrm>
          <a:prstGeom prst="rect">
            <a:avLst/>
          </a:prstGeom>
          <a:noFill/>
          <a:ln/>
        </p:spPr>
        <p:txBody>
          <a:bodyPr wrap="square" lIns="0" tIns="0" rIns="0" bIns="0" rtlCol="0" anchor="ctr"/>
          <a:lstStyle/>
          <a:p>
            <a:pPr algn="r" indent="0" marL="0">
              <a:lnSpc>
                <a:spcPts val="1680"/>
              </a:lnSpc>
              <a:buNone/>
            </a:pPr>
            <a:r>
              <a:rPr lang="en-US" sz="1400" dirty="0">
                <a:solidFill>
                  <a:srgbClr val="516673"/>
                </a:solidFill>
                <a:latin typeface="Arial" pitchFamily="34" charset="0"/>
                <a:ea typeface="Arial" pitchFamily="34" charset="-122"/>
                <a:cs typeface="Arial" pitchFamily="34" charset="-120"/>
              </a:rPr>
              <a:t>Franco · 3:55–5:10</a:t>
            </a:r>
            <a:endParaRPr lang="en-US" sz="1400" dirty="0"/>
          </a:p>
        </p:txBody>
      </p:sp>
      <p:sp>
        <p:nvSpPr>
          <p:cNvPr id="6" name="Shape 4"/>
          <p:cNvSpPr/>
          <p:nvPr/>
        </p:nvSpPr>
        <p:spPr>
          <a:xfrm>
            <a:off x="594360" y="1664208"/>
            <a:ext cx="11002975" cy="896112"/>
          </a:xfrm>
          <a:prstGeom prst="roundRect">
            <a:avLst>
              <a:gd name="adj" fmla="val 6122"/>
            </a:avLst>
          </a:prstGeom>
          <a:solidFill>
            <a:srgbClr val="FFFFFF"/>
          </a:solidFill>
          <a:ln w="9525">
            <a:solidFill>
              <a:srgbClr val="D3DEE4"/>
            </a:solidFill>
            <a:prstDash val="solid"/>
          </a:ln>
        </p:spPr>
      </p:sp>
      <p:sp>
        <p:nvSpPr>
          <p:cNvPr id="7" name="Text 5"/>
          <p:cNvSpPr txBox="1"/>
          <p:nvPr/>
        </p:nvSpPr>
        <p:spPr>
          <a:xfrm>
            <a:off x="850392" y="1664208"/>
            <a:ext cx="10490911" cy="896112"/>
          </a:xfrm>
          <a:prstGeom prst="rect">
            <a:avLst/>
          </a:prstGeom>
          <a:noFill/>
          <a:ln/>
        </p:spPr>
        <p:txBody>
          <a:bodyPr wrap="square" lIns="0" tIns="0" rIns="0" bIns="0" rtlCol="0" anchor="ctr"/>
          <a:lstStyle/>
          <a:p>
            <a:pPr algn="l" indent="0" marL="0">
              <a:lnSpc>
                <a:spcPts val="2400"/>
              </a:lnSpc>
              <a:buNone/>
            </a:pPr>
            <a:r>
              <a:rPr lang="en-US" sz="2000" b="1" dirty="0">
                <a:solidFill>
                  <a:srgbClr val="142D3D"/>
                </a:solidFill>
                <a:latin typeface="Arial" pitchFamily="34" charset="0"/>
                <a:ea typeface="Arial" pitchFamily="34" charset="-122"/>
                <a:cs typeface="Arial" pitchFamily="34" charset="-120"/>
              </a:rPr>
              <a:t>[Carrito] El total de línea no coincide con el total a pagar al aumentar la cantidad de una a dos unidades</a:t>
            </a:r>
            <a:endParaRPr lang="en-US" sz="2000" dirty="0"/>
          </a:p>
        </p:txBody>
      </p:sp>
      <p:sp>
        <p:nvSpPr>
          <p:cNvPr id="8" name="Shape 6"/>
          <p:cNvSpPr/>
          <p:nvPr/>
        </p:nvSpPr>
        <p:spPr>
          <a:xfrm>
            <a:off x="594360" y="2697480"/>
            <a:ext cx="3520440" cy="1554480"/>
          </a:xfrm>
          <a:prstGeom prst="roundRect">
            <a:avLst>
              <a:gd name="adj" fmla="val 3529"/>
            </a:avLst>
          </a:prstGeom>
          <a:solidFill>
            <a:srgbClr val="FFFFFF"/>
          </a:solidFill>
          <a:ln w="9525">
            <a:solidFill>
              <a:srgbClr val="D3DEE4"/>
            </a:solidFill>
            <a:prstDash val="solid"/>
          </a:ln>
        </p:spPr>
      </p:sp>
      <p:sp>
        <p:nvSpPr>
          <p:cNvPr id="9" name="Text 7"/>
          <p:cNvSpPr txBox="1"/>
          <p:nvPr/>
        </p:nvSpPr>
        <p:spPr>
          <a:xfrm>
            <a:off x="594360" y="2798064"/>
            <a:ext cx="3520440" cy="777240"/>
          </a:xfrm>
          <a:prstGeom prst="rect">
            <a:avLst/>
          </a:prstGeom>
          <a:noFill/>
          <a:ln/>
        </p:spPr>
        <p:txBody>
          <a:bodyPr wrap="square" lIns="0" tIns="0" rIns="0" bIns="0" rtlCol="0" anchor="ctr"/>
          <a:lstStyle/>
          <a:p>
            <a:pPr algn="ctr" indent="0" marL="0">
              <a:lnSpc>
                <a:spcPts val="5760"/>
              </a:lnSpc>
              <a:buNone/>
            </a:pPr>
            <a:r>
              <a:rPr lang="en-US" sz="4800" b="1" dirty="0">
                <a:solidFill>
                  <a:srgbClr val="516673"/>
                </a:solidFill>
                <a:latin typeface="Arial" pitchFamily="34" charset="0"/>
                <a:ea typeface="Arial" pitchFamily="34" charset="-122"/>
                <a:cs typeface="Arial" pitchFamily="34" charset="-120"/>
              </a:rPr>
              <a:t>122</a:t>
            </a:r>
            <a:endParaRPr lang="en-US" sz="4800" dirty="0"/>
          </a:p>
        </p:txBody>
      </p:sp>
      <p:sp>
        <p:nvSpPr>
          <p:cNvPr id="10" name="Text 8"/>
          <p:cNvSpPr txBox="1"/>
          <p:nvPr/>
        </p:nvSpPr>
        <p:spPr>
          <a:xfrm>
            <a:off x="594360" y="3584448"/>
            <a:ext cx="3520440" cy="292608"/>
          </a:xfrm>
          <a:prstGeom prst="rect">
            <a:avLst/>
          </a:prstGeom>
          <a:noFill/>
          <a:ln/>
        </p:spPr>
        <p:txBody>
          <a:bodyPr wrap="square" lIns="0" tIns="0" rIns="0" bIns="0" rtlCol="0" anchor="ctr"/>
          <a:lstStyle/>
          <a:p>
            <a:pPr algn="ctr" indent="0" marL="0">
              <a:lnSpc>
                <a:spcPts val="1800"/>
              </a:lnSpc>
              <a:buNone/>
            </a:pPr>
            <a:r>
              <a:rPr lang="en-US" sz="1500" dirty="0">
                <a:solidFill>
                  <a:srgbClr val="516673"/>
                </a:solidFill>
                <a:latin typeface="Arial" pitchFamily="34" charset="0"/>
                <a:ea typeface="Arial" pitchFamily="34" charset="-122"/>
                <a:cs typeface="Arial" pitchFamily="34" charset="-120"/>
              </a:rPr>
              <a:t>Precio unitario</a:t>
            </a:r>
            <a:endParaRPr lang="en-US" sz="1500" dirty="0"/>
          </a:p>
        </p:txBody>
      </p:sp>
      <p:sp>
        <p:nvSpPr>
          <p:cNvPr id="11" name="Shape 9"/>
          <p:cNvSpPr/>
          <p:nvPr/>
        </p:nvSpPr>
        <p:spPr>
          <a:xfrm>
            <a:off x="4334256" y="2697480"/>
            <a:ext cx="3520440" cy="1554480"/>
          </a:xfrm>
          <a:prstGeom prst="roundRect">
            <a:avLst>
              <a:gd name="adj" fmla="val 3529"/>
            </a:avLst>
          </a:prstGeom>
          <a:solidFill>
            <a:srgbClr val="FFFFFF"/>
          </a:solidFill>
          <a:ln w="9525">
            <a:solidFill>
              <a:srgbClr val="D3DEE4"/>
            </a:solidFill>
            <a:prstDash val="solid"/>
          </a:ln>
        </p:spPr>
      </p:sp>
      <p:sp>
        <p:nvSpPr>
          <p:cNvPr id="12" name="Text 10"/>
          <p:cNvSpPr txBox="1"/>
          <p:nvPr/>
        </p:nvSpPr>
        <p:spPr>
          <a:xfrm>
            <a:off x="4334256" y="2798064"/>
            <a:ext cx="3520440" cy="777240"/>
          </a:xfrm>
          <a:prstGeom prst="rect">
            <a:avLst/>
          </a:prstGeom>
          <a:noFill/>
          <a:ln/>
        </p:spPr>
        <p:txBody>
          <a:bodyPr wrap="square" lIns="0" tIns="0" rIns="0" bIns="0" rtlCol="0" anchor="ctr"/>
          <a:lstStyle/>
          <a:p>
            <a:pPr algn="ctr" indent="0" marL="0">
              <a:lnSpc>
                <a:spcPts val="5760"/>
              </a:lnSpc>
              <a:buNone/>
            </a:pPr>
            <a:r>
              <a:rPr lang="en-US" sz="4800" b="1" dirty="0">
                <a:solidFill>
                  <a:srgbClr val="BA3C3C"/>
                </a:solidFill>
                <a:latin typeface="Arial" pitchFamily="34" charset="0"/>
                <a:ea typeface="Arial" pitchFamily="34" charset="-122"/>
                <a:cs typeface="Arial" pitchFamily="34" charset="-120"/>
              </a:rPr>
              <a:t>242</a:t>
            </a:r>
            <a:endParaRPr lang="en-US" sz="4800" dirty="0"/>
          </a:p>
        </p:txBody>
      </p:sp>
      <p:sp>
        <p:nvSpPr>
          <p:cNvPr id="13" name="Text 11"/>
          <p:cNvSpPr txBox="1"/>
          <p:nvPr/>
        </p:nvSpPr>
        <p:spPr>
          <a:xfrm>
            <a:off x="4334256" y="3584448"/>
            <a:ext cx="3520440" cy="292608"/>
          </a:xfrm>
          <a:prstGeom prst="rect">
            <a:avLst/>
          </a:prstGeom>
          <a:noFill/>
          <a:ln/>
        </p:spPr>
        <p:txBody>
          <a:bodyPr wrap="square" lIns="0" tIns="0" rIns="0" bIns="0" rtlCol="0" anchor="ctr"/>
          <a:lstStyle/>
          <a:p>
            <a:pPr algn="ctr" indent="0" marL="0">
              <a:lnSpc>
                <a:spcPts val="1800"/>
              </a:lnSpc>
              <a:buNone/>
            </a:pPr>
            <a:r>
              <a:rPr lang="en-US" sz="1500" dirty="0">
                <a:solidFill>
                  <a:srgbClr val="516673"/>
                </a:solidFill>
                <a:latin typeface="Arial" pitchFamily="34" charset="0"/>
                <a:ea typeface="Arial" pitchFamily="34" charset="-122"/>
                <a:cs typeface="Arial" pitchFamily="34" charset="-120"/>
              </a:rPr>
              <a:t>Total de línea mostrado</a:t>
            </a:r>
            <a:endParaRPr lang="en-US" sz="1500" dirty="0"/>
          </a:p>
        </p:txBody>
      </p:sp>
      <p:sp>
        <p:nvSpPr>
          <p:cNvPr id="14" name="Text 12"/>
          <p:cNvSpPr txBox="1"/>
          <p:nvPr/>
        </p:nvSpPr>
        <p:spPr>
          <a:xfrm>
            <a:off x="4334256" y="3877056"/>
            <a:ext cx="3520440" cy="292608"/>
          </a:xfrm>
          <a:prstGeom prst="rect">
            <a:avLst/>
          </a:prstGeom>
          <a:noFill/>
          <a:ln/>
        </p:spPr>
        <p:txBody>
          <a:bodyPr wrap="square" lIns="0" tIns="0" rIns="0" bIns="0" rtlCol="0" anchor="ctr"/>
          <a:lstStyle/>
          <a:p>
            <a:pPr algn="ctr" indent="0" marL="0">
              <a:lnSpc>
                <a:spcPts val="1800"/>
              </a:lnSpc>
              <a:buNone/>
            </a:pPr>
            <a:r>
              <a:rPr lang="en-US" sz="1500" b="1" dirty="0">
                <a:solidFill>
                  <a:srgbClr val="BA3C3C"/>
                </a:solidFill>
                <a:latin typeface="Arial" pitchFamily="34" charset="0"/>
                <a:ea typeface="Arial" pitchFamily="34" charset="-122"/>
                <a:cs typeface="Arial" pitchFamily="34" charset="-120"/>
              </a:rPr>
              <a:t>esperado 244</a:t>
            </a:r>
            <a:endParaRPr lang="en-US" sz="1500" dirty="0"/>
          </a:p>
        </p:txBody>
      </p:sp>
      <p:sp>
        <p:nvSpPr>
          <p:cNvPr id="15" name="Shape 13"/>
          <p:cNvSpPr/>
          <p:nvPr/>
        </p:nvSpPr>
        <p:spPr>
          <a:xfrm>
            <a:off x="8074152" y="2697480"/>
            <a:ext cx="3520440" cy="1554480"/>
          </a:xfrm>
          <a:prstGeom prst="roundRect">
            <a:avLst>
              <a:gd name="adj" fmla="val 3529"/>
            </a:avLst>
          </a:prstGeom>
          <a:solidFill>
            <a:srgbClr val="FFFFFF"/>
          </a:solidFill>
          <a:ln w="9525">
            <a:solidFill>
              <a:srgbClr val="D3DEE4"/>
            </a:solidFill>
            <a:prstDash val="solid"/>
          </a:ln>
        </p:spPr>
      </p:sp>
      <p:sp>
        <p:nvSpPr>
          <p:cNvPr id="16" name="Text 14"/>
          <p:cNvSpPr txBox="1"/>
          <p:nvPr/>
        </p:nvSpPr>
        <p:spPr>
          <a:xfrm>
            <a:off x="8074152" y="2798064"/>
            <a:ext cx="3520440" cy="777240"/>
          </a:xfrm>
          <a:prstGeom prst="rect">
            <a:avLst/>
          </a:prstGeom>
          <a:noFill/>
          <a:ln/>
        </p:spPr>
        <p:txBody>
          <a:bodyPr wrap="square" lIns="0" tIns="0" rIns="0" bIns="0" rtlCol="0" anchor="ctr"/>
          <a:lstStyle/>
          <a:p>
            <a:pPr algn="ctr" indent="0" marL="0">
              <a:lnSpc>
                <a:spcPts val="5760"/>
              </a:lnSpc>
              <a:buNone/>
            </a:pPr>
            <a:r>
              <a:rPr lang="en-US" sz="4800" b="1" dirty="0">
                <a:solidFill>
                  <a:srgbClr val="142D3D"/>
                </a:solidFill>
                <a:latin typeface="Arial" pitchFamily="34" charset="0"/>
                <a:ea typeface="Arial" pitchFamily="34" charset="-122"/>
                <a:cs typeface="Arial" pitchFamily="34" charset="-120"/>
              </a:rPr>
              <a:t>244</a:t>
            </a:r>
            <a:endParaRPr lang="en-US" sz="4800" dirty="0"/>
          </a:p>
        </p:txBody>
      </p:sp>
      <p:sp>
        <p:nvSpPr>
          <p:cNvPr id="17" name="Text 15"/>
          <p:cNvSpPr txBox="1"/>
          <p:nvPr/>
        </p:nvSpPr>
        <p:spPr>
          <a:xfrm>
            <a:off x="8074152" y="3584448"/>
            <a:ext cx="3520440" cy="292608"/>
          </a:xfrm>
          <a:prstGeom prst="rect">
            <a:avLst/>
          </a:prstGeom>
          <a:noFill/>
          <a:ln/>
        </p:spPr>
        <p:txBody>
          <a:bodyPr wrap="square" lIns="0" tIns="0" rIns="0" bIns="0" rtlCol="0" anchor="ctr"/>
          <a:lstStyle/>
          <a:p>
            <a:pPr algn="ctr" indent="0" marL="0">
              <a:lnSpc>
                <a:spcPts val="1800"/>
              </a:lnSpc>
              <a:buNone/>
            </a:pPr>
            <a:r>
              <a:rPr lang="en-US" sz="1500" dirty="0">
                <a:solidFill>
                  <a:srgbClr val="516673"/>
                </a:solidFill>
                <a:latin typeface="Arial" pitchFamily="34" charset="0"/>
                <a:ea typeface="Arial" pitchFamily="34" charset="-122"/>
                <a:cs typeface="Arial" pitchFamily="34" charset="-120"/>
              </a:rPr>
              <a:t>Total a pagar mostrado</a:t>
            </a:r>
            <a:endParaRPr lang="en-US" sz="1500" dirty="0"/>
          </a:p>
        </p:txBody>
      </p:sp>
      <p:sp>
        <p:nvSpPr>
          <p:cNvPr id="18" name="Shape 16"/>
          <p:cNvSpPr/>
          <p:nvPr/>
        </p:nvSpPr>
        <p:spPr>
          <a:xfrm>
            <a:off x="594360" y="4407408"/>
            <a:ext cx="3520440" cy="841248"/>
          </a:xfrm>
          <a:prstGeom prst="roundRect">
            <a:avLst>
              <a:gd name="adj" fmla="val 6522"/>
            </a:avLst>
          </a:prstGeom>
          <a:solidFill>
            <a:srgbClr val="E3EDF1"/>
          </a:solidFill>
          <a:ln/>
        </p:spPr>
      </p:sp>
      <p:sp>
        <p:nvSpPr>
          <p:cNvPr id="19" name="Text 17"/>
          <p:cNvSpPr txBox="1"/>
          <p:nvPr/>
        </p:nvSpPr>
        <p:spPr>
          <a:xfrm>
            <a:off x="813816" y="4498848"/>
            <a:ext cx="3081528" cy="256032"/>
          </a:xfrm>
          <a:prstGeom prst="rect">
            <a:avLst/>
          </a:prstGeom>
          <a:noFill/>
          <a:ln/>
        </p:spPr>
        <p:txBody>
          <a:bodyPr wrap="square" lIns="0" tIns="0" rIns="0" bIns="0" rtlCol="0" anchor="ctr"/>
          <a:lstStyle/>
          <a:p>
            <a:pPr algn="l" indent="0" marL="0">
              <a:lnSpc>
                <a:spcPts val="1680"/>
              </a:lnSpc>
              <a:buNone/>
            </a:pPr>
            <a:r>
              <a:rPr lang="en-US" sz="1400" b="1" dirty="0">
                <a:solidFill>
                  <a:srgbClr val="516673"/>
                </a:solidFill>
                <a:latin typeface="Arial" pitchFamily="34" charset="0"/>
                <a:ea typeface="Arial" pitchFamily="34" charset="-122"/>
                <a:cs typeface="Arial" pitchFamily="34" charset="-120"/>
              </a:rPr>
              <a:t>SEVERIDAD</a:t>
            </a:r>
            <a:endParaRPr lang="en-US" sz="1400" dirty="0"/>
          </a:p>
        </p:txBody>
      </p:sp>
      <p:sp>
        <p:nvSpPr>
          <p:cNvPr id="20" name="Text 18"/>
          <p:cNvSpPr txBox="1"/>
          <p:nvPr/>
        </p:nvSpPr>
        <p:spPr>
          <a:xfrm>
            <a:off x="813816" y="4773168"/>
            <a:ext cx="3081528" cy="384048"/>
          </a:xfrm>
          <a:prstGeom prst="rect">
            <a:avLst/>
          </a:prstGeom>
          <a:noFill/>
          <a:ln/>
        </p:spPr>
        <p:txBody>
          <a:bodyPr wrap="square" lIns="0" tIns="0" rIns="0" bIns="0" rtlCol="0" anchor="ctr"/>
          <a:lstStyle/>
          <a:p>
            <a:pPr algn="l" indent="0" marL="0">
              <a:lnSpc>
                <a:spcPts val="2040"/>
              </a:lnSpc>
              <a:buNone/>
            </a:pPr>
            <a:r>
              <a:rPr lang="en-US" sz="1700" b="1" dirty="0">
                <a:solidFill>
                  <a:srgbClr val="142D3D"/>
                </a:solidFill>
                <a:latin typeface="Arial" pitchFamily="34" charset="0"/>
                <a:ea typeface="Arial" pitchFamily="34" charset="-122"/>
                <a:cs typeface="Arial" pitchFamily="34" charset="-120"/>
              </a:rPr>
              <a:t>Alta</a:t>
            </a:r>
            <a:endParaRPr lang="en-US" sz="1700" dirty="0"/>
          </a:p>
        </p:txBody>
      </p:sp>
      <p:sp>
        <p:nvSpPr>
          <p:cNvPr id="21" name="Shape 19"/>
          <p:cNvSpPr/>
          <p:nvPr/>
        </p:nvSpPr>
        <p:spPr>
          <a:xfrm>
            <a:off x="4334256" y="4407408"/>
            <a:ext cx="3520440" cy="841248"/>
          </a:xfrm>
          <a:prstGeom prst="roundRect">
            <a:avLst>
              <a:gd name="adj" fmla="val 6522"/>
            </a:avLst>
          </a:prstGeom>
          <a:solidFill>
            <a:srgbClr val="E3EDF1"/>
          </a:solidFill>
          <a:ln/>
        </p:spPr>
      </p:sp>
      <p:sp>
        <p:nvSpPr>
          <p:cNvPr id="22" name="Text 20"/>
          <p:cNvSpPr txBox="1"/>
          <p:nvPr/>
        </p:nvSpPr>
        <p:spPr>
          <a:xfrm>
            <a:off x="4553712" y="4498848"/>
            <a:ext cx="3081528" cy="256032"/>
          </a:xfrm>
          <a:prstGeom prst="rect">
            <a:avLst/>
          </a:prstGeom>
          <a:noFill/>
          <a:ln/>
        </p:spPr>
        <p:txBody>
          <a:bodyPr wrap="square" lIns="0" tIns="0" rIns="0" bIns="0" rtlCol="0" anchor="ctr"/>
          <a:lstStyle/>
          <a:p>
            <a:pPr algn="l" indent="0" marL="0">
              <a:lnSpc>
                <a:spcPts val="1680"/>
              </a:lnSpc>
              <a:buNone/>
            </a:pPr>
            <a:r>
              <a:rPr lang="en-US" sz="1400" b="1" dirty="0">
                <a:solidFill>
                  <a:srgbClr val="516673"/>
                </a:solidFill>
                <a:latin typeface="Arial" pitchFamily="34" charset="0"/>
                <a:ea typeface="Arial" pitchFamily="34" charset="-122"/>
                <a:cs typeface="Arial" pitchFamily="34" charset="-120"/>
              </a:rPr>
              <a:t>PRIORIDAD PROPUESTA</a:t>
            </a:r>
            <a:endParaRPr lang="en-US" sz="1400" dirty="0"/>
          </a:p>
        </p:txBody>
      </p:sp>
      <p:sp>
        <p:nvSpPr>
          <p:cNvPr id="23" name="Text 21"/>
          <p:cNvSpPr txBox="1"/>
          <p:nvPr/>
        </p:nvSpPr>
        <p:spPr>
          <a:xfrm>
            <a:off x="4553712" y="4773168"/>
            <a:ext cx="3081528" cy="384048"/>
          </a:xfrm>
          <a:prstGeom prst="rect">
            <a:avLst/>
          </a:prstGeom>
          <a:noFill/>
          <a:ln/>
        </p:spPr>
        <p:txBody>
          <a:bodyPr wrap="square" lIns="0" tIns="0" rIns="0" bIns="0" rtlCol="0" anchor="ctr"/>
          <a:lstStyle/>
          <a:p>
            <a:pPr algn="l" indent="0" marL="0">
              <a:lnSpc>
                <a:spcPts val="2040"/>
              </a:lnSpc>
              <a:buNone/>
            </a:pPr>
            <a:r>
              <a:rPr lang="en-US" sz="1700" b="1" dirty="0">
                <a:solidFill>
                  <a:srgbClr val="142D3D"/>
                </a:solidFill>
                <a:latin typeface="Arial" pitchFamily="34" charset="0"/>
                <a:ea typeface="Arial" pitchFamily="34" charset="-122"/>
                <a:cs typeface="Arial" pitchFamily="34" charset="-120"/>
              </a:rPr>
              <a:t>Alta</a:t>
            </a:r>
            <a:endParaRPr lang="en-US" sz="1700" dirty="0"/>
          </a:p>
        </p:txBody>
      </p:sp>
      <p:sp>
        <p:nvSpPr>
          <p:cNvPr id="24" name="Shape 22"/>
          <p:cNvSpPr/>
          <p:nvPr/>
        </p:nvSpPr>
        <p:spPr>
          <a:xfrm>
            <a:off x="8074152" y="4407408"/>
            <a:ext cx="3520440" cy="841248"/>
          </a:xfrm>
          <a:prstGeom prst="roundRect">
            <a:avLst>
              <a:gd name="adj" fmla="val 6522"/>
            </a:avLst>
          </a:prstGeom>
          <a:solidFill>
            <a:srgbClr val="E3EDF1"/>
          </a:solidFill>
          <a:ln/>
        </p:spPr>
      </p:sp>
      <p:sp>
        <p:nvSpPr>
          <p:cNvPr id="25" name="Text 23"/>
          <p:cNvSpPr txBox="1"/>
          <p:nvPr/>
        </p:nvSpPr>
        <p:spPr>
          <a:xfrm>
            <a:off x="8293608" y="4498848"/>
            <a:ext cx="3081528" cy="256032"/>
          </a:xfrm>
          <a:prstGeom prst="rect">
            <a:avLst/>
          </a:prstGeom>
          <a:noFill/>
          <a:ln/>
        </p:spPr>
        <p:txBody>
          <a:bodyPr wrap="square" lIns="0" tIns="0" rIns="0" bIns="0" rtlCol="0" anchor="ctr"/>
          <a:lstStyle/>
          <a:p>
            <a:pPr algn="l" indent="0" marL="0">
              <a:lnSpc>
                <a:spcPts val="1680"/>
              </a:lnSpc>
              <a:buNone/>
            </a:pPr>
            <a:r>
              <a:rPr lang="en-US" sz="1400" b="1" dirty="0">
                <a:solidFill>
                  <a:srgbClr val="516673"/>
                </a:solidFill>
                <a:latin typeface="Arial" pitchFamily="34" charset="0"/>
                <a:ea typeface="Arial" pitchFamily="34" charset="-122"/>
                <a:cs typeface="Arial" pitchFamily="34" charset="-120"/>
              </a:rPr>
              <a:t>ESTADO</a:t>
            </a:r>
            <a:endParaRPr lang="en-US" sz="1400" dirty="0"/>
          </a:p>
        </p:txBody>
      </p:sp>
      <p:sp>
        <p:nvSpPr>
          <p:cNvPr id="26" name="Text 24"/>
          <p:cNvSpPr txBox="1"/>
          <p:nvPr/>
        </p:nvSpPr>
        <p:spPr>
          <a:xfrm>
            <a:off x="8293608" y="4773168"/>
            <a:ext cx="3081528" cy="384048"/>
          </a:xfrm>
          <a:prstGeom prst="rect">
            <a:avLst/>
          </a:prstGeom>
          <a:noFill/>
          <a:ln/>
        </p:spPr>
        <p:txBody>
          <a:bodyPr wrap="square" lIns="0" tIns="0" rIns="0" bIns="0" rtlCol="0" anchor="ctr"/>
          <a:lstStyle/>
          <a:p>
            <a:pPr algn="l" indent="0" marL="0">
              <a:lnSpc>
                <a:spcPts val="2040"/>
              </a:lnSpc>
              <a:buNone/>
            </a:pPr>
            <a:r>
              <a:rPr lang="en-US" sz="1700" b="1" dirty="0">
                <a:solidFill>
                  <a:srgbClr val="142D3D"/>
                </a:solidFill>
                <a:latin typeface="Arial" pitchFamily="34" charset="0"/>
                <a:ea typeface="Arial" pitchFamily="34" charset="-122"/>
                <a:cs typeface="Arial" pitchFamily="34" charset="-120"/>
              </a:rPr>
              <a:t>Abierto · reproducido 25/09</a:t>
            </a:r>
            <a:endParaRPr lang="en-US" sz="1700" dirty="0"/>
          </a:p>
        </p:txBody>
      </p:sp>
      <p:sp>
        <p:nvSpPr>
          <p:cNvPr id="27" name="Text 25"/>
          <p:cNvSpPr txBox="1"/>
          <p:nvPr/>
        </p:nvSpPr>
        <p:spPr>
          <a:xfrm>
            <a:off x="594360" y="5440680"/>
            <a:ext cx="11002975" cy="685800"/>
          </a:xfrm>
          <a:prstGeom prst="rect">
            <a:avLst/>
          </a:prstGeom>
          <a:noFill/>
          <a:ln/>
        </p:spPr>
        <p:txBody>
          <a:bodyPr wrap="square" lIns="0" tIns="0" rIns="0" bIns="0" rtlCol="0" anchor="t"/>
          <a:lstStyle/>
          <a:p>
            <a:pPr algn="l" indent="0" marL="0">
              <a:lnSpc>
                <a:spcPts val="1920"/>
              </a:lnSpc>
              <a:buNone/>
            </a:pPr>
            <a:r>
              <a:rPr lang="en-US" sz="1600" dirty="0">
                <a:solidFill>
                  <a:srgbClr val="516673"/>
                </a:solidFill>
                <a:latin typeface="Arial" pitchFamily="34" charset="0"/>
                <a:ea typeface="Arial" pitchFamily="34" charset="-122"/>
                <a:cs typeface="Arial" pitchFamily="34" charset="-120"/>
              </a:rPr>
              <a:t>Eco Tax: hipótesis, no causa confirmada. No inspeccionamos código.</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6F8"/>
        </a:solidFill>
      </p:bgPr>
    </p:bg>
    <p:spTree>
      <p:nvGrpSpPr>
        <p:cNvPr id="1" name=""/>
        <p:cNvGrpSpPr/>
        <p:nvPr/>
      </p:nvGrpSpPr>
      <p:grpSpPr>
        <a:xfrm>
          <a:off x="0" y="0"/>
          <a:ext cx="0" cy="0"/>
          <a:chOff x="0" y="0"/>
          <a:chExt cx="0" cy="0"/>
        </a:xfrm>
      </p:grpSpPr>
      <p:sp>
        <p:nvSpPr>
          <p:cNvPr id="2" name="Shape 0"/>
          <p:cNvSpPr/>
          <p:nvPr/>
        </p:nvSpPr>
        <p:spPr>
          <a:xfrm>
            <a:off x="594360" y="457200"/>
            <a:ext cx="457200" cy="457200"/>
          </a:xfrm>
          <a:prstGeom prst="ellipse">
            <a:avLst/>
          </a:prstGeom>
          <a:solidFill>
            <a:srgbClr val="007C9F"/>
          </a:solidFill>
          <a:ln/>
        </p:spPr>
      </p:sp>
      <p:sp>
        <p:nvSpPr>
          <p:cNvPr id="3" name="Text 1"/>
          <p:cNvSpPr txBox="1"/>
          <p:nvPr/>
        </p:nvSpPr>
        <p:spPr>
          <a:xfrm>
            <a:off x="594360" y="457200"/>
            <a:ext cx="457200" cy="457200"/>
          </a:xfrm>
          <a:prstGeom prst="rect">
            <a:avLst/>
          </a:prstGeom>
          <a:noFill/>
          <a:ln/>
        </p:spPr>
        <p:txBody>
          <a:bodyPr wrap="square" lIns="0" tIns="0" rIns="0" bIns="0" rtlCol="0" anchor="ctr"/>
          <a:lstStyle/>
          <a:p>
            <a:pPr algn="ctr" indent="0" marL="0">
              <a:lnSpc>
                <a:spcPts val="1920"/>
              </a:lnSpc>
              <a:buNone/>
            </a:pPr>
            <a:r>
              <a:rPr lang="en-US" sz="1600" b="1" dirty="0">
                <a:solidFill>
                  <a:srgbClr val="FFFFFF"/>
                </a:solidFill>
                <a:latin typeface="Arial" pitchFamily="34" charset="0"/>
                <a:ea typeface="Arial" pitchFamily="34" charset="-122"/>
                <a:cs typeface="Arial" pitchFamily="34" charset="-120"/>
              </a:rPr>
              <a:t>8</a:t>
            </a:r>
            <a:endParaRPr lang="en-US" sz="1600" dirty="0"/>
          </a:p>
        </p:txBody>
      </p:sp>
      <p:sp>
        <p:nvSpPr>
          <p:cNvPr id="4" name="Text 2"/>
          <p:cNvSpPr txBox="1"/>
          <p:nvPr/>
        </p:nvSpPr>
        <p:spPr>
          <a:xfrm>
            <a:off x="1207008" y="429768"/>
            <a:ext cx="7726680" cy="530352"/>
          </a:xfrm>
          <a:prstGeom prst="rect">
            <a:avLst/>
          </a:prstGeom>
          <a:noFill/>
          <a:ln/>
        </p:spPr>
        <p:txBody>
          <a:bodyPr wrap="square" lIns="0" tIns="0" rIns="0" bIns="0" rtlCol="0" anchor="ctr"/>
          <a:lstStyle/>
          <a:p>
            <a:pPr algn="l" indent="0" marL="0">
              <a:lnSpc>
                <a:spcPts val="3360"/>
              </a:lnSpc>
              <a:buNone/>
            </a:pPr>
            <a:r>
              <a:rPr lang="en-US" sz="2800" b="1" dirty="0">
                <a:solidFill>
                  <a:srgbClr val="142D3D"/>
                </a:solidFill>
                <a:latin typeface="Arial" pitchFamily="34" charset="0"/>
                <a:ea typeface="Arial" pitchFamily="34" charset="-122"/>
                <a:cs typeface="Arial" pitchFamily="34" charset="-120"/>
              </a:rPr>
              <a:t>Frontera de stock y alcance del veredicto</a:t>
            </a:r>
            <a:endParaRPr lang="en-US" sz="2800" dirty="0"/>
          </a:p>
        </p:txBody>
      </p:sp>
      <p:sp>
        <p:nvSpPr>
          <p:cNvPr id="5" name="Text 3"/>
          <p:cNvSpPr txBox="1"/>
          <p:nvPr/>
        </p:nvSpPr>
        <p:spPr>
          <a:xfrm>
            <a:off x="9006840" y="429768"/>
            <a:ext cx="2590495" cy="530352"/>
          </a:xfrm>
          <a:prstGeom prst="rect">
            <a:avLst/>
          </a:prstGeom>
          <a:noFill/>
          <a:ln/>
        </p:spPr>
        <p:txBody>
          <a:bodyPr wrap="square" lIns="0" tIns="0" rIns="0" bIns="0" rtlCol="0" anchor="ctr"/>
          <a:lstStyle/>
          <a:p>
            <a:pPr algn="r" indent="0" marL="0">
              <a:lnSpc>
                <a:spcPts val="1680"/>
              </a:lnSpc>
              <a:buNone/>
            </a:pPr>
            <a:r>
              <a:rPr lang="en-US" sz="1400" dirty="0">
                <a:solidFill>
                  <a:srgbClr val="516673"/>
                </a:solidFill>
                <a:latin typeface="Arial" pitchFamily="34" charset="0"/>
                <a:ea typeface="Arial" pitchFamily="34" charset="-122"/>
                <a:cs typeface="Arial" pitchFamily="34" charset="-120"/>
              </a:rPr>
              <a:t>Franco · 5:10–6:00</a:t>
            </a:r>
            <a:endParaRPr lang="en-US" sz="1400" dirty="0"/>
          </a:p>
        </p:txBody>
      </p:sp>
      <p:sp>
        <p:nvSpPr>
          <p:cNvPr id="6" name="Shape 4"/>
          <p:cNvSpPr/>
          <p:nvPr/>
        </p:nvSpPr>
        <p:spPr>
          <a:xfrm>
            <a:off x="594360" y="1664208"/>
            <a:ext cx="5413248" cy="1234440"/>
          </a:xfrm>
          <a:prstGeom prst="roundRect">
            <a:avLst>
              <a:gd name="adj" fmla="val 4444"/>
            </a:avLst>
          </a:prstGeom>
          <a:solidFill>
            <a:srgbClr val="FFFFFF"/>
          </a:solidFill>
          <a:ln w="9525">
            <a:solidFill>
              <a:srgbClr val="D3DEE4"/>
            </a:solidFill>
            <a:prstDash val="solid"/>
          </a:ln>
        </p:spPr>
      </p:sp>
      <p:sp>
        <p:nvSpPr>
          <p:cNvPr id="7" name="Text 5"/>
          <p:cNvSpPr txBox="1"/>
          <p:nvPr/>
        </p:nvSpPr>
        <p:spPr>
          <a:xfrm>
            <a:off x="850392" y="1810512"/>
            <a:ext cx="4901184" cy="438912"/>
          </a:xfrm>
          <a:prstGeom prst="rect">
            <a:avLst/>
          </a:prstGeom>
          <a:noFill/>
          <a:ln/>
        </p:spPr>
        <p:txBody>
          <a:bodyPr wrap="square" lIns="0" tIns="0" rIns="0" bIns="0" rtlCol="0" anchor="ctr"/>
          <a:lstStyle/>
          <a:p>
            <a:pPr algn="l" indent="0" marL="0">
              <a:lnSpc>
                <a:spcPts val="3120"/>
              </a:lnSpc>
              <a:buNone/>
            </a:pPr>
            <a:r>
              <a:rPr lang="en-US" sz="2600" b="1" dirty="0">
                <a:solidFill>
                  <a:srgbClr val="142D3D"/>
                </a:solidFill>
                <a:latin typeface="Arial" pitchFamily="34" charset="0"/>
                <a:ea typeface="Arial" pitchFamily="34" charset="-122"/>
                <a:cs typeface="Arial" pitchFamily="34" charset="-120"/>
              </a:rPr>
              <a:t>147 unidades</a:t>
            </a:r>
            <a:endParaRPr lang="en-US" sz="2600" dirty="0"/>
          </a:p>
        </p:txBody>
      </p:sp>
      <p:sp>
        <p:nvSpPr>
          <p:cNvPr id="8" name="Text 6"/>
          <p:cNvSpPr txBox="1"/>
          <p:nvPr/>
        </p:nvSpPr>
        <p:spPr>
          <a:xfrm>
            <a:off x="850392" y="2267712"/>
            <a:ext cx="4901184" cy="530352"/>
          </a:xfrm>
          <a:prstGeom prst="rect">
            <a:avLst/>
          </a:prstGeom>
          <a:noFill/>
          <a:ln/>
        </p:spPr>
        <p:txBody>
          <a:bodyPr wrap="square" lIns="0" tIns="0" rIns="0" bIns="0" rtlCol="0" anchor="t"/>
          <a:lstStyle/>
          <a:p>
            <a:pPr algn="l" indent="0" marL="0">
              <a:lnSpc>
                <a:spcPts val="1920"/>
              </a:lnSpc>
              <a:buNone/>
            </a:pPr>
            <a:r>
              <a:rPr lang="en-US" sz="1600" dirty="0">
                <a:solidFill>
                  <a:srgbClr val="516673"/>
                </a:solidFill>
                <a:latin typeface="Arial" pitchFamily="34" charset="0"/>
                <a:ea typeface="Arial" pitchFamily="34" charset="-122"/>
                <a:cs typeface="Arial" pitchFamily="34" charset="-120"/>
              </a:rPr>
              <a:t>Sin señal de insuficiencia</a:t>
            </a:r>
            <a:endParaRPr lang="en-US" sz="1600" dirty="0"/>
          </a:p>
        </p:txBody>
      </p:sp>
      <p:sp>
        <p:nvSpPr>
          <p:cNvPr id="9" name="Shape 7"/>
          <p:cNvSpPr/>
          <p:nvPr/>
        </p:nvSpPr>
        <p:spPr>
          <a:xfrm>
            <a:off x="6199632" y="1664208"/>
            <a:ext cx="5413248" cy="1234440"/>
          </a:xfrm>
          <a:prstGeom prst="roundRect">
            <a:avLst>
              <a:gd name="adj" fmla="val 4444"/>
            </a:avLst>
          </a:prstGeom>
          <a:solidFill>
            <a:srgbClr val="FFFFFF"/>
          </a:solidFill>
          <a:ln w="9525">
            <a:solidFill>
              <a:srgbClr val="D3DEE4"/>
            </a:solidFill>
            <a:prstDash val="solid"/>
          </a:ln>
        </p:spPr>
      </p:sp>
      <p:sp>
        <p:nvSpPr>
          <p:cNvPr id="10" name="Text 8"/>
          <p:cNvSpPr txBox="1"/>
          <p:nvPr/>
        </p:nvSpPr>
        <p:spPr>
          <a:xfrm>
            <a:off x="6455664" y="1810512"/>
            <a:ext cx="4901184" cy="438912"/>
          </a:xfrm>
          <a:prstGeom prst="rect">
            <a:avLst/>
          </a:prstGeom>
          <a:noFill/>
          <a:ln/>
        </p:spPr>
        <p:txBody>
          <a:bodyPr wrap="square" lIns="0" tIns="0" rIns="0" bIns="0" rtlCol="0" anchor="ctr"/>
          <a:lstStyle/>
          <a:p>
            <a:pPr algn="l" indent="0" marL="0">
              <a:lnSpc>
                <a:spcPts val="3120"/>
              </a:lnSpc>
              <a:buNone/>
            </a:pPr>
            <a:r>
              <a:rPr lang="en-US" sz="2600" b="1" dirty="0">
                <a:solidFill>
                  <a:srgbClr val="142D3D"/>
                </a:solidFill>
                <a:latin typeface="Arial" pitchFamily="34" charset="0"/>
                <a:ea typeface="Arial" pitchFamily="34" charset="-122"/>
                <a:cs typeface="Arial" pitchFamily="34" charset="-120"/>
              </a:rPr>
              <a:t>148 unidades</a:t>
            </a:r>
            <a:endParaRPr lang="en-US" sz="2600" dirty="0"/>
          </a:p>
        </p:txBody>
      </p:sp>
      <p:sp>
        <p:nvSpPr>
          <p:cNvPr id="11" name="Text 9"/>
          <p:cNvSpPr txBox="1"/>
          <p:nvPr/>
        </p:nvSpPr>
        <p:spPr>
          <a:xfrm>
            <a:off x="6455664" y="2267712"/>
            <a:ext cx="4901184" cy="530352"/>
          </a:xfrm>
          <a:prstGeom prst="rect">
            <a:avLst/>
          </a:prstGeom>
          <a:noFill/>
          <a:ln/>
        </p:spPr>
        <p:txBody>
          <a:bodyPr wrap="square" lIns="0" tIns="0" rIns="0" bIns="0" rtlCol="0" anchor="t"/>
          <a:lstStyle/>
          <a:p>
            <a:pPr algn="l" indent="0" marL="0">
              <a:lnSpc>
                <a:spcPts val="1920"/>
              </a:lnSpc>
              <a:buNone/>
            </a:pPr>
            <a:r>
              <a:rPr lang="en-US" sz="1600" dirty="0">
                <a:solidFill>
                  <a:srgbClr val="516673"/>
                </a:solidFill>
                <a:latin typeface="Arial" pitchFamily="34" charset="0"/>
                <a:ea typeface="Arial" pitchFamily="34" charset="-122"/>
                <a:cs typeface="Arial" pitchFamily="34" charset="-120"/>
              </a:rPr>
              <a:t>Falta de stock · el checkout devuelve al carrito</a:t>
            </a:r>
            <a:endParaRPr lang="en-US" sz="1600" dirty="0"/>
          </a:p>
        </p:txBody>
      </p:sp>
      <p:sp>
        <p:nvSpPr>
          <p:cNvPr id="12" name="Shape 10"/>
          <p:cNvSpPr/>
          <p:nvPr/>
        </p:nvSpPr>
        <p:spPr>
          <a:xfrm>
            <a:off x="594360" y="3035808"/>
            <a:ext cx="11002975" cy="877824"/>
          </a:xfrm>
          <a:prstGeom prst="roundRect">
            <a:avLst>
              <a:gd name="adj" fmla="val 6250"/>
            </a:avLst>
          </a:prstGeom>
          <a:solidFill>
            <a:srgbClr val="FFFFFF"/>
          </a:solidFill>
          <a:ln w="9525">
            <a:solidFill>
              <a:srgbClr val="D3DEE4"/>
            </a:solidFill>
            <a:prstDash val="solid"/>
          </a:ln>
        </p:spPr>
      </p:sp>
      <p:sp>
        <p:nvSpPr>
          <p:cNvPr id="13" name="Text 11"/>
          <p:cNvSpPr txBox="1"/>
          <p:nvPr/>
        </p:nvSpPr>
        <p:spPr>
          <a:xfrm>
            <a:off x="850392" y="3127248"/>
            <a:ext cx="4572000" cy="274320"/>
          </a:xfrm>
          <a:prstGeom prst="rect">
            <a:avLst/>
          </a:prstGeom>
          <a:noFill/>
          <a:ln/>
        </p:spPr>
        <p:txBody>
          <a:bodyPr wrap="square" lIns="0" tIns="0" rIns="0" bIns="0" rtlCol="0" anchor="ctr"/>
          <a:lstStyle/>
          <a:p>
            <a:pPr algn="l" indent="0" marL="0">
              <a:lnSpc>
                <a:spcPts val="1680"/>
              </a:lnSpc>
              <a:buNone/>
            </a:pPr>
            <a:r>
              <a:rPr lang="en-US" sz="1400" b="1" dirty="0">
                <a:solidFill>
                  <a:srgbClr val="007C9F"/>
                </a:solidFill>
                <a:latin typeface="Arial" pitchFamily="34" charset="0"/>
                <a:ea typeface="Arial" pitchFamily="34" charset="-122"/>
                <a:cs typeface="Arial" pitchFamily="34" charset="-120"/>
              </a:rPr>
              <a:t>CANTIDADES NO VÁLIDAS</a:t>
            </a:r>
            <a:endParaRPr lang="en-US" sz="1400" dirty="0"/>
          </a:p>
        </p:txBody>
      </p:sp>
      <p:sp>
        <p:nvSpPr>
          <p:cNvPr id="14" name="Text 12"/>
          <p:cNvSpPr txBox="1"/>
          <p:nvPr/>
        </p:nvSpPr>
        <p:spPr>
          <a:xfrm>
            <a:off x="850392" y="3419856"/>
            <a:ext cx="10490911" cy="530352"/>
          </a:xfrm>
          <a:prstGeom prst="rect">
            <a:avLst/>
          </a:prstGeom>
          <a:noFill/>
          <a:ln/>
        </p:spPr>
        <p:txBody>
          <a:bodyPr wrap="square" lIns="0" tIns="0" rIns="0" bIns="0" rtlCol="0" anchor="t"/>
          <a:lstStyle/>
          <a:p>
            <a:pPr algn="l" indent="0" marL="0">
              <a:lnSpc>
                <a:spcPts val="2040"/>
              </a:lnSpc>
              <a:buNone/>
            </a:pPr>
            <a:r>
              <a:rPr lang="en-US" sz="1700" b="1" dirty="0">
                <a:solidFill>
                  <a:srgbClr val="142D3D"/>
                </a:solidFill>
                <a:latin typeface="Arial" pitchFamily="34" charset="0"/>
                <a:ea typeface="Arial" pitchFamily="34" charset="-122"/>
                <a:cs typeface="Arial" pitchFamily="34" charset="-120"/>
              </a:rPr>
              <a:t>0 · −1 · abc</a:t>
            </a:r>
            <a:pPr algn="l" indent="0" marL="0">
              <a:lnSpc>
                <a:spcPts val="2040"/>
              </a:lnSpc>
              <a:buNone/>
            </a:pPr>
            <a:r>
              <a:rPr lang="en-US" sz="1600" dirty="0">
                <a:solidFill>
                  <a:srgbClr val="516673"/>
                </a:solidFill>
                <a:latin typeface="Arial" pitchFamily="34" charset="0"/>
                <a:ea typeface="Arial" pitchFamily="34" charset="-122"/>
                <a:cs typeface="Arial" pitchFamily="34" charset="-120"/>
              </a:rPr>
              <a:t>  retiran la línea        </a:t>
            </a:r>
            <a:pPr algn="l" indent="0" marL="0">
              <a:lnSpc>
                <a:spcPts val="2040"/>
              </a:lnSpc>
              <a:buNone/>
            </a:pPr>
            <a:r>
              <a:rPr lang="en-US" sz="1700" b="1" dirty="0">
                <a:solidFill>
                  <a:srgbClr val="142D3D"/>
                </a:solidFill>
                <a:latin typeface="Arial" pitchFamily="34" charset="0"/>
                <a:ea typeface="Arial" pitchFamily="34" charset="-122"/>
                <a:cs typeface="Arial" pitchFamily="34" charset="-120"/>
              </a:rPr>
              <a:t>1.5 · vacío</a:t>
            </a:r>
            <a:pPr algn="l" indent="0" marL="0">
              <a:lnSpc>
                <a:spcPts val="2040"/>
              </a:lnSpc>
              <a:buNone/>
            </a:pPr>
            <a:r>
              <a:rPr lang="en-US" sz="1600" dirty="0">
                <a:solidFill>
                  <a:srgbClr val="516673"/>
                </a:solidFill>
                <a:latin typeface="Arial" pitchFamily="34" charset="0"/>
                <a:ea typeface="Arial" pitchFamily="34" charset="-122"/>
                <a:cs typeface="Arial" pitchFamily="34" charset="-120"/>
              </a:rPr>
              <a:t>  se normalizan a 1 (observación)</a:t>
            </a:r>
            <a:endParaRPr lang="en-US" sz="1700" dirty="0"/>
          </a:p>
        </p:txBody>
      </p:sp>
      <p:sp>
        <p:nvSpPr>
          <p:cNvPr id="15" name="Shape 13"/>
          <p:cNvSpPr/>
          <p:nvPr/>
        </p:nvSpPr>
        <p:spPr>
          <a:xfrm>
            <a:off x="594360" y="4059936"/>
            <a:ext cx="11002975" cy="1152144"/>
          </a:xfrm>
          <a:prstGeom prst="roundRect">
            <a:avLst>
              <a:gd name="adj" fmla="val 4762"/>
            </a:avLst>
          </a:prstGeom>
          <a:solidFill>
            <a:srgbClr val="E3EDF1"/>
          </a:solidFill>
          <a:ln/>
        </p:spPr>
      </p:sp>
      <p:sp>
        <p:nvSpPr>
          <p:cNvPr id="16" name="Shape 14"/>
          <p:cNvSpPr/>
          <p:nvPr/>
        </p:nvSpPr>
        <p:spPr>
          <a:xfrm>
            <a:off x="850392" y="4261104"/>
            <a:ext cx="762238" cy="301752"/>
          </a:xfrm>
          <a:prstGeom prst="roundRect">
            <a:avLst>
              <a:gd name="adj" fmla="val 15152"/>
            </a:avLst>
          </a:prstGeom>
          <a:solidFill>
            <a:srgbClr val="18744D"/>
          </a:solidFill>
          <a:ln/>
        </p:spPr>
      </p:sp>
      <p:sp>
        <p:nvSpPr>
          <p:cNvPr id="17" name="Text 15"/>
          <p:cNvSpPr txBox="1"/>
          <p:nvPr/>
        </p:nvSpPr>
        <p:spPr>
          <a:xfrm>
            <a:off x="850392" y="4261104"/>
            <a:ext cx="762238" cy="301752"/>
          </a:xfrm>
          <a:prstGeom prst="rect">
            <a:avLst/>
          </a:prstGeom>
          <a:noFill/>
          <a:ln/>
        </p:spPr>
        <p:txBody>
          <a:bodyPr wrap="square" lIns="25400" tIns="0" rIns="25400" bIns="0" rtlCol="0" anchor="ctr"/>
          <a:lstStyle/>
          <a:p>
            <a:pPr algn="ctr" indent="0" marL="0">
              <a:lnSpc>
                <a:spcPts val="1680"/>
              </a:lnSpc>
              <a:buNone/>
            </a:pPr>
            <a:r>
              <a:rPr lang="en-US" sz="1400" b="1" dirty="0">
                <a:solidFill>
                  <a:srgbClr val="FFFFFF"/>
                </a:solidFill>
                <a:latin typeface="Arial" pitchFamily="34" charset="0"/>
                <a:ea typeface="Arial" pitchFamily="34" charset="-122"/>
                <a:cs typeface="Arial" pitchFamily="34" charset="-120"/>
              </a:rPr>
              <a:t>PASÓ</a:t>
            </a:r>
            <a:endParaRPr lang="en-US" sz="1400" dirty="0"/>
          </a:p>
        </p:txBody>
      </p:sp>
      <p:sp>
        <p:nvSpPr>
          <p:cNvPr id="18" name="Text 16"/>
          <p:cNvSpPr txBox="1"/>
          <p:nvPr/>
        </p:nvSpPr>
        <p:spPr>
          <a:xfrm>
            <a:off x="1813798" y="4261104"/>
            <a:ext cx="9509217" cy="301752"/>
          </a:xfrm>
          <a:prstGeom prst="rect">
            <a:avLst/>
          </a:prstGeom>
          <a:noFill/>
          <a:ln/>
        </p:spPr>
        <p:txBody>
          <a:bodyPr wrap="square" lIns="0" tIns="0" rIns="0" bIns="0" rtlCol="0" anchor="ctr"/>
          <a:lstStyle/>
          <a:p>
            <a:pPr algn="l" indent="0" marL="0">
              <a:lnSpc>
                <a:spcPts val="2040"/>
              </a:lnSpc>
              <a:buNone/>
            </a:pPr>
            <a:r>
              <a:rPr lang="en-US" sz="1700" b="1" dirty="0">
                <a:solidFill>
                  <a:srgbClr val="142D3D"/>
                </a:solidFill>
                <a:latin typeface="Arial" pitchFamily="34" charset="0"/>
                <a:ea typeface="Arial" pitchFamily="34" charset="-122"/>
                <a:cs typeface="Arial" pitchFamily="34" charset="-120"/>
              </a:rPr>
              <a:t>CP-CAR-02 · integridad de cantidades y frontera de stock</a:t>
            </a:r>
            <a:endParaRPr lang="en-US" sz="1700" dirty="0"/>
          </a:p>
        </p:txBody>
      </p:sp>
      <p:sp>
        <p:nvSpPr>
          <p:cNvPr id="19" name="Text 17"/>
          <p:cNvSpPr txBox="1"/>
          <p:nvPr/>
        </p:nvSpPr>
        <p:spPr>
          <a:xfrm>
            <a:off x="850392" y="4645152"/>
            <a:ext cx="10490911" cy="512064"/>
          </a:xfrm>
          <a:prstGeom prst="rect">
            <a:avLst/>
          </a:prstGeom>
          <a:noFill/>
          <a:ln/>
        </p:spPr>
        <p:txBody>
          <a:bodyPr wrap="square" lIns="0" tIns="0" rIns="0" bIns="0" rtlCol="0" anchor="t"/>
          <a:lstStyle/>
          <a:p>
            <a:pPr algn="l" indent="0" marL="0">
              <a:lnSpc>
                <a:spcPts val="1920"/>
              </a:lnSpc>
              <a:buNone/>
            </a:pPr>
            <a:r>
              <a:rPr lang="en-US" sz="1600" dirty="0">
                <a:solidFill>
                  <a:srgbClr val="142D3D"/>
                </a:solidFill>
                <a:latin typeface="Arial" pitchFamily="34" charset="0"/>
                <a:ea typeface="Arial" pitchFamily="34" charset="-122"/>
                <a:cs typeface="Arial" pitchFamily="34" charset="-120"/>
              </a:rPr>
              <a:t>No cubre el cálculo monetario (CP-CAR-01, Falló) ni una compra completada.</a:t>
            </a:r>
            <a:endParaRPr lang="en-US" sz="1600" dirty="0"/>
          </a:p>
        </p:txBody>
      </p:sp>
      <p:sp>
        <p:nvSpPr>
          <p:cNvPr id="20" name="Text 18"/>
          <p:cNvSpPr txBox="1"/>
          <p:nvPr/>
        </p:nvSpPr>
        <p:spPr>
          <a:xfrm>
            <a:off x="594360" y="5367528"/>
            <a:ext cx="11002975" cy="384048"/>
          </a:xfrm>
          <a:prstGeom prst="rect">
            <a:avLst/>
          </a:prstGeom>
          <a:noFill/>
          <a:ln/>
        </p:spPr>
        <p:txBody>
          <a:bodyPr wrap="square" lIns="0" tIns="0" rIns="0" bIns="0" rtlCol="0" anchor="ctr"/>
          <a:lstStyle/>
          <a:p>
            <a:pPr algn="l" indent="0" marL="0">
              <a:lnSpc>
                <a:spcPts val="1920"/>
              </a:lnSpc>
              <a:buNone/>
            </a:pPr>
            <a:r>
              <a:rPr lang="en-US" sz="1600" b="1" dirty="0">
                <a:solidFill>
                  <a:srgbClr val="516673"/>
                </a:solidFill>
                <a:latin typeface="Arial" pitchFamily="34" charset="0"/>
                <a:ea typeface="Arial" pitchFamily="34" charset="-122"/>
                <a:cs typeface="Arial" pitchFamily="34" charset="-120"/>
              </a:rPr>
              <a:t>Bloque de Franco · 7 casos Alta:  3 Pasó · 1 Falló · 3 Bloqueado</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6F8"/>
        </a:solidFill>
      </p:bgPr>
    </p:bg>
    <p:spTree>
      <p:nvGrpSpPr>
        <p:cNvPr id="1" name=""/>
        <p:cNvGrpSpPr/>
        <p:nvPr/>
      </p:nvGrpSpPr>
      <p:grpSpPr>
        <a:xfrm>
          <a:off x="0" y="0"/>
          <a:ext cx="0" cy="0"/>
          <a:chOff x="0" y="0"/>
          <a:chExt cx="0" cy="0"/>
        </a:xfrm>
      </p:grpSpPr>
      <p:sp>
        <p:nvSpPr>
          <p:cNvPr id="2" name="Shape 0"/>
          <p:cNvSpPr/>
          <p:nvPr/>
        </p:nvSpPr>
        <p:spPr>
          <a:xfrm>
            <a:off x="594360" y="457200"/>
            <a:ext cx="457200" cy="457200"/>
          </a:xfrm>
          <a:prstGeom prst="ellipse">
            <a:avLst/>
          </a:prstGeom>
          <a:solidFill>
            <a:srgbClr val="007C9F"/>
          </a:solidFill>
          <a:ln/>
        </p:spPr>
      </p:sp>
      <p:sp>
        <p:nvSpPr>
          <p:cNvPr id="3" name="Text 1"/>
          <p:cNvSpPr txBox="1"/>
          <p:nvPr/>
        </p:nvSpPr>
        <p:spPr>
          <a:xfrm>
            <a:off x="594360" y="457200"/>
            <a:ext cx="457200" cy="457200"/>
          </a:xfrm>
          <a:prstGeom prst="rect">
            <a:avLst/>
          </a:prstGeom>
          <a:noFill/>
          <a:ln/>
        </p:spPr>
        <p:txBody>
          <a:bodyPr wrap="square" lIns="0" tIns="0" rIns="0" bIns="0" rtlCol="0" anchor="ctr"/>
          <a:lstStyle/>
          <a:p>
            <a:pPr algn="ctr" indent="0" marL="0">
              <a:lnSpc>
                <a:spcPts val="1920"/>
              </a:lnSpc>
              <a:buNone/>
            </a:pPr>
            <a:r>
              <a:rPr lang="en-US" sz="1600" b="1" dirty="0">
                <a:solidFill>
                  <a:srgbClr val="FFFFFF"/>
                </a:solidFill>
                <a:latin typeface="Arial" pitchFamily="34" charset="0"/>
                <a:ea typeface="Arial" pitchFamily="34" charset="-122"/>
                <a:cs typeface="Arial" pitchFamily="34" charset="-120"/>
              </a:rPr>
              <a:t>9</a:t>
            </a:r>
            <a:endParaRPr lang="en-US" sz="1600" dirty="0"/>
          </a:p>
        </p:txBody>
      </p:sp>
      <p:sp>
        <p:nvSpPr>
          <p:cNvPr id="4" name="Text 2"/>
          <p:cNvSpPr txBox="1"/>
          <p:nvPr/>
        </p:nvSpPr>
        <p:spPr>
          <a:xfrm>
            <a:off x="1207008" y="429768"/>
            <a:ext cx="7726680" cy="530352"/>
          </a:xfrm>
          <a:prstGeom prst="rect">
            <a:avLst/>
          </a:prstGeom>
          <a:noFill/>
          <a:ln/>
        </p:spPr>
        <p:txBody>
          <a:bodyPr wrap="square" lIns="0" tIns="0" rIns="0" bIns="0" rtlCol="0" anchor="ctr"/>
          <a:lstStyle/>
          <a:p>
            <a:pPr algn="l" indent="0" marL="0">
              <a:lnSpc>
                <a:spcPts val="3360"/>
              </a:lnSpc>
              <a:buNone/>
            </a:pPr>
            <a:r>
              <a:rPr lang="en-US" sz="2800" b="1" dirty="0">
                <a:solidFill>
                  <a:srgbClr val="142D3D"/>
                </a:solidFill>
                <a:latin typeface="Arial" pitchFamily="34" charset="0"/>
                <a:ea typeface="Arial" pitchFamily="34" charset="-122"/>
                <a:cs typeface="Arial" pitchFamily="34" charset="-120"/>
              </a:rPr>
              <a:t>DEF-04 · defecto abierto</a:t>
            </a:r>
            <a:endParaRPr lang="en-US" sz="2800" dirty="0"/>
          </a:p>
        </p:txBody>
      </p:sp>
      <p:sp>
        <p:nvSpPr>
          <p:cNvPr id="5" name="Text 3"/>
          <p:cNvSpPr txBox="1"/>
          <p:nvPr/>
        </p:nvSpPr>
        <p:spPr>
          <a:xfrm>
            <a:off x="9006840" y="429768"/>
            <a:ext cx="2590495" cy="530352"/>
          </a:xfrm>
          <a:prstGeom prst="rect">
            <a:avLst/>
          </a:prstGeom>
          <a:noFill/>
          <a:ln/>
        </p:spPr>
        <p:txBody>
          <a:bodyPr wrap="square" lIns="0" tIns="0" rIns="0" bIns="0" rtlCol="0" anchor="ctr"/>
          <a:lstStyle/>
          <a:p>
            <a:pPr algn="r" indent="0" marL="0">
              <a:lnSpc>
                <a:spcPts val="1680"/>
              </a:lnSpc>
              <a:buNone/>
            </a:pPr>
            <a:r>
              <a:rPr lang="en-US" sz="1400" dirty="0">
                <a:solidFill>
                  <a:srgbClr val="516673"/>
                </a:solidFill>
                <a:latin typeface="Arial" pitchFamily="34" charset="0"/>
                <a:ea typeface="Arial" pitchFamily="34" charset="-122"/>
                <a:cs typeface="Arial" pitchFamily="34" charset="-120"/>
              </a:rPr>
              <a:t>Granit · 6:00–7:05</a:t>
            </a:r>
            <a:endParaRPr lang="en-US" sz="1400" dirty="0"/>
          </a:p>
        </p:txBody>
      </p:sp>
      <p:sp>
        <p:nvSpPr>
          <p:cNvPr id="6" name="Shape 4"/>
          <p:cNvSpPr/>
          <p:nvPr/>
        </p:nvSpPr>
        <p:spPr>
          <a:xfrm>
            <a:off x="594360" y="1664208"/>
            <a:ext cx="11002975" cy="896112"/>
          </a:xfrm>
          <a:prstGeom prst="roundRect">
            <a:avLst>
              <a:gd name="adj" fmla="val 6122"/>
            </a:avLst>
          </a:prstGeom>
          <a:solidFill>
            <a:srgbClr val="FFFFFF"/>
          </a:solidFill>
          <a:ln w="9525">
            <a:solidFill>
              <a:srgbClr val="D3DEE4"/>
            </a:solidFill>
            <a:prstDash val="solid"/>
          </a:ln>
        </p:spPr>
      </p:sp>
      <p:sp>
        <p:nvSpPr>
          <p:cNvPr id="7" name="Text 5"/>
          <p:cNvSpPr txBox="1"/>
          <p:nvPr/>
        </p:nvSpPr>
        <p:spPr>
          <a:xfrm>
            <a:off x="850392" y="1664208"/>
            <a:ext cx="10490911" cy="896112"/>
          </a:xfrm>
          <a:prstGeom prst="rect">
            <a:avLst/>
          </a:prstGeom>
          <a:noFill/>
          <a:ln/>
        </p:spPr>
        <p:txBody>
          <a:bodyPr wrap="square" lIns="0" tIns="0" rIns="0" bIns="0" rtlCol="0" anchor="ctr"/>
          <a:lstStyle/>
          <a:p>
            <a:pPr algn="l" indent="0" marL="0">
              <a:lnSpc>
                <a:spcPts val="2400"/>
              </a:lnSpc>
              <a:buNone/>
            </a:pPr>
            <a:r>
              <a:rPr lang="en-US" sz="2000" b="1" dirty="0">
                <a:solidFill>
                  <a:srgbClr val="142D3D"/>
                </a:solidFill>
                <a:latin typeface="Arial" pitchFamily="34" charset="0"/>
                <a:ea typeface="Arial" pitchFamily="34" charset="-122"/>
                <a:cs typeface="Arial" pitchFamily="34" charset="-120"/>
              </a:rPr>
              <a:t>[Checkout] No se ofrece método de pago aplicable en el recorrido de invitado ensayado</a:t>
            </a:r>
            <a:endParaRPr lang="en-US" sz="2000" dirty="0"/>
          </a:p>
        </p:txBody>
      </p:sp>
      <p:sp>
        <p:nvSpPr>
          <p:cNvPr id="8" name="Shape 6"/>
          <p:cNvSpPr/>
          <p:nvPr/>
        </p:nvSpPr>
        <p:spPr>
          <a:xfrm>
            <a:off x="594360" y="2670048"/>
            <a:ext cx="6903720" cy="1298448"/>
          </a:xfrm>
          <a:prstGeom prst="roundRect">
            <a:avLst>
              <a:gd name="adj" fmla="val 4225"/>
            </a:avLst>
          </a:prstGeom>
          <a:solidFill>
            <a:srgbClr val="FFFFFF"/>
          </a:solidFill>
          <a:ln w="9525">
            <a:solidFill>
              <a:srgbClr val="D3DEE4"/>
            </a:solidFill>
            <a:prstDash val="solid"/>
          </a:ln>
        </p:spPr>
      </p:sp>
      <p:sp>
        <p:nvSpPr>
          <p:cNvPr id="9" name="Text 7"/>
          <p:cNvSpPr txBox="1"/>
          <p:nvPr/>
        </p:nvSpPr>
        <p:spPr>
          <a:xfrm>
            <a:off x="850392" y="2779776"/>
            <a:ext cx="5486400" cy="274320"/>
          </a:xfrm>
          <a:prstGeom prst="rect">
            <a:avLst/>
          </a:prstGeom>
          <a:noFill/>
          <a:ln/>
        </p:spPr>
        <p:txBody>
          <a:bodyPr wrap="square" lIns="0" tIns="0" rIns="0" bIns="0" rtlCol="0" anchor="ctr"/>
          <a:lstStyle/>
          <a:p>
            <a:pPr algn="l" indent="0" marL="0">
              <a:lnSpc>
                <a:spcPts val="1680"/>
              </a:lnSpc>
              <a:buNone/>
            </a:pPr>
            <a:r>
              <a:rPr lang="en-US" sz="1400" b="1" dirty="0">
                <a:solidFill>
                  <a:srgbClr val="007C9F"/>
                </a:solidFill>
                <a:latin typeface="Arial" pitchFamily="34" charset="0"/>
                <a:ea typeface="Arial" pitchFamily="34" charset="-122"/>
                <a:cs typeface="Arial" pitchFamily="34" charset="-120"/>
              </a:rPr>
              <a:t>MENSAJE LITERAL DEL SISTEMA</a:t>
            </a:r>
            <a:endParaRPr lang="en-US" sz="1400" dirty="0"/>
          </a:p>
        </p:txBody>
      </p:sp>
      <p:sp>
        <p:nvSpPr>
          <p:cNvPr id="10" name="Text 8"/>
          <p:cNvSpPr txBox="1"/>
          <p:nvPr/>
        </p:nvSpPr>
        <p:spPr>
          <a:xfrm>
            <a:off x="850392" y="3072384"/>
            <a:ext cx="6400800" cy="457200"/>
          </a:xfrm>
          <a:prstGeom prst="rect">
            <a:avLst/>
          </a:prstGeom>
          <a:noFill/>
          <a:ln/>
        </p:spPr>
        <p:txBody>
          <a:bodyPr wrap="square" lIns="0" tIns="0" rIns="0" bIns="0" rtlCol="0" anchor="ctr"/>
          <a:lstStyle/>
          <a:p>
            <a:pPr algn="l" indent="0" marL="0">
              <a:lnSpc>
                <a:spcPts val="2640"/>
              </a:lnSpc>
              <a:buNone/>
            </a:pPr>
            <a:r>
              <a:rPr lang="en-US" sz="2200" b="1" dirty="0">
                <a:solidFill>
                  <a:srgbClr val="BA3C3C"/>
                </a:solidFill>
                <a:latin typeface="Arial" pitchFamily="34" charset="0"/>
                <a:ea typeface="Arial" pitchFamily="34" charset="-122"/>
                <a:cs typeface="Arial" pitchFamily="34" charset="-120"/>
              </a:rPr>
              <a:t>«No Payment options are available»</a:t>
            </a:r>
            <a:endParaRPr lang="en-US" sz="2200" dirty="0"/>
          </a:p>
        </p:txBody>
      </p:sp>
      <p:sp>
        <p:nvSpPr>
          <p:cNvPr id="11" name="Text 9"/>
          <p:cNvSpPr txBox="1"/>
          <p:nvPr/>
        </p:nvSpPr>
        <p:spPr>
          <a:xfrm>
            <a:off x="850392" y="3547872"/>
            <a:ext cx="6400800" cy="310896"/>
          </a:xfrm>
          <a:prstGeom prst="rect">
            <a:avLst/>
          </a:prstGeom>
          <a:noFill/>
          <a:ln/>
        </p:spPr>
        <p:txBody>
          <a:bodyPr wrap="square" lIns="0" tIns="0" rIns="0" bIns="0" rtlCol="0" anchor="ctr"/>
          <a:lstStyle/>
          <a:p>
            <a:pPr algn="l" indent="0" marL="0">
              <a:lnSpc>
                <a:spcPts val="1920"/>
              </a:lnSpc>
              <a:buNone/>
            </a:pPr>
            <a:r>
              <a:rPr lang="en-US" sz="1600" dirty="0">
                <a:solidFill>
                  <a:srgbClr val="516673"/>
                </a:solidFill>
                <a:latin typeface="Arial" pitchFamily="34" charset="0"/>
                <a:ea typeface="Arial" pitchFamily="34" charset="-122"/>
                <a:cs typeface="Arial" pitchFamily="34" charset="-120"/>
              </a:rPr>
              <a:t>Confirm Order queda deshabilitado.</a:t>
            </a:r>
            <a:endParaRPr lang="en-US" sz="1600" dirty="0"/>
          </a:p>
        </p:txBody>
      </p:sp>
      <p:sp>
        <p:nvSpPr>
          <p:cNvPr id="12" name="Shape 10"/>
          <p:cNvSpPr/>
          <p:nvPr/>
        </p:nvSpPr>
        <p:spPr>
          <a:xfrm>
            <a:off x="7699248" y="2670048"/>
            <a:ext cx="3898087" cy="1298448"/>
          </a:xfrm>
          <a:prstGeom prst="roundRect">
            <a:avLst>
              <a:gd name="adj" fmla="val 4225"/>
            </a:avLst>
          </a:prstGeom>
          <a:solidFill>
            <a:srgbClr val="E3EDF1"/>
          </a:solidFill>
          <a:ln/>
        </p:spPr>
      </p:sp>
      <p:sp>
        <p:nvSpPr>
          <p:cNvPr id="13" name="Text 11"/>
          <p:cNvSpPr txBox="1"/>
          <p:nvPr/>
        </p:nvSpPr>
        <p:spPr>
          <a:xfrm>
            <a:off x="7955280" y="2779776"/>
            <a:ext cx="3474720" cy="274320"/>
          </a:xfrm>
          <a:prstGeom prst="rect">
            <a:avLst/>
          </a:prstGeom>
          <a:noFill/>
          <a:ln/>
        </p:spPr>
        <p:txBody>
          <a:bodyPr wrap="square" lIns="0" tIns="0" rIns="0" bIns="0" rtlCol="0" anchor="ctr"/>
          <a:lstStyle/>
          <a:p>
            <a:pPr algn="l" indent="0" marL="0">
              <a:lnSpc>
                <a:spcPts val="1680"/>
              </a:lnSpc>
              <a:buNone/>
            </a:pPr>
            <a:r>
              <a:rPr lang="en-US" sz="1400" b="1" dirty="0">
                <a:solidFill>
                  <a:srgbClr val="18744D"/>
                </a:solidFill>
                <a:latin typeface="Arial" pitchFamily="34" charset="0"/>
                <a:ea typeface="Arial" pitchFamily="34" charset="-122"/>
                <a:cs typeface="Arial" pitchFamily="34" charset="-120"/>
              </a:rPr>
              <a:t>LO QUE SÍ FUNCIONÓ</a:t>
            </a:r>
            <a:endParaRPr lang="en-US" sz="1400" dirty="0"/>
          </a:p>
        </p:txBody>
      </p:sp>
      <p:sp>
        <p:nvSpPr>
          <p:cNvPr id="14" name="Text 12"/>
          <p:cNvSpPr txBox="1"/>
          <p:nvPr/>
        </p:nvSpPr>
        <p:spPr>
          <a:xfrm>
            <a:off x="7955280" y="3090672"/>
            <a:ext cx="3386023" cy="731520"/>
          </a:xfrm>
          <a:prstGeom prst="rect">
            <a:avLst/>
          </a:prstGeom>
          <a:noFill/>
          <a:ln/>
        </p:spPr>
        <p:txBody>
          <a:bodyPr wrap="square" lIns="0" tIns="0" rIns="0" bIns="0" rtlCol="0" anchor="t"/>
          <a:lstStyle/>
          <a:p>
            <a:pPr algn="l" indent="0" marL="0">
              <a:lnSpc>
                <a:spcPts val="1920"/>
              </a:lnSpc>
              <a:buNone/>
            </a:pPr>
            <a:r>
              <a:rPr lang="en-US" sz="1600" dirty="0">
                <a:solidFill>
                  <a:srgbClr val="142D3D"/>
                </a:solidFill>
                <a:latin typeface="Arial" pitchFamily="34" charset="0"/>
                <a:ea typeface="Arial" pitchFamily="34" charset="-122"/>
                <a:cs typeface="Arial" pitchFamily="34" charset="-120"/>
              </a:rPr>
              <a:t>Apellido vacío validado · datos del invitado guardados.</a:t>
            </a:r>
            <a:endParaRPr lang="en-US" sz="1600" dirty="0"/>
          </a:p>
        </p:txBody>
      </p:sp>
      <p:sp>
        <p:nvSpPr>
          <p:cNvPr id="15" name="Shape 13"/>
          <p:cNvSpPr/>
          <p:nvPr/>
        </p:nvSpPr>
        <p:spPr>
          <a:xfrm>
            <a:off x="594360" y="4096512"/>
            <a:ext cx="3520440" cy="841248"/>
          </a:xfrm>
          <a:prstGeom prst="roundRect">
            <a:avLst>
              <a:gd name="adj" fmla="val 6522"/>
            </a:avLst>
          </a:prstGeom>
          <a:solidFill>
            <a:srgbClr val="FFFFFF"/>
          </a:solidFill>
          <a:ln w="9525">
            <a:solidFill>
              <a:srgbClr val="D3DEE4"/>
            </a:solidFill>
            <a:prstDash val="solid"/>
          </a:ln>
        </p:spPr>
      </p:sp>
      <p:sp>
        <p:nvSpPr>
          <p:cNvPr id="16" name="Text 14"/>
          <p:cNvSpPr txBox="1"/>
          <p:nvPr/>
        </p:nvSpPr>
        <p:spPr>
          <a:xfrm>
            <a:off x="813816" y="4187952"/>
            <a:ext cx="3081528" cy="256032"/>
          </a:xfrm>
          <a:prstGeom prst="rect">
            <a:avLst/>
          </a:prstGeom>
          <a:noFill/>
          <a:ln/>
        </p:spPr>
        <p:txBody>
          <a:bodyPr wrap="square" lIns="0" tIns="0" rIns="0" bIns="0" rtlCol="0" anchor="ctr"/>
          <a:lstStyle/>
          <a:p>
            <a:pPr algn="l" indent="0" marL="0">
              <a:lnSpc>
                <a:spcPts val="1680"/>
              </a:lnSpc>
              <a:buNone/>
            </a:pPr>
            <a:r>
              <a:rPr lang="en-US" sz="1400" b="1" dirty="0">
                <a:solidFill>
                  <a:srgbClr val="516673"/>
                </a:solidFill>
                <a:latin typeface="Arial" pitchFamily="34" charset="0"/>
                <a:ea typeface="Arial" pitchFamily="34" charset="-122"/>
                <a:cs typeface="Arial" pitchFamily="34" charset="-120"/>
              </a:rPr>
              <a:t>SEVERIDAD</a:t>
            </a:r>
            <a:endParaRPr lang="en-US" sz="1400" dirty="0"/>
          </a:p>
        </p:txBody>
      </p:sp>
      <p:sp>
        <p:nvSpPr>
          <p:cNvPr id="17" name="Text 15"/>
          <p:cNvSpPr txBox="1"/>
          <p:nvPr/>
        </p:nvSpPr>
        <p:spPr>
          <a:xfrm>
            <a:off x="813816" y="4462272"/>
            <a:ext cx="3081528" cy="384048"/>
          </a:xfrm>
          <a:prstGeom prst="rect">
            <a:avLst/>
          </a:prstGeom>
          <a:noFill/>
          <a:ln/>
        </p:spPr>
        <p:txBody>
          <a:bodyPr wrap="square" lIns="0" tIns="0" rIns="0" bIns="0" rtlCol="0" anchor="ctr"/>
          <a:lstStyle/>
          <a:p>
            <a:pPr algn="l" indent="0" marL="0">
              <a:lnSpc>
                <a:spcPts val="1920"/>
              </a:lnSpc>
              <a:buNone/>
            </a:pPr>
            <a:r>
              <a:rPr lang="en-US" sz="1600" b="1" dirty="0">
                <a:solidFill>
                  <a:srgbClr val="142D3D"/>
                </a:solidFill>
                <a:latin typeface="Arial" pitchFamily="34" charset="0"/>
                <a:ea typeface="Arial" pitchFamily="34" charset="-122"/>
                <a:cs typeface="Arial" pitchFamily="34" charset="-120"/>
              </a:rPr>
              <a:t>Crítica para este recorrido</a:t>
            </a:r>
            <a:endParaRPr lang="en-US" sz="1600" dirty="0"/>
          </a:p>
        </p:txBody>
      </p:sp>
      <p:sp>
        <p:nvSpPr>
          <p:cNvPr id="18" name="Shape 16"/>
          <p:cNvSpPr/>
          <p:nvPr/>
        </p:nvSpPr>
        <p:spPr>
          <a:xfrm>
            <a:off x="4334256" y="4096512"/>
            <a:ext cx="3520440" cy="841248"/>
          </a:xfrm>
          <a:prstGeom prst="roundRect">
            <a:avLst>
              <a:gd name="adj" fmla="val 6522"/>
            </a:avLst>
          </a:prstGeom>
          <a:solidFill>
            <a:srgbClr val="FFFFFF"/>
          </a:solidFill>
          <a:ln w="9525">
            <a:solidFill>
              <a:srgbClr val="D3DEE4"/>
            </a:solidFill>
            <a:prstDash val="solid"/>
          </a:ln>
        </p:spPr>
      </p:sp>
      <p:sp>
        <p:nvSpPr>
          <p:cNvPr id="19" name="Text 17"/>
          <p:cNvSpPr txBox="1"/>
          <p:nvPr/>
        </p:nvSpPr>
        <p:spPr>
          <a:xfrm>
            <a:off x="4553712" y="4187952"/>
            <a:ext cx="3081528" cy="256032"/>
          </a:xfrm>
          <a:prstGeom prst="rect">
            <a:avLst/>
          </a:prstGeom>
          <a:noFill/>
          <a:ln/>
        </p:spPr>
        <p:txBody>
          <a:bodyPr wrap="square" lIns="0" tIns="0" rIns="0" bIns="0" rtlCol="0" anchor="ctr"/>
          <a:lstStyle/>
          <a:p>
            <a:pPr algn="l" indent="0" marL="0">
              <a:lnSpc>
                <a:spcPts val="1680"/>
              </a:lnSpc>
              <a:buNone/>
            </a:pPr>
            <a:r>
              <a:rPr lang="en-US" sz="1400" b="1" dirty="0">
                <a:solidFill>
                  <a:srgbClr val="516673"/>
                </a:solidFill>
                <a:latin typeface="Arial" pitchFamily="34" charset="0"/>
                <a:ea typeface="Arial" pitchFamily="34" charset="-122"/>
                <a:cs typeface="Arial" pitchFamily="34" charset="-120"/>
              </a:rPr>
              <a:t>PRIORIDAD PROPUESTA</a:t>
            </a:r>
            <a:endParaRPr lang="en-US" sz="1400" dirty="0"/>
          </a:p>
        </p:txBody>
      </p:sp>
      <p:sp>
        <p:nvSpPr>
          <p:cNvPr id="20" name="Text 18"/>
          <p:cNvSpPr txBox="1"/>
          <p:nvPr/>
        </p:nvSpPr>
        <p:spPr>
          <a:xfrm>
            <a:off x="4553712" y="4462272"/>
            <a:ext cx="3081528" cy="384048"/>
          </a:xfrm>
          <a:prstGeom prst="rect">
            <a:avLst/>
          </a:prstGeom>
          <a:noFill/>
          <a:ln/>
        </p:spPr>
        <p:txBody>
          <a:bodyPr wrap="square" lIns="0" tIns="0" rIns="0" bIns="0" rtlCol="0" anchor="ctr"/>
          <a:lstStyle/>
          <a:p>
            <a:pPr algn="l" indent="0" marL="0">
              <a:lnSpc>
                <a:spcPts val="1920"/>
              </a:lnSpc>
              <a:buNone/>
            </a:pPr>
            <a:r>
              <a:rPr lang="en-US" sz="1600" b="1" dirty="0">
                <a:solidFill>
                  <a:srgbClr val="142D3D"/>
                </a:solidFill>
                <a:latin typeface="Arial" pitchFamily="34" charset="0"/>
                <a:ea typeface="Arial" pitchFamily="34" charset="-122"/>
                <a:cs typeface="Arial" pitchFamily="34" charset="-120"/>
              </a:rPr>
              <a:t>Alta</a:t>
            </a:r>
            <a:endParaRPr lang="en-US" sz="1600" dirty="0"/>
          </a:p>
        </p:txBody>
      </p:sp>
      <p:sp>
        <p:nvSpPr>
          <p:cNvPr id="21" name="Shape 19"/>
          <p:cNvSpPr/>
          <p:nvPr/>
        </p:nvSpPr>
        <p:spPr>
          <a:xfrm>
            <a:off x="8074152" y="4096512"/>
            <a:ext cx="3520440" cy="841248"/>
          </a:xfrm>
          <a:prstGeom prst="roundRect">
            <a:avLst>
              <a:gd name="adj" fmla="val 6522"/>
            </a:avLst>
          </a:prstGeom>
          <a:solidFill>
            <a:srgbClr val="FFFFFF"/>
          </a:solidFill>
          <a:ln w="9525">
            <a:solidFill>
              <a:srgbClr val="D3DEE4"/>
            </a:solidFill>
            <a:prstDash val="solid"/>
          </a:ln>
        </p:spPr>
      </p:sp>
      <p:sp>
        <p:nvSpPr>
          <p:cNvPr id="22" name="Text 20"/>
          <p:cNvSpPr txBox="1"/>
          <p:nvPr/>
        </p:nvSpPr>
        <p:spPr>
          <a:xfrm>
            <a:off x="8293608" y="4187952"/>
            <a:ext cx="3081528" cy="256032"/>
          </a:xfrm>
          <a:prstGeom prst="rect">
            <a:avLst/>
          </a:prstGeom>
          <a:noFill/>
          <a:ln/>
        </p:spPr>
        <p:txBody>
          <a:bodyPr wrap="square" lIns="0" tIns="0" rIns="0" bIns="0" rtlCol="0" anchor="ctr"/>
          <a:lstStyle/>
          <a:p>
            <a:pPr algn="l" indent="0" marL="0">
              <a:lnSpc>
                <a:spcPts val="1680"/>
              </a:lnSpc>
              <a:buNone/>
            </a:pPr>
            <a:r>
              <a:rPr lang="en-US" sz="1400" b="1" dirty="0">
                <a:solidFill>
                  <a:srgbClr val="516673"/>
                </a:solidFill>
                <a:latin typeface="Arial" pitchFamily="34" charset="0"/>
                <a:ea typeface="Arial" pitchFamily="34" charset="-122"/>
                <a:cs typeface="Arial" pitchFamily="34" charset="-120"/>
              </a:rPr>
              <a:t>ESTADO</a:t>
            </a:r>
            <a:endParaRPr lang="en-US" sz="1400" dirty="0"/>
          </a:p>
        </p:txBody>
      </p:sp>
      <p:sp>
        <p:nvSpPr>
          <p:cNvPr id="23" name="Text 21"/>
          <p:cNvSpPr txBox="1"/>
          <p:nvPr/>
        </p:nvSpPr>
        <p:spPr>
          <a:xfrm>
            <a:off x="8293608" y="4462272"/>
            <a:ext cx="3081528" cy="384048"/>
          </a:xfrm>
          <a:prstGeom prst="rect">
            <a:avLst/>
          </a:prstGeom>
          <a:noFill/>
          <a:ln/>
        </p:spPr>
        <p:txBody>
          <a:bodyPr wrap="square" lIns="0" tIns="0" rIns="0" bIns="0" rtlCol="0" anchor="ctr"/>
          <a:lstStyle/>
          <a:p>
            <a:pPr algn="l" indent="0" marL="0">
              <a:lnSpc>
                <a:spcPts val="1920"/>
              </a:lnSpc>
              <a:buNone/>
            </a:pPr>
            <a:r>
              <a:rPr lang="en-US" sz="1600" b="1" dirty="0">
                <a:solidFill>
                  <a:srgbClr val="142D3D"/>
                </a:solidFill>
                <a:latin typeface="Arial" pitchFamily="34" charset="0"/>
                <a:ea typeface="Arial" pitchFamily="34" charset="-122"/>
                <a:cs typeface="Arial" pitchFamily="34" charset="-120"/>
              </a:rPr>
              <a:t>Abierto · causa en análisis</a:t>
            </a:r>
            <a:endParaRPr lang="en-US" sz="1600" dirty="0"/>
          </a:p>
        </p:txBody>
      </p:sp>
      <p:sp>
        <p:nvSpPr>
          <p:cNvPr id="24" name="Shape 22"/>
          <p:cNvSpPr/>
          <p:nvPr/>
        </p:nvSpPr>
        <p:spPr>
          <a:xfrm>
            <a:off x="594360" y="5047488"/>
            <a:ext cx="11002975" cy="658368"/>
          </a:xfrm>
          <a:prstGeom prst="roundRect">
            <a:avLst>
              <a:gd name="adj" fmla="val 8333"/>
            </a:avLst>
          </a:prstGeom>
          <a:solidFill>
            <a:srgbClr val="E3EDF1"/>
          </a:solidFill>
          <a:ln/>
        </p:spPr>
      </p:sp>
      <p:sp>
        <p:nvSpPr>
          <p:cNvPr id="25" name="Text 23"/>
          <p:cNvSpPr txBox="1"/>
          <p:nvPr/>
        </p:nvSpPr>
        <p:spPr>
          <a:xfrm>
            <a:off x="850392" y="5047488"/>
            <a:ext cx="10490911" cy="658368"/>
          </a:xfrm>
          <a:prstGeom prst="rect">
            <a:avLst/>
          </a:prstGeom>
          <a:noFill/>
          <a:ln/>
        </p:spPr>
        <p:txBody>
          <a:bodyPr wrap="square" lIns="0" tIns="0" rIns="0" bIns="0" rtlCol="0" anchor="ctr"/>
          <a:lstStyle/>
          <a:p>
            <a:pPr algn="l" indent="0" marL="0">
              <a:lnSpc>
                <a:spcPts val="2280"/>
              </a:lnSpc>
              <a:buNone/>
            </a:pPr>
            <a:r>
              <a:rPr lang="en-US" sz="1900" b="1" dirty="0">
                <a:solidFill>
                  <a:srgbClr val="142D3D"/>
                </a:solidFill>
                <a:latin typeface="Arial" pitchFamily="34" charset="0"/>
                <a:ea typeface="Arial" pitchFamily="34" charset="-122"/>
                <a:cs typeface="Arial" pitchFamily="34" charset="-120"/>
              </a:rPr>
              <a:t>En el recorrido probado, el cliente no puede pagar.</a:t>
            </a:r>
            <a:endParaRPr lang="en-US" sz="1900" dirty="0"/>
          </a:p>
        </p:txBody>
      </p:sp>
      <p:sp>
        <p:nvSpPr>
          <p:cNvPr id="26" name="Text 24"/>
          <p:cNvSpPr txBox="1"/>
          <p:nvPr/>
        </p:nvSpPr>
        <p:spPr>
          <a:xfrm>
            <a:off x="594360" y="5806440"/>
            <a:ext cx="11002975" cy="384048"/>
          </a:xfrm>
          <a:prstGeom prst="rect">
            <a:avLst/>
          </a:prstGeom>
          <a:noFill/>
          <a:ln/>
        </p:spPr>
        <p:txBody>
          <a:bodyPr wrap="square" lIns="0" tIns="0" rIns="0" bIns="0" rtlCol="0" anchor="ctr"/>
          <a:lstStyle/>
          <a:p>
            <a:pPr algn="l" indent="0" marL="0">
              <a:lnSpc>
                <a:spcPts val="1800"/>
              </a:lnSpc>
              <a:buNone/>
            </a:pPr>
            <a:r>
              <a:rPr lang="en-US" sz="1500" dirty="0">
                <a:solidFill>
                  <a:srgbClr val="516673"/>
                </a:solidFill>
                <a:latin typeface="Arial" pitchFamily="34" charset="0"/>
                <a:ea typeface="Arial" pitchFamily="34" charset="-122"/>
                <a:cs typeface="Arial" pitchFamily="34" charset="-120"/>
              </a:rPr>
              <a:t>Cash on Delivery habilitado en el panel: pista, no causa confirmada.</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F6F8"/>
        </a:solidFill>
      </p:bgPr>
    </p:bg>
    <p:spTree>
      <p:nvGrpSpPr>
        <p:cNvPr id="1" name=""/>
        <p:cNvGrpSpPr/>
        <p:nvPr/>
      </p:nvGrpSpPr>
      <p:grpSpPr>
        <a:xfrm>
          <a:off x="0" y="0"/>
          <a:ext cx="0" cy="0"/>
          <a:chOff x="0" y="0"/>
          <a:chExt cx="0" cy="0"/>
        </a:xfrm>
      </p:grpSpPr>
      <p:sp>
        <p:nvSpPr>
          <p:cNvPr id="2" name="Shape 0"/>
          <p:cNvSpPr/>
          <p:nvPr/>
        </p:nvSpPr>
        <p:spPr>
          <a:xfrm>
            <a:off x="594360" y="457200"/>
            <a:ext cx="457200" cy="457200"/>
          </a:xfrm>
          <a:prstGeom prst="ellipse">
            <a:avLst/>
          </a:prstGeom>
          <a:solidFill>
            <a:srgbClr val="007C9F"/>
          </a:solidFill>
          <a:ln/>
        </p:spPr>
      </p:sp>
      <p:sp>
        <p:nvSpPr>
          <p:cNvPr id="3" name="Text 1"/>
          <p:cNvSpPr txBox="1"/>
          <p:nvPr/>
        </p:nvSpPr>
        <p:spPr>
          <a:xfrm>
            <a:off x="594360" y="457200"/>
            <a:ext cx="457200" cy="457200"/>
          </a:xfrm>
          <a:prstGeom prst="rect">
            <a:avLst/>
          </a:prstGeom>
          <a:noFill/>
          <a:ln/>
        </p:spPr>
        <p:txBody>
          <a:bodyPr wrap="square" lIns="0" tIns="0" rIns="0" bIns="0" rtlCol="0" anchor="ctr"/>
          <a:lstStyle/>
          <a:p>
            <a:pPr algn="ctr" indent="0" marL="0">
              <a:lnSpc>
                <a:spcPts val="1920"/>
              </a:lnSpc>
              <a:buNone/>
            </a:pPr>
            <a:r>
              <a:rPr lang="en-US" sz="1600" b="1" dirty="0">
                <a:solidFill>
                  <a:srgbClr val="FFFFFF"/>
                </a:solidFill>
                <a:latin typeface="Arial" pitchFamily="34" charset="0"/>
                <a:ea typeface="Arial" pitchFamily="34" charset="-122"/>
                <a:cs typeface="Arial" pitchFamily="34" charset="-120"/>
              </a:rPr>
              <a:t>10</a:t>
            </a:r>
            <a:endParaRPr lang="en-US" sz="1600" dirty="0"/>
          </a:p>
        </p:txBody>
      </p:sp>
      <p:sp>
        <p:nvSpPr>
          <p:cNvPr id="4" name="Text 2"/>
          <p:cNvSpPr txBox="1"/>
          <p:nvPr/>
        </p:nvSpPr>
        <p:spPr>
          <a:xfrm>
            <a:off x="1207008" y="429768"/>
            <a:ext cx="7726680" cy="530352"/>
          </a:xfrm>
          <a:prstGeom prst="rect">
            <a:avLst/>
          </a:prstGeom>
          <a:noFill/>
          <a:ln/>
        </p:spPr>
        <p:txBody>
          <a:bodyPr wrap="square" lIns="0" tIns="0" rIns="0" bIns="0" rtlCol="0" anchor="ctr"/>
          <a:lstStyle/>
          <a:p>
            <a:pPr algn="l" indent="0" marL="0">
              <a:lnSpc>
                <a:spcPts val="3360"/>
              </a:lnSpc>
              <a:buNone/>
            </a:pPr>
            <a:r>
              <a:rPr lang="en-US" sz="2800" b="1" dirty="0">
                <a:solidFill>
                  <a:srgbClr val="142D3D"/>
                </a:solidFill>
                <a:latin typeface="Arial" pitchFamily="34" charset="0"/>
                <a:ea typeface="Arial" pitchFamily="34" charset="-122"/>
                <a:cs typeface="Arial" pitchFamily="34" charset="-120"/>
              </a:rPr>
              <a:t>Los nueve bloqueos tienen causas distintas</a:t>
            </a:r>
            <a:endParaRPr lang="en-US" sz="2800" dirty="0"/>
          </a:p>
        </p:txBody>
      </p:sp>
      <p:sp>
        <p:nvSpPr>
          <p:cNvPr id="5" name="Text 3"/>
          <p:cNvSpPr txBox="1"/>
          <p:nvPr/>
        </p:nvSpPr>
        <p:spPr>
          <a:xfrm>
            <a:off x="9006840" y="429768"/>
            <a:ext cx="2590495" cy="530352"/>
          </a:xfrm>
          <a:prstGeom prst="rect">
            <a:avLst/>
          </a:prstGeom>
          <a:noFill/>
          <a:ln/>
        </p:spPr>
        <p:txBody>
          <a:bodyPr wrap="square" lIns="0" tIns="0" rIns="0" bIns="0" rtlCol="0" anchor="ctr"/>
          <a:lstStyle/>
          <a:p>
            <a:pPr algn="r" indent="0" marL="0">
              <a:lnSpc>
                <a:spcPts val="1680"/>
              </a:lnSpc>
              <a:buNone/>
            </a:pPr>
            <a:r>
              <a:rPr lang="en-US" sz="1400" dirty="0">
                <a:solidFill>
                  <a:srgbClr val="516673"/>
                </a:solidFill>
                <a:latin typeface="Arial" pitchFamily="34" charset="0"/>
                <a:ea typeface="Arial" pitchFamily="34" charset="-122"/>
                <a:cs typeface="Arial" pitchFamily="34" charset="-120"/>
              </a:rPr>
              <a:t>Granit · 7:05–8:00</a:t>
            </a:r>
            <a:endParaRPr lang="en-US" sz="1400" dirty="0"/>
          </a:p>
        </p:txBody>
      </p:sp>
      <p:sp>
        <p:nvSpPr>
          <p:cNvPr id="6" name="Shape 4"/>
          <p:cNvSpPr/>
          <p:nvPr/>
        </p:nvSpPr>
        <p:spPr>
          <a:xfrm>
            <a:off x="594360" y="1664208"/>
            <a:ext cx="7178040" cy="868680"/>
          </a:xfrm>
          <a:prstGeom prst="roundRect">
            <a:avLst>
              <a:gd name="adj" fmla="val 6316"/>
            </a:avLst>
          </a:prstGeom>
          <a:solidFill>
            <a:srgbClr val="FFFFFF"/>
          </a:solidFill>
          <a:ln w="9525">
            <a:solidFill>
              <a:srgbClr val="D3DEE4"/>
            </a:solidFill>
            <a:prstDash val="solid"/>
          </a:ln>
        </p:spPr>
      </p:sp>
      <p:sp>
        <p:nvSpPr>
          <p:cNvPr id="7" name="Shape 5"/>
          <p:cNvSpPr/>
          <p:nvPr/>
        </p:nvSpPr>
        <p:spPr>
          <a:xfrm>
            <a:off x="832104" y="1856232"/>
            <a:ext cx="2197941" cy="301752"/>
          </a:xfrm>
          <a:prstGeom prst="roundRect">
            <a:avLst>
              <a:gd name="adj" fmla="val 15152"/>
            </a:avLst>
          </a:prstGeom>
          <a:solidFill>
            <a:srgbClr val="A46810"/>
          </a:solidFill>
          <a:ln/>
        </p:spPr>
      </p:sp>
      <p:sp>
        <p:nvSpPr>
          <p:cNvPr id="8" name="Text 6"/>
          <p:cNvSpPr txBox="1"/>
          <p:nvPr/>
        </p:nvSpPr>
        <p:spPr>
          <a:xfrm>
            <a:off x="832104" y="1856232"/>
            <a:ext cx="2197941" cy="301752"/>
          </a:xfrm>
          <a:prstGeom prst="rect">
            <a:avLst/>
          </a:prstGeom>
          <a:noFill/>
          <a:ln/>
        </p:spPr>
        <p:txBody>
          <a:bodyPr wrap="square" lIns="25400" tIns="0" rIns="25400" bIns="0" rtlCol="0" anchor="ctr"/>
          <a:lstStyle/>
          <a:p>
            <a:pPr algn="ctr" indent="0" marL="0">
              <a:lnSpc>
                <a:spcPts val="1680"/>
              </a:lnSpc>
              <a:buNone/>
            </a:pPr>
            <a:r>
              <a:rPr lang="en-US" sz="1400" b="1" dirty="0">
                <a:solidFill>
                  <a:srgbClr val="FFFFFF"/>
                </a:solidFill>
                <a:latin typeface="Arial" pitchFamily="34" charset="0"/>
                <a:ea typeface="Arial" pitchFamily="34" charset="-122"/>
                <a:cs typeface="Arial" pitchFamily="34" charset="-120"/>
              </a:rPr>
              <a:t>BLOQUEADO ≠ FALLÓ</a:t>
            </a:r>
            <a:endParaRPr lang="en-US" sz="1400" dirty="0"/>
          </a:p>
        </p:txBody>
      </p:sp>
      <p:sp>
        <p:nvSpPr>
          <p:cNvPr id="9" name="Text 7"/>
          <p:cNvSpPr txBox="1"/>
          <p:nvPr/>
        </p:nvSpPr>
        <p:spPr>
          <a:xfrm>
            <a:off x="3231213" y="1828800"/>
            <a:ext cx="4294299" cy="566928"/>
          </a:xfrm>
          <a:prstGeom prst="rect">
            <a:avLst/>
          </a:prstGeom>
          <a:noFill/>
          <a:ln/>
        </p:spPr>
        <p:txBody>
          <a:bodyPr wrap="square" lIns="0" tIns="0" rIns="0" bIns="0" rtlCol="0" anchor="ctr"/>
          <a:lstStyle/>
          <a:p>
            <a:pPr algn="l" indent="0" marL="0">
              <a:lnSpc>
                <a:spcPts val="1920"/>
              </a:lnSpc>
              <a:buNone/>
            </a:pPr>
            <a:r>
              <a:rPr lang="en-US" sz="1600" dirty="0">
                <a:solidFill>
                  <a:srgbClr val="142D3D"/>
                </a:solidFill>
                <a:latin typeface="Arial" pitchFamily="34" charset="0"/>
                <a:ea typeface="Arial" pitchFamily="34" charset="-122"/>
                <a:cs typeface="Arial" pitchFamily="34" charset="-120"/>
              </a:rPr>
              <a:t>Falló: el sistema se comportó distinto. Bloqueado: un impedimento impidió ejecutarlo.</a:t>
            </a:r>
            <a:endParaRPr lang="en-US" sz="1600" dirty="0"/>
          </a:p>
        </p:txBody>
      </p:sp>
      <p:sp>
        <p:nvSpPr>
          <p:cNvPr id="10" name="Shape 8"/>
          <p:cNvSpPr/>
          <p:nvPr/>
        </p:nvSpPr>
        <p:spPr>
          <a:xfrm>
            <a:off x="7973568" y="1664208"/>
            <a:ext cx="3623767" cy="868680"/>
          </a:xfrm>
          <a:prstGeom prst="roundRect">
            <a:avLst>
              <a:gd name="adj" fmla="val 6316"/>
            </a:avLst>
          </a:prstGeom>
          <a:solidFill>
            <a:srgbClr val="E3EDF1"/>
          </a:solidFill>
          <a:ln/>
        </p:spPr>
      </p:sp>
      <p:sp>
        <p:nvSpPr>
          <p:cNvPr id="11" name="Text 9"/>
          <p:cNvSpPr txBox="1"/>
          <p:nvPr/>
        </p:nvSpPr>
        <p:spPr>
          <a:xfrm>
            <a:off x="8229600" y="1737360"/>
            <a:ext cx="3108960" cy="384048"/>
          </a:xfrm>
          <a:prstGeom prst="rect">
            <a:avLst/>
          </a:prstGeom>
          <a:noFill/>
          <a:ln/>
        </p:spPr>
        <p:txBody>
          <a:bodyPr wrap="square" lIns="0" tIns="0" rIns="0" bIns="0" rtlCol="0" anchor="ctr"/>
          <a:lstStyle/>
          <a:p>
            <a:pPr algn="l" indent="0" marL="0">
              <a:lnSpc>
                <a:spcPts val="2640"/>
              </a:lnSpc>
              <a:buNone/>
            </a:pPr>
            <a:r>
              <a:rPr lang="en-US" sz="2200" b="1" dirty="0">
                <a:solidFill>
                  <a:srgbClr val="A46810"/>
                </a:solidFill>
                <a:latin typeface="Arial" pitchFamily="34" charset="0"/>
                <a:ea typeface="Arial" pitchFamily="34" charset="-122"/>
                <a:cs typeface="Arial" pitchFamily="34" charset="-120"/>
              </a:rPr>
              <a:t>9 de 14</a:t>
            </a:r>
            <a:endParaRPr lang="en-US" sz="2200" dirty="0"/>
          </a:p>
        </p:txBody>
      </p:sp>
      <p:sp>
        <p:nvSpPr>
          <p:cNvPr id="12" name="Text 10"/>
          <p:cNvSpPr txBox="1"/>
          <p:nvPr/>
        </p:nvSpPr>
        <p:spPr>
          <a:xfrm>
            <a:off x="8229600" y="2139696"/>
            <a:ext cx="3108960" cy="310896"/>
          </a:xfrm>
          <a:prstGeom prst="rect">
            <a:avLst/>
          </a:prstGeom>
          <a:noFill/>
          <a:ln/>
        </p:spPr>
        <p:txBody>
          <a:bodyPr wrap="square" lIns="0" tIns="0" rIns="0" bIns="0" rtlCol="0" anchor="ctr"/>
          <a:lstStyle/>
          <a:p>
            <a:pPr algn="l" indent="0" marL="0">
              <a:lnSpc>
                <a:spcPts val="1800"/>
              </a:lnSpc>
              <a:buNone/>
            </a:pPr>
            <a:r>
              <a:rPr lang="en-US" sz="1500" dirty="0">
                <a:solidFill>
                  <a:srgbClr val="516673"/>
                </a:solidFill>
                <a:latin typeface="Arial" pitchFamily="34" charset="0"/>
                <a:ea typeface="Arial" pitchFamily="34" charset="-122"/>
                <a:cs typeface="Arial" pitchFamily="34" charset="-120"/>
              </a:rPr>
              <a:t>casos Alta Bloqueados</a:t>
            </a:r>
            <a:endParaRPr lang="en-US" sz="1500" dirty="0"/>
          </a:p>
        </p:txBody>
      </p:sp>
      <p:sp>
        <p:nvSpPr>
          <p:cNvPr id="13" name="Shape 11"/>
          <p:cNvSpPr/>
          <p:nvPr/>
        </p:nvSpPr>
        <p:spPr>
          <a:xfrm>
            <a:off x="594360" y="2697480"/>
            <a:ext cx="2624328" cy="1874520"/>
          </a:xfrm>
          <a:prstGeom prst="roundRect">
            <a:avLst>
              <a:gd name="adj" fmla="val 2927"/>
            </a:avLst>
          </a:prstGeom>
          <a:solidFill>
            <a:srgbClr val="FFFFFF"/>
          </a:solidFill>
          <a:ln w="9525">
            <a:solidFill>
              <a:srgbClr val="D3DEE4"/>
            </a:solidFill>
            <a:prstDash val="solid"/>
          </a:ln>
        </p:spPr>
      </p:sp>
      <p:sp>
        <p:nvSpPr>
          <p:cNvPr id="14" name="Text 12"/>
          <p:cNvSpPr txBox="1"/>
          <p:nvPr/>
        </p:nvSpPr>
        <p:spPr>
          <a:xfrm>
            <a:off x="813816" y="2798064"/>
            <a:ext cx="2185416" cy="548640"/>
          </a:xfrm>
          <a:prstGeom prst="rect">
            <a:avLst/>
          </a:prstGeom>
          <a:noFill/>
          <a:ln/>
        </p:spPr>
        <p:txBody>
          <a:bodyPr wrap="square" lIns="0" tIns="0" rIns="0" bIns="0" rtlCol="0" anchor="ctr"/>
          <a:lstStyle/>
          <a:p>
            <a:pPr algn="l" indent="0" marL="0">
              <a:lnSpc>
                <a:spcPts val="4320"/>
              </a:lnSpc>
              <a:buNone/>
            </a:pPr>
            <a:r>
              <a:rPr lang="en-US" sz="3600" b="1" dirty="0">
                <a:solidFill>
                  <a:srgbClr val="007C9F"/>
                </a:solidFill>
                <a:latin typeface="Arial" pitchFamily="34" charset="0"/>
                <a:ea typeface="Arial" pitchFamily="34" charset="-122"/>
                <a:cs typeface="Arial" pitchFamily="34" charset="-120"/>
              </a:rPr>
              <a:t>4</a:t>
            </a:r>
            <a:endParaRPr lang="en-US" sz="3600" dirty="0"/>
          </a:p>
        </p:txBody>
      </p:sp>
      <p:sp>
        <p:nvSpPr>
          <p:cNvPr id="15" name="Text 13"/>
          <p:cNvSpPr txBox="1"/>
          <p:nvPr/>
        </p:nvSpPr>
        <p:spPr>
          <a:xfrm>
            <a:off x="813816" y="3364992"/>
            <a:ext cx="2185416" cy="310896"/>
          </a:xfrm>
          <a:prstGeom prst="rect">
            <a:avLst/>
          </a:prstGeom>
          <a:noFill/>
          <a:ln/>
        </p:spPr>
        <p:txBody>
          <a:bodyPr wrap="square" lIns="0" tIns="0" rIns="0" bIns="0" rtlCol="0" anchor="ctr"/>
          <a:lstStyle/>
          <a:p>
            <a:pPr algn="l" indent="0" marL="0">
              <a:lnSpc>
                <a:spcPts val="1920"/>
              </a:lnSpc>
              <a:buNone/>
            </a:pPr>
            <a:r>
              <a:rPr lang="en-US" sz="1600" b="1" dirty="0">
                <a:solidFill>
                  <a:srgbClr val="142D3D"/>
                </a:solidFill>
                <a:latin typeface="Arial" pitchFamily="34" charset="0"/>
                <a:ea typeface="Arial" pitchFamily="34" charset="-122"/>
                <a:cs typeface="Arial" pitchFamily="34" charset="-120"/>
              </a:rPr>
              <a:t>Sin orden propia</a:t>
            </a:r>
            <a:endParaRPr lang="en-US" sz="1600" dirty="0"/>
          </a:p>
        </p:txBody>
      </p:sp>
      <p:sp>
        <p:nvSpPr>
          <p:cNvPr id="16" name="Text 14"/>
          <p:cNvSpPr txBox="1"/>
          <p:nvPr/>
        </p:nvSpPr>
        <p:spPr>
          <a:xfrm>
            <a:off x="813816" y="3712464"/>
            <a:ext cx="2185416" cy="749808"/>
          </a:xfrm>
          <a:prstGeom prst="rect">
            <a:avLst/>
          </a:prstGeom>
          <a:noFill/>
          <a:ln/>
        </p:spPr>
        <p:txBody>
          <a:bodyPr wrap="square" lIns="0" tIns="0" rIns="0" bIns="0" rtlCol="0" anchor="t"/>
          <a:lstStyle/>
          <a:p>
            <a:pPr algn="l" indent="0" marL="0">
              <a:lnSpc>
                <a:spcPts val="1680"/>
              </a:lnSpc>
              <a:buNone/>
            </a:pPr>
            <a:r>
              <a:rPr lang="en-US" sz="1400" dirty="0">
                <a:solidFill>
                  <a:srgbClr val="516673"/>
                </a:solidFill>
                <a:latin typeface="Arial" pitchFamily="34" charset="0"/>
                <a:ea typeface="Arial" pitchFamily="34" charset="-122"/>
                <a:cs typeface="Arial" pitchFamily="34" charset="-120"/>
              </a:rPr>
              <a:t>Confirmación · duplicados · pedidos · sincronización</a:t>
            </a:r>
            <a:endParaRPr lang="en-US" sz="1400" dirty="0"/>
          </a:p>
        </p:txBody>
      </p:sp>
      <p:sp>
        <p:nvSpPr>
          <p:cNvPr id="17" name="Shape 15"/>
          <p:cNvSpPr/>
          <p:nvPr/>
        </p:nvSpPr>
        <p:spPr>
          <a:xfrm>
            <a:off x="3387852" y="2697480"/>
            <a:ext cx="2624328" cy="1874520"/>
          </a:xfrm>
          <a:prstGeom prst="roundRect">
            <a:avLst>
              <a:gd name="adj" fmla="val 2927"/>
            </a:avLst>
          </a:prstGeom>
          <a:solidFill>
            <a:srgbClr val="FFFFFF"/>
          </a:solidFill>
          <a:ln w="9525">
            <a:solidFill>
              <a:srgbClr val="D3DEE4"/>
            </a:solidFill>
            <a:prstDash val="solid"/>
          </a:ln>
        </p:spPr>
      </p:sp>
      <p:sp>
        <p:nvSpPr>
          <p:cNvPr id="18" name="Text 16"/>
          <p:cNvSpPr txBox="1"/>
          <p:nvPr/>
        </p:nvSpPr>
        <p:spPr>
          <a:xfrm>
            <a:off x="3607308" y="2798064"/>
            <a:ext cx="2185416" cy="548640"/>
          </a:xfrm>
          <a:prstGeom prst="rect">
            <a:avLst/>
          </a:prstGeom>
          <a:noFill/>
          <a:ln/>
        </p:spPr>
        <p:txBody>
          <a:bodyPr wrap="square" lIns="0" tIns="0" rIns="0" bIns="0" rtlCol="0" anchor="ctr"/>
          <a:lstStyle/>
          <a:p>
            <a:pPr algn="l" indent="0" marL="0">
              <a:lnSpc>
                <a:spcPts val="4320"/>
              </a:lnSpc>
              <a:buNone/>
            </a:pPr>
            <a:r>
              <a:rPr lang="en-US" sz="3600" b="1" dirty="0">
                <a:solidFill>
                  <a:srgbClr val="007C9F"/>
                </a:solidFill>
                <a:latin typeface="Arial" pitchFamily="34" charset="0"/>
                <a:ea typeface="Arial" pitchFamily="34" charset="-122"/>
                <a:cs typeface="Arial" pitchFamily="34" charset="-120"/>
              </a:rPr>
              <a:t>3</a:t>
            </a:r>
            <a:endParaRPr lang="en-US" sz="3600" dirty="0"/>
          </a:p>
        </p:txBody>
      </p:sp>
      <p:sp>
        <p:nvSpPr>
          <p:cNvPr id="19" name="Text 17"/>
          <p:cNvSpPr txBox="1"/>
          <p:nvPr/>
        </p:nvSpPr>
        <p:spPr>
          <a:xfrm>
            <a:off x="3607308" y="3364992"/>
            <a:ext cx="2185416" cy="310896"/>
          </a:xfrm>
          <a:prstGeom prst="rect">
            <a:avLst/>
          </a:prstGeom>
          <a:noFill/>
          <a:ln/>
        </p:spPr>
        <p:txBody>
          <a:bodyPr wrap="square" lIns="0" tIns="0" rIns="0" bIns="0" rtlCol="0" anchor="ctr"/>
          <a:lstStyle/>
          <a:p>
            <a:pPr algn="l" indent="0" marL="0">
              <a:lnSpc>
                <a:spcPts val="1920"/>
              </a:lnSpc>
              <a:buNone/>
            </a:pPr>
            <a:r>
              <a:rPr lang="en-US" sz="1600" b="1" dirty="0">
                <a:solidFill>
                  <a:srgbClr val="142D3D"/>
                </a:solidFill>
                <a:latin typeface="Arial" pitchFamily="34" charset="0"/>
                <a:ea typeface="Arial" pitchFamily="34" charset="-122"/>
                <a:cs typeface="Arial" pitchFamily="34" charset="-120"/>
              </a:rPr>
              <a:t>Datos del ambiente</a:t>
            </a:r>
            <a:endParaRPr lang="en-US" sz="1600" dirty="0"/>
          </a:p>
        </p:txBody>
      </p:sp>
      <p:sp>
        <p:nvSpPr>
          <p:cNvPr id="20" name="Text 18"/>
          <p:cNvSpPr txBox="1"/>
          <p:nvPr/>
        </p:nvSpPr>
        <p:spPr>
          <a:xfrm>
            <a:off x="3607308" y="3712464"/>
            <a:ext cx="2185416" cy="749808"/>
          </a:xfrm>
          <a:prstGeom prst="rect">
            <a:avLst/>
          </a:prstGeom>
          <a:noFill/>
          <a:ln/>
        </p:spPr>
        <p:txBody>
          <a:bodyPr wrap="square" lIns="0" tIns="0" rIns="0" bIns="0" rtlCol="0" anchor="t"/>
          <a:lstStyle/>
          <a:p>
            <a:pPr algn="l" indent="0" marL="0">
              <a:lnSpc>
                <a:spcPts val="1680"/>
              </a:lnSpc>
              <a:buNone/>
            </a:pPr>
            <a:r>
              <a:rPr lang="en-US" sz="1400" dirty="0">
                <a:solidFill>
                  <a:srgbClr val="516673"/>
                </a:solidFill>
                <a:latin typeface="Arial" pitchFamily="34" charset="0"/>
                <a:ea typeface="Arial" pitchFamily="34" charset="-122"/>
                <a:cs typeface="Arial" pitchFamily="34" charset="-120"/>
              </a:rPr>
              <a:t>Opciones sin valores · cupones no vigentes</a:t>
            </a:r>
            <a:endParaRPr lang="en-US" sz="1400" dirty="0"/>
          </a:p>
        </p:txBody>
      </p:sp>
      <p:sp>
        <p:nvSpPr>
          <p:cNvPr id="21" name="Shape 19"/>
          <p:cNvSpPr/>
          <p:nvPr/>
        </p:nvSpPr>
        <p:spPr>
          <a:xfrm>
            <a:off x="6181344" y="2697480"/>
            <a:ext cx="2624328" cy="1874520"/>
          </a:xfrm>
          <a:prstGeom prst="roundRect">
            <a:avLst>
              <a:gd name="adj" fmla="val 2927"/>
            </a:avLst>
          </a:prstGeom>
          <a:solidFill>
            <a:srgbClr val="FFFFFF"/>
          </a:solidFill>
          <a:ln w="9525">
            <a:solidFill>
              <a:srgbClr val="D3DEE4"/>
            </a:solidFill>
            <a:prstDash val="solid"/>
          </a:ln>
        </p:spPr>
      </p:sp>
      <p:sp>
        <p:nvSpPr>
          <p:cNvPr id="22" name="Text 20"/>
          <p:cNvSpPr txBox="1"/>
          <p:nvPr/>
        </p:nvSpPr>
        <p:spPr>
          <a:xfrm>
            <a:off x="6400800" y="2798064"/>
            <a:ext cx="2185416" cy="548640"/>
          </a:xfrm>
          <a:prstGeom prst="rect">
            <a:avLst/>
          </a:prstGeom>
          <a:noFill/>
          <a:ln/>
        </p:spPr>
        <p:txBody>
          <a:bodyPr wrap="square" lIns="0" tIns="0" rIns="0" bIns="0" rtlCol="0" anchor="ctr"/>
          <a:lstStyle/>
          <a:p>
            <a:pPr algn="l" indent="0" marL="0">
              <a:lnSpc>
                <a:spcPts val="4320"/>
              </a:lnSpc>
              <a:buNone/>
            </a:pPr>
            <a:r>
              <a:rPr lang="en-US" sz="3600" b="1" dirty="0">
                <a:solidFill>
                  <a:srgbClr val="007C9F"/>
                </a:solidFill>
                <a:latin typeface="Arial" pitchFamily="34" charset="0"/>
                <a:ea typeface="Arial" pitchFamily="34" charset="-122"/>
                <a:cs typeface="Arial" pitchFamily="34" charset="-120"/>
              </a:rPr>
              <a:t>1</a:t>
            </a:r>
            <a:endParaRPr lang="en-US" sz="3600" dirty="0"/>
          </a:p>
        </p:txBody>
      </p:sp>
      <p:sp>
        <p:nvSpPr>
          <p:cNvPr id="23" name="Text 21"/>
          <p:cNvSpPr txBox="1"/>
          <p:nvPr/>
        </p:nvSpPr>
        <p:spPr>
          <a:xfrm>
            <a:off x="6400800" y="3364992"/>
            <a:ext cx="2185416" cy="310896"/>
          </a:xfrm>
          <a:prstGeom prst="rect">
            <a:avLst/>
          </a:prstGeom>
          <a:noFill/>
          <a:ln/>
        </p:spPr>
        <p:txBody>
          <a:bodyPr wrap="square" lIns="0" tIns="0" rIns="0" bIns="0" rtlCol="0" anchor="ctr"/>
          <a:lstStyle/>
          <a:p>
            <a:pPr algn="l" indent="0" marL="0">
              <a:lnSpc>
                <a:spcPts val="1920"/>
              </a:lnSpc>
              <a:buNone/>
            </a:pPr>
            <a:r>
              <a:rPr lang="en-US" sz="1600" b="1" dirty="0">
                <a:solidFill>
                  <a:srgbClr val="142D3D"/>
                </a:solidFill>
                <a:latin typeface="Arial" pitchFamily="34" charset="0"/>
                <a:ea typeface="Arial" pitchFamily="34" charset="-122"/>
                <a:cs typeface="Arial" pitchFamily="34" charset="-120"/>
              </a:rPr>
              <a:t>Permisos</a:t>
            </a:r>
            <a:endParaRPr lang="en-US" sz="1600" dirty="0"/>
          </a:p>
        </p:txBody>
      </p:sp>
      <p:sp>
        <p:nvSpPr>
          <p:cNvPr id="24" name="Text 22"/>
          <p:cNvSpPr txBox="1"/>
          <p:nvPr/>
        </p:nvSpPr>
        <p:spPr>
          <a:xfrm>
            <a:off x="6400800" y="3712464"/>
            <a:ext cx="2185416" cy="749808"/>
          </a:xfrm>
          <a:prstGeom prst="rect">
            <a:avLst/>
          </a:prstGeom>
          <a:noFill/>
          <a:ln/>
        </p:spPr>
        <p:txBody>
          <a:bodyPr wrap="square" lIns="0" tIns="0" rIns="0" bIns="0" rtlCol="0" anchor="t"/>
          <a:lstStyle/>
          <a:p>
            <a:pPr algn="l" indent="0" marL="0">
              <a:lnSpc>
                <a:spcPts val="1680"/>
              </a:lnSpc>
              <a:buNone/>
            </a:pPr>
            <a:r>
              <a:rPr lang="en-US" sz="1400" dirty="0">
                <a:solidFill>
                  <a:srgbClr val="516673"/>
                </a:solidFill>
                <a:latin typeface="Arial" pitchFamily="34" charset="0"/>
                <a:ea typeface="Arial" pitchFamily="34" charset="-122"/>
                <a:cs typeface="Arial" pitchFamily="34" charset="-120"/>
              </a:rPr>
              <a:t>El panel negó guardar el stock</a:t>
            </a:r>
            <a:endParaRPr lang="en-US" sz="1400" dirty="0"/>
          </a:p>
        </p:txBody>
      </p:sp>
      <p:sp>
        <p:nvSpPr>
          <p:cNvPr id="25" name="Shape 23"/>
          <p:cNvSpPr/>
          <p:nvPr/>
        </p:nvSpPr>
        <p:spPr>
          <a:xfrm>
            <a:off x="8974836" y="2697480"/>
            <a:ext cx="2624328" cy="1874520"/>
          </a:xfrm>
          <a:prstGeom prst="roundRect">
            <a:avLst>
              <a:gd name="adj" fmla="val 2927"/>
            </a:avLst>
          </a:prstGeom>
          <a:solidFill>
            <a:srgbClr val="FFFFFF"/>
          </a:solidFill>
          <a:ln w="9525">
            <a:solidFill>
              <a:srgbClr val="D3DEE4"/>
            </a:solidFill>
            <a:prstDash val="solid"/>
          </a:ln>
        </p:spPr>
      </p:sp>
      <p:sp>
        <p:nvSpPr>
          <p:cNvPr id="26" name="Text 24"/>
          <p:cNvSpPr txBox="1"/>
          <p:nvPr/>
        </p:nvSpPr>
        <p:spPr>
          <a:xfrm>
            <a:off x="9194292" y="2798064"/>
            <a:ext cx="2185416" cy="548640"/>
          </a:xfrm>
          <a:prstGeom prst="rect">
            <a:avLst/>
          </a:prstGeom>
          <a:noFill/>
          <a:ln/>
        </p:spPr>
        <p:txBody>
          <a:bodyPr wrap="square" lIns="0" tIns="0" rIns="0" bIns="0" rtlCol="0" anchor="ctr"/>
          <a:lstStyle/>
          <a:p>
            <a:pPr algn="l" indent="0" marL="0">
              <a:lnSpc>
                <a:spcPts val="4320"/>
              </a:lnSpc>
              <a:buNone/>
            </a:pPr>
            <a:r>
              <a:rPr lang="en-US" sz="3600" b="1" dirty="0">
                <a:solidFill>
                  <a:srgbClr val="007C9F"/>
                </a:solidFill>
                <a:latin typeface="Arial" pitchFamily="34" charset="0"/>
                <a:ea typeface="Arial" pitchFamily="34" charset="-122"/>
                <a:cs typeface="Arial" pitchFamily="34" charset="-120"/>
              </a:rPr>
              <a:t>1</a:t>
            </a:r>
            <a:endParaRPr lang="en-US" sz="3600" dirty="0"/>
          </a:p>
        </p:txBody>
      </p:sp>
      <p:sp>
        <p:nvSpPr>
          <p:cNvPr id="27" name="Text 25"/>
          <p:cNvSpPr txBox="1"/>
          <p:nvPr/>
        </p:nvSpPr>
        <p:spPr>
          <a:xfrm>
            <a:off x="9194292" y="3364992"/>
            <a:ext cx="2185416" cy="310896"/>
          </a:xfrm>
          <a:prstGeom prst="rect">
            <a:avLst/>
          </a:prstGeom>
          <a:noFill/>
          <a:ln/>
        </p:spPr>
        <p:txBody>
          <a:bodyPr wrap="square" lIns="0" tIns="0" rIns="0" bIns="0" rtlCol="0" anchor="ctr"/>
          <a:lstStyle/>
          <a:p>
            <a:pPr algn="l" indent="0" marL="0">
              <a:lnSpc>
                <a:spcPts val="1920"/>
              </a:lnSpc>
              <a:buNone/>
            </a:pPr>
            <a:r>
              <a:rPr lang="en-US" sz="1600" b="1" dirty="0">
                <a:solidFill>
                  <a:srgbClr val="142D3D"/>
                </a:solidFill>
                <a:latin typeface="Arial" pitchFamily="34" charset="0"/>
                <a:ea typeface="Arial" pitchFamily="34" charset="-122"/>
                <a:cs typeface="Arial" pitchFamily="34" charset="-120"/>
              </a:rPr>
              <a:t>Sin instrumentación</a:t>
            </a:r>
            <a:endParaRPr lang="en-US" sz="1600" dirty="0"/>
          </a:p>
        </p:txBody>
      </p:sp>
      <p:sp>
        <p:nvSpPr>
          <p:cNvPr id="28" name="Text 26"/>
          <p:cNvSpPr txBox="1"/>
          <p:nvPr/>
        </p:nvSpPr>
        <p:spPr>
          <a:xfrm>
            <a:off x="9194292" y="3712464"/>
            <a:ext cx="2185416" cy="749808"/>
          </a:xfrm>
          <a:prstGeom prst="rect">
            <a:avLst/>
          </a:prstGeom>
          <a:noFill/>
          <a:ln/>
        </p:spPr>
        <p:txBody>
          <a:bodyPr wrap="square" lIns="0" tIns="0" rIns="0" bIns="0" rtlCol="0" anchor="t"/>
          <a:lstStyle/>
          <a:p>
            <a:pPr algn="l" indent="0" marL="0">
              <a:lnSpc>
                <a:spcPts val="1680"/>
              </a:lnSpc>
              <a:buNone/>
            </a:pPr>
            <a:r>
              <a:rPr lang="en-US" sz="1400" dirty="0">
                <a:solidFill>
                  <a:srgbClr val="516673"/>
                </a:solidFill>
                <a:latin typeface="Arial" pitchFamily="34" charset="0"/>
                <a:ea typeface="Arial" pitchFamily="34" charset="-122"/>
                <a:cs typeface="Arial" pitchFamily="34" charset="-120"/>
              </a:rPr>
              <a:t>Rendimiento: faltan 18 muestras</a:t>
            </a:r>
            <a:endParaRPr lang="en-US" sz="1400" dirty="0"/>
          </a:p>
        </p:txBody>
      </p:sp>
      <p:sp>
        <p:nvSpPr>
          <p:cNvPr id="29" name="Shape 27"/>
          <p:cNvSpPr/>
          <p:nvPr/>
        </p:nvSpPr>
        <p:spPr>
          <a:xfrm>
            <a:off x="594360" y="4736592"/>
            <a:ext cx="11002975" cy="804672"/>
          </a:xfrm>
          <a:prstGeom prst="roundRect">
            <a:avLst>
              <a:gd name="adj" fmla="val 6818"/>
            </a:avLst>
          </a:prstGeom>
          <a:solidFill>
            <a:srgbClr val="E3EDF1"/>
          </a:solidFill>
          <a:ln/>
        </p:spPr>
      </p:sp>
      <p:sp>
        <p:nvSpPr>
          <p:cNvPr id="30" name="Text 28"/>
          <p:cNvSpPr txBox="1"/>
          <p:nvPr/>
        </p:nvSpPr>
        <p:spPr>
          <a:xfrm>
            <a:off x="850392" y="4736592"/>
            <a:ext cx="10490911" cy="804672"/>
          </a:xfrm>
          <a:prstGeom prst="rect">
            <a:avLst/>
          </a:prstGeom>
          <a:noFill/>
          <a:ln/>
        </p:spPr>
        <p:txBody>
          <a:bodyPr wrap="square" lIns="0" tIns="0" rIns="0" bIns="0" rtlCol="0" anchor="ctr"/>
          <a:lstStyle/>
          <a:p>
            <a:pPr algn="l" indent="0" marL="0">
              <a:lnSpc>
                <a:spcPts val="2040"/>
              </a:lnSpc>
              <a:buNone/>
            </a:pPr>
            <a:r>
              <a:rPr lang="en-US" sz="1700" b="1" dirty="0">
                <a:solidFill>
                  <a:srgbClr val="142D3D"/>
                </a:solidFill>
                <a:latin typeface="Arial" pitchFamily="34" charset="0"/>
                <a:ea typeface="Arial" pitchFamily="34" charset="-122"/>
                <a:cs typeface="Arial" pitchFamily="34" charset="-120"/>
              </a:rPr>
              <a:t>1932 ms medidos y no presentados: un dato sin trazabilidad no es evidencia.</a:t>
            </a:r>
            <a:endParaRPr lang="en-US" sz="1700" dirty="0"/>
          </a:p>
        </p:txBody>
      </p:sp>
      <p:sp>
        <p:nvSpPr>
          <p:cNvPr id="31" name="Text 29"/>
          <p:cNvSpPr txBox="1"/>
          <p:nvPr/>
        </p:nvSpPr>
        <p:spPr>
          <a:xfrm>
            <a:off x="594360" y="5669280"/>
            <a:ext cx="11002975" cy="384048"/>
          </a:xfrm>
          <a:prstGeom prst="rect">
            <a:avLst/>
          </a:prstGeom>
          <a:noFill/>
          <a:ln/>
        </p:spPr>
        <p:txBody>
          <a:bodyPr wrap="square" lIns="0" tIns="0" rIns="0" bIns="0" rtlCol="0" anchor="ctr"/>
          <a:lstStyle/>
          <a:p>
            <a:pPr algn="l" indent="0" marL="0">
              <a:lnSpc>
                <a:spcPts val="1800"/>
              </a:lnSpc>
              <a:buNone/>
            </a:pPr>
            <a:r>
              <a:rPr lang="en-US" sz="1500" dirty="0">
                <a:solidFill>
                  <a:srgbClr val="516673"/>
                </a:solidFill>
                <a:latin typeface="Arial" pitchFamily="34" charset="0"/>
                <a:ea typeface="Arial" pitchFamily="34" charset="-122"/>
                <a:cs typeface="Arial" pitchFamily="34" charset="-120"/>
              </a:rPr>
              <a:t>Bloque de Granit · 7 casos Alta:  1 Falló · 6 Bloqueado</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2F6F8"/>
        </a:solidFill>
      </p:bgPr>
    </p:bg>
    <p:spTree>
      <p:nvGrpSpPr>
        <p:cNvPr id="1" name=""/>
        <p:cNvGrpSpPr/>
        <p:nvPr/>
      </p:nvGrpSpPr>
      <p:grpSpPr>
        <a:xfrm>
          <a:off x="0" y="0"/>
          <a:ext cx="0" cy="0"/>
          <a:chOff x="0" y="0"/>
          <a:chExt cx="0" cy="0"/>
        </a:xfrm>
      </p:grpSpPr>
      <p:sp>
        <p:nvSpPr>
          <p:cNvPr id="2" name="Shape 0"/>
          <p:cNvSpPr/>
          <p:nvPr/>
        </p:nvSpPr>
        <p:spPr>
          <a:xfrm>
            <a:off x="594360" y="457200"/>
            <a:ext cx="457200" cy="457200"/>
          </a:xfrm>
          <a:prstGeom prst="ellipse">
            <a:avLst/>
          </a:prstGeom>
          <a:solidFill>
            <a:srgbClr val="007C9F"/>
          </a:solidFill>
          <a:ln/>
        </p:spPr>
      </p:sp>
      <p:sp>
        <p:nvSpPr>
          <p:cNvPr id="3" name="Text 1"/>
          <p:cNvSpPr txBox="1"/>
          <p:nvPr/>
        </p:nvSpPr>
        <p:spPr>
          <a:xfrm>
            <a:off x="594360" y="457200"/>
            <a:ext cx="457200" cy="457200"/>
          </a:xfrm>
          <a:prstGeom prst="rect">
            <a:avLst/>
          </a:prstGeom>
          <a:noFill/>
          <a:ln/>
        </p:spPr>
        <p:txBody>
          <a:bodyPr wrap="square" lIns="0" tIns="0" rIns="0" bIns="0" rtlCol="0" anchor="ctr"/>
          <a:lstStyle/>
          <a:p>
            <a:pPr algn="ctr" indent="0" marL="0">
              <a:lnSpc>
                <a:spcPts val="1920"/>
              </a:lnSpc>
              <a:buNone/>
            </a:pPr>
            <a:r>
              <a:rPr lang="en-US" sz="1600" b="1" dirty="0">
                <a:solidFill>
                  <a:srgbClr val="FFFFFF"/>
                </a:solidFill>
                <a:latin typeface="Arial" pitchFamily="34" charset="0"/>
                <a:ea typeface="Arial" pitchFamily="34" charset="-122"/>
                <a:cs typeface="Arial" pitchFamily="34" charset="-120"/>
              </a:rPr>
              <a:t>11</a:t>
            </a:r>
            <a:endParaRPr lang="en-US" sz="1600" dirty="0"/>
          </a:p>
        </p:txBody>
      </p:sp>
      <p:sp>
        <p:nvSpPr>
          <p:cNvPr id="4" name="Text 2"/>
          <p:cNvSpPr txBox="1"/>
          <p:nvPr/>
        </p:nvSpPr>
        <p:spPr>
          <a:xfrm>
            <a:off x="1207008" y="429768"/>
            <a:ext cx="7726680" cy="530352"/>
          </a:xfrm>
          <a:prstGeom prst="rect">
            <a:avLst/>
          </a:prstGeom>
          <a:noFill/>
          <a:ln/>
        </p:spPr>
        <p:txBody>
          <a:bodyPr wrap="square" lIns="0" tIns="0" rIns="0" bIns="0" rtlCol="0" anchor="ctr"/>
          <a:lstStyle/>
          <a:p>
            <a:pPr algn="l" indent="0" marL="0">
              <a:lnSpc>
                <a:spcPts val="3360"/>
              </a:lnSpc>
              <a:buNone/>
            </a:pPr>
            <a:r>
              <a:rPr lang="en-US" sz="2800" b="1" dirty="0">
                <a:solidFill>
                  <a:srgbClr val="142D3D"/>
                </a:solidFill>
                <a:latin typeface="Arial" pitchFamily="34" charset="0"/>
                <a:ea typeface="Arial" pitchFamily="34" charset="-122"/>
                <a:cs typeface="Arial" pitchFamily="34" charset="-120"/>
              </a:rPr>
              <a:t>Cómo se leen estos números</a:t>
            </a:r>
            <a:endParaRPr lang="en-US" sz="2800" dirty="0"/>
          </a:p>
        </p:txBody>
      </p:sp>
      <p:sp>
        <p:nvSpPr>
          <p:cNvPr id="5" name="Text 3"/>
          <p:cNvSpPr txBox="1"/>
          <p:nvPr/>
        </p:nvSpPr>
        <p:spPr>
          <a:xfrm>
            <a:off x="9006840" y="429768"/>
            <a:ext cx="2590495" cy="530352"/>
          </a:xfrm>
          <a:prstGeom prst="rect">
            <a:avLst/>
          </a:prstGeom>
          <a:noFill/>
          <a:ln/>
        </p:spPr>
        <p:txBody>
          <a:bodyPr wrap="square" lIns="0" tIns="0" rIns="0" bIns="0" rtlCol="0" anchor="ctr"/>
          <a:lstStyle/>
          <a:p>
            <a:pPr algn="r" indent="0" marL="0">
              <a:lnSpc>
                <a:spcPts val="1680"/>
              </a:lnSpc>
              <a:buNone/>
            </a:pPr>
            <a:r>
              <a:rPr lang="en-US" sz="1400" dirty="0">
                <a:solidFill>
                  <a:srgbClr val="516673"/>
                </a:solidFill>
                <a:latin typeface="Arial" pitchFamily="34" charset="0"/>
                <a:ea typeface="Arial" pitchFamily="34" charset="-122"/>
                <a:cs typeface="Arial" pitchFamily="34" charset="-120"/>
              </a:rPr>
              <a:t>Granit · 8:00–8:25</a:t>
            </a:r>
            <a:endParaRPr lang="en-US" sz="1400" dirty="0"/>
          </a:p>
        </p:txBody>
      </p:sp>
      <p:sp>
        <p:nvSpPr>
          <p:cNvPr id="6" name="Shape 4"/>
          <p:cNvSpPr/>
          <p:nvPr/>
        </p:nvSpPr>
        <p:spPr>
          <a:xfrm>
            <a:off x="594360" y="1664208"/>
            <a:ext cx="5212080" cy="3246120"/>
          </a:xfrm>
          <a:prstGeom prst="roundRect">
            <a:avLst>
              <a:gd name="adj" fmla="val 1690"/>
            </a:avLst>
          </a:prstGeom>
          <a:solidFill>
            <a:srgbClr val="FFFFFF"/>
          </a:solidFill>
          <a:ln w="9525">
            <a:solidFill>
              <a:srgbClr val="D3DEE4"/>
            </a:solidFill>
            <a:prstDash val="solid"/>
          </a:ln>
        </p:spPr>
      </p:sp>
      <p:sp>
        <p:nvSpPr>
          <p:cNvPr id="7" name="Text 5"/>
          <p:cNvSpPr txBox="1"/>
          <p:nvPr/>
        </p:nvSpPr>
        <p:spPr>
          <a:xfrm>
            <a:off x="868680" y="1883664"/>
            <a:ext cx="4572000" cy="274320"/>
          </a:xfrm>
          <a:prstGeom prst="rect">
            <a:avLst/>
          </a:prstGeom>
          <a:noFill/>
          <a:ln/>
        </p:spPr>
        <p:txBody>
          <a:bodyPr wrap="square" lIns="0" tIns="0" rIns="0" bIns="0" rtlCol="0" anchor="ctr"/>
          <a:lstStyle/>
          <a:p>
            <a:pPr algn="l" indent="0" marL="0">
              <a:lnSpc>
                <a:spcPts val="1680"/>
              </a:lnSpc>
              <a:buNone/>
            </a:pPr>
            <a:r>
              <a:rPr lang="en-US" sz="1400" b="1" dirty="0">
                <a:solidFill>
                  <a:srgbClr val="007C9F"/>
                </a:solidFill>
                <a:latin typeface="Arial" pitchFamily="34" charset="0"/>
                <a:ea typeface="Arial" pitchFamily="34" charset="-122"/>
                <a:cs typeface="Arial" pitchFamily="34" charset="-120"/>
              </a:rPr>
              <a:t>CRITERIOS DE SALIDA: QUÉ DECIDE</a:t>
            </a:r>
            <a:endParaRPr lang="en-US" sz="1400" dirty="0"/>
          </a:p>
        </p:txBody>
      </p:sp>
      <p:sp>
        <p:nvSpPr>
          <p:cNvPr id="8" name="Text 6"/>
          <p:cNvSpPr txBox="1"/>
          <p:nvPr/>
        </p:nvSpPr>
        <p:spPr>
          <a:xfrm>
            <a:off x="868680" y="2212848"/>
            <a:ext cx="4663440" cy="548640"/>
          </a:xfrm>
          <a:prstGeom prst="rect">
            <a:avLst/>
          </a:prstGeom>
          <a:noFill/>
          <a:ln/>
        </p:spPr>
        <p:txBody>
          <a:bodyPr wrap="square" lIns="0" tIns="0" rIns="0" bIns="0" rtlCol="0" anchor="t"/>
          <a:lstStyle/>
          <a:p>
            <a:pPr algn="l" indent="0" marL="0">
              <a:lnSpc>
                <a:spcPts val="2040"/>
              </a:lnSpc>
              <a:buNone/>
            </a:pPr>
            <a:r>
              <a:rPr lang="en-US" sz="1700" b="1" dirty="0">
                <a:solidFill>
                  <a:srgbClr val="142D3D"/>
                </a:solidFill>
                <a:latin typeface="Arial" pitchFamily="34" charset="0"/>
                <a:ea typeface="Arial" pitchFamily="34" charset="-122"/>
                <a:cs typeface="Arial" pitchFamily="34" charset="-120"/>
              </a:rPr>
              <a:t>Los criterios de salida del plan, no el tablero.</a:t>
            </a:r>
            <a:endParaRPr lang="en-US" sz="1700" dirty="0"/>
          </a:p>
        </p:txBody>
      </p:sp>
      <p:sp>
        <p:nvSpPr>
          <p:cNvPr id="9" name="Text 7"/>
          <p:cNvSpPr txBox="1"/>
          <p:nvPr/>
        </p:nvSpPr>
        <p:spPr>
          <a:xfrm>
            <a:off x="868680" y="2852928"/>
            <a:ext cx="4663440" cy="402336"/>
          </a:xfrm>
          <a:prstGeom prst="rect">
            <a:avLst/>
          </a:prstGeom>
          <a:noFill/>
          <a:ln/>
        </p:spPr>
        <p:txBody>
          <a:bodyPr wrap="square" lIns="0" tIns="0" rIns="0" bIns="0" rtlCol="0" anchor="ctr"/>
          <a:lstStyle/>
          <a:p>
            <a:pPr algn="l" indent="0" marL="0">
              <a:lnSpc>
                <a:spcPts val="1920"/>
              </a:lnSpc>
              <a:buNone/>
            </a:pPr>
            <a:r>
              <a:rPr lang="en-US" sz="1600" b="1" dirty="0">
                <a:solidFill>
                  <a:srgbClr val="007C9F"/>
                </a:solidFill>
                <a:latin typeface="Arial" pitchFamily="34" charset="0"/>
                <a:ea typeface="Arial" pitchFamily="34" charset="-122"/>
                <a:cs typeface="Arial" pitchFamily="34" charset="-120"/>
              </a:rPr>
              <a:t>— </a:t>
            </a:r>
            <a:pPr algn="l" indent="0" marL="0">
              <a:lnSpc>
                <a:spcPts val="1920"/>
              </a:lnSpc>
              <a:buNone/>
            </a:pPr>
            <a:r>
              <a:rPr lang="en-US" sz="1600" dirty="0">
                <a:solidFill>
                  <a:srgbClr val="142D3D"/>
                </a:solidFill>
                <a:latin typeface="Arial" pitchFamily="34" charset="0"/>
                <a:ea typeface="Arial" pitchFamily="34" charset="-122"/>
                <a:cs typeface="Arial" pitchFamily="34" charset="-120"/>
              </a:rPr>
              <a:t>Qué casos se ejecutaron</a:t>
            </a:r>
            <a:endParaRPr lang="en-US" sz="1600" dirty="0"/>
          </a:p>
        </p:txBody>
      </p:sp>
      <p:sp>
        <p:nvSpPr>
          <p:cNvPr id="10" name="Text 8"/>
          <p:cNvSpPr txBox="1"/>
          <p:nvPr/>
        </p:nvSpPr>
        <p:spPr>
          <a:xfrm>
            <a:off x="868680" y="3310128"/>
            <a:ext cx="4663440" cy="402336"/>
          </a:xfrm>
          <a:prstGeom prst="rect">
            <a:avLst/>
          </a:prstGeom>
          <a:noFill/>
          <a:ln/>
        </p:spPr>
        <p:txBody>
          <a:bodyPr wrap="square" lIns="0" tIns="0" rIns="0" bIns="0" rtlCol="0" anchor="ctr"/>
          <a:lstStyle/>
          <a:p>
            <a:pPr algn="l" indent="0" marL="0">
              <a:lnSpc>
                <a:spcPts val="1920"/>
              </a:lnSpc>
              <a:buNone/>
            </a:pPr>
            <a:r>
              <a:rPr lang="en-US" sz="1600" b="1" dirty="0">
                <a:solidFill>
                  <a:srgbClr val="007C9F"/>
                </a:solidFill>
                <a:latin typeface="Arial" pitchFamily="34" charset="0"/>
                <a:ea typeface="Arial" pitchFamily="34" charset="-122"/>
                <a:cs typeface="Arial" pitchFamily="34" charset="-120"/>
              </a:rPr>
              <a:t>— </a:t>
            </a:r>
            <a:pPr algn="l" indent="0" marL="0">
              <a:lnSpc>
                <a:spcPts val="1920"/>
              </a:lnSpc>
              <a:buNone/>
            </a:pPr>
            <a:r>
              <a:rPr lang="en-US" sz="1600" dirty="0">
                <a:solidFill>
                  <a:srgbClr val="142D3D"/>
                </a:solidFill>
                <a:latin typeface="Arial" pitchFamily="34" charset="0"/>
                <a:ea typeface="Arial" pitchFamily="34" charset="-122"/>
                <a:cs typeface="Arial" pitchFamily="34" charset="-120"/>
              </a:rPr>
              <a:t>Los criterios de salida</a:t>
            </a:r>
            <a:endParaRPr lang="en-US" sz="1600" dirty="0"/>
          </a:p>
        </p:txBody>
      </p:sp>
      <p:sp>
        <p:nvSpPr>
          <p:cNvPr id="11" name="Text 9"/>
          <p:cNvSpPr txBox="1"/>
          <p:nvPr/>
        </p:nvSpPr>
        <p:spPr>
          <a:xfrm>
            <a:off x="868680" y="3767328"/>
            <a:ext cx="4663440" cy="402336"/>
          </a:xfrm>
          <a:prstGeom prst="rect">
            <a:avLst/>
          </a:prstGeom>
          <a:noFill/>
          <a:ln/>
        </p:spPr>
        <p:txBody>
          <a:bodyPr wrap="square" lIns="0" tIns="0" rIns="0" bIns="0" rtlCol="0" anchor="ctr"/>
          <a:lstStyle/>
          <a:p>
            <a:pPr algn="l" indent="0" marL="0">
              <a:lnSpc>
                <a:spcPts val="1920"/>
              </a:lnSpc>
              <a:buNone/>
            </a:pPr>
            <a:r>
              <a:rPr lang="en-US" sz="1600" b="1" dirty="0">
                <a:solidFill>
                  <a:srgbClr val="007C9F"/>
                </a:solidFill>
                <a:latin typeface="Arial" pitchFamily="34" charset="0"/>
                <a:ea typeface="Arial" pitchFamily="34" charset="-122"/>
                <a:cs typeface="Arial" pitchFamily="34" charset="-120"/>
              </a:rPr>
              <a:t>— </a:t>
            </a:r>
            <a:pPr algn="l" indent="0" marL="0">
              <a:lnSpc>
                <a:spcPts val="1920"/>
              </a:lnSpc>
              <a:buNone/>
            </a:pPr>
            <a:r>
              <a:rPr lang="en-US" sz="1600" dirty="0">
                <a:solidFill>
                  <a:srgbClr val="142D3D"/>
                </a:solidFill>
                <a:latin typeface="Arial" pitchFamily="34" charset="0"/>
                <a:ea typeface="Arial" pitchFamily="34" charset="-122"/>
                <a:cs typeface="Arial" pitchFamily="34" charset="-120"/>
              </a:rPr>
              <a:t>Los defectos abiertos</a:t>
            </a:r>
            <a:endParaRPr lang="en-US" sz="1600" dirty="0"/>
          </a:p>
        </p:txBody>
      </p:sp>
      <p:sp>
        <p:nvSpPr>
          <p:cNvPr id="12" name="Text 10"/>
          <p:cNvSpPr txBox="1"/>
          <p:nvPr/>
        </p:nvSpPr>
        <p:spPr>
          <a:xfrm>
            <a:off x="868680" y="4224528"/>
            <a:ext cx="4663440" cy="402336"/>
          </a:xfrm>
          <a:prstGeom prst="rect">
            <a:avLst/>
          </a:prstGeom>
          <a:noFill/>
          <a:ln/>
        </p:spPr>
        <p:txBody>
          <a:bodyPr wrap="square" lIns="0" tIns="0" rIns="0" bIns="0" rtlCol="0" anchor="ctr"/>
          <a:lstStyle/>
          <a:p>
            <a:pPr algn="l" indent="0" marL="0">
              <a:lnSpc>
                <a:spcPts val="1920"/>
              </a:lnSpc>
              <a:buNone/>
            </a:pPr>
            <a:r>
              <a:rPr lang="en-US" sz="1600" b="1" dirty="0">
                <a:solidFill>
                  <a:srgbClr val="007C9F"/>
                </a:solidFill>
                <a:latin typeface="Arial" pitchFamily="34" charset="0"/>
                <a:ea typeface="Arial" pitchFamily="34" charset="-122"/>
                <a:cs typeface="Arial" pitchFamily="34" charset="-120"/>
              </a:rPr>
              <a:t>— </a:t>
            </a:r>
            <a:pPr algn="l" indent="0" marL="0">
              <a:lnSpc>
                <a:spcPts val="1920"/>
              </a:lnSpc>
              <a:buNone/>
            </a:pPr>
            <a:r>
              <a:rPr lang="en-US" sz="1600" dirty="0">
                <a:solidFill>
                  <a:srgbClr val="142D3D"/>
                </a:solidFill>
                <a:latin typeface="Arial" pitchFamily="34" charset="0"/>
                <a:ea typeface="Arial" pitchFamily="34" charset="-122"/>
                <a:cs typeface="Arial" pitchFamily="34" charset="-120"/>
              </a:rPr>
              <a:t>Lo bloqueado o no ejecutado</a:t>
            </a:r>
            <a:endParaRPr lang="en-US" sz="1600" dirty="0"/>
          </a:p>
        </p:txBody>
      </p:sp>
      <p:sp>
        <p:nvSpPr>
          <p:cNvPr id="13" name="Shape 11"/>
          <p:cNvSpPr/>
          <p:nvPr/>
        </p:nvSpPr>
        <p:spPr>
          <a:xfrm>
            <a:off x="6053328" y="1664208"/>
            <a:ext cx="5544007" cy="3246120"/>
          </a:xfrm>
          <a:prstGeom prst="roundRect">
            <a:avLst>
              <a:gd name="adj" fmla="val 1690"/>
            </a:avLst>
          </a:prstGeom>
          <a:solidFill>
            <a:srgbClr val="FFFFFF"/>
          </a:solidFill>
          <a:ln w="9525">
            <a:solidFill>
              <a:srgbClr val="D3DEE4"/>
            </a:solidFill>
            <a:prstDash val="solid"/>
          </a:ln>
        </p:spPr>
      </p:sp>
      <p:sp>
        <p:nvSpPr>
          <p:cNvPr id="14" name="Text 12"/>
          <p:cNvSpPr txBox="1"/>
          <p:nvPr/>
        </p:nvSpPr>
        <p:spPr>
          <a:xfrm>
            <a:off x="6327648" y="1883664"/>
            <a:ext cx="4572000" cy="274320"/>
          </a:xfrm>
          <a:prstGeom prst="rect">
            <a:avLst/>
          </a:prstGeom>
          <a:noFill/>
          <a:ln/>
        </p:spPr>
        <p:txBody>
          <a:bodyPr wrap="square" lIns="0" tIns="0" rIns="0" bIns="0" rtlCol="0" anchor="ctr"/>
          <a:lstStyle/>
          <a:p>
            <a:pPr algn="l" indent="0" marL="0">
              <a:lnSpc>
                <a:spcPts val="1680"/>
              </a:lnSpc>
              <a:buNone/>
            </a:pPr>
            <a:r>
              <a:rPr lang="en-US" sz="1400" b="1" dirty="0">
                <a:solidFill>
                  <a:srgbClr val="007C9F"/>
                </a:solidFill>
                <a:latin typeface="Arial" pitchFamily="34" charset="0"/>
                <a:ea typeface="Arial" pitchFamily="34" charset="-122"/>
                <a:cs typeface="Arial" pitchFamily="34" charset="-120"/>
              </a:rPr>
              <a:t>DENOMINADORES DECLARADOS</a:t>
            </a:r>
            <a:endParaRPr lang="en-US" sz="1400" dirty="0"/>
          </a:p>
        </p:txBody>
      </p:sp>
      <p:sp>
        <p:nvSpPr>
          <p:cNvPr id="15" name="Shape 13"/>
          <p:cNvSpPr/>
          <p:nvPr/>
        </p:nvSpPr>
        <p:spPr>
          <a:xfrm>
            <a:off x="6327648" y="2267712"/>
            <a:ext cx="4995367" cy="731520"/>
          </a:xfrm>
          <a:prstGeom prst="roundRect">
            <a:avLst>
              <a:gd name="adj" fmla="val 5000"/>
            </a:avLst>
          </a:prstGeom>
          <a:solidFill>
            <a:srgbClr val="E3EDF1"/>
          </a:solidFill>
          <a:ln/>
        </p:spPr>
      </p:sp>
      <p:sp>
        <p:nvSpPr>
          <p:cNvPr id="16" name="Text 14"/>
          <p:cNvSpPr txBox="1"/>
          <p:nvPr/>
        </p:nvSpPr>
        <p:spPr>
          <a:xfrm>
            <a:off x="6528816" y="2322576"/>
            <a:ext cx="3291840" cy="310896"/>
          </a:xfrm>
          <a:prstGeom prst="rect">
            <a:avLst/>
          </a:prstGeom>
          <a:noFill/>
          <a:ln/>
        </p:spPr>
        <p:txBody>
          <a:bodyPr wrap="square" lIns="0" tIns="0" rIns="0" bIns="0" rtlCol="0" anchor="ctr"/>
          <a:lstStyle/>
          <a:p>
            <a:pPr algn="l" indent="0" marL="0">
              <a:lnSpc>
                <a:spcPts val="1920"/>
              </a:lnSpc>
              <a:buNone/>
            </a:pPr>
            <a:r>
              <a:rPr lang="en-US" sz="1600" b="1" dirty="0">
                <a:solidFill>
                  <a:srgbClr val="142D3D"/>
                </a:solidFill>
                <a:latin typeface="Arial" pitchFamily="34" charset="0"/>
                <a:ea typeface="Arial" pitchFamily="34" charset="-122"/>
                <a:cs typeface="Arial" pitchFamily="34" charset="-120"/>
              </a:rPr>
              <a:t>Ejecución concluyente</a:t>
            </a:r>
            <a:endParaRPr lang="en-US" sz="1600" dirty="0"/>
          </a:p>
        </p:txBody>
      </p:sp>
      <p:sp>
        <p:nvSpPr>
          <p:cNvPr id="17" name="Text 15"/>
          <p:cNvSpPr txBox="1"/>
          <p:nvPr/>
        </p:nvSpPr>
        <p:spPr>
          <a:xfrm>
            <a:off x="6528816" y="2633472"/>
            <a:ext cx="3291840" cy="292608"/>
          </a:xfrm>
          <a:prstGeom prst="rect">
            <a:avLst/>
          </a:prstGeom>
          <a:noFill/>
          <a:ln/>
        </p:spPr>
        <p:txBody>
          <a:bodyPr wrap="square" lIns="0" tIns="0" rIns="0" bIns="0" rtlCol="0" anchor="ctr"/>
          <a:lstStyle/>
          <a:p>
            <a:pPr algn="l" indent="0" marL="0">
              <a:lnSpc>
                <a:spcPts val="1680"/>
              </a:lnSpc>
              <a:buNone/>
            </a:pPr>
            <a:r>
              <a:rPr lang="en-US" sz="1400" dirty="0">
                <a:solidFill>
                  <a:srgbClr val="516673"/>
                </a:solidFill>
                <a:latin typeface="Arial" pitchFamily="34" charset="0"/>
                <a:ea typeface="Arial" pitchFamily="34" charset="-122"/>
                <a:cs typeface="Arial" pitchFamily="34" charset="-120"/>
              </a:rPr>
              <a:t>sobre planificados Alta</a:t>
            </a:r>
            <a:endParaRPr lang="en-US" sz="1400" dirty="0"/>
          </a:p>
        </p:txBody>
      </p:sp>
      <p:sp>
        <p:nvSpPr>
          <p:cNvPr id="18" name="Text 16"/>
          <p:cNvSpPr txBox="1"/>
          <p:nvPr/>
        </p:nvSpPr>
        <p:spPr>
          <a:xfrm>
            <a:off x="9859975" y="2267712"/>
            <a:ext cx="1444752" cy="731520"/>
          </a:xfrm>
          <a:prstGeom prst="rect">
            <a:avLst/>
          </a:prstGeom>
          <a:noFill/>
          <a:ln/>
        </p:spPr>
        <p:txBody>
          <a:bodyPr wrap="square" lIns="0" tIns="0" rIns="0" bIns="0" rtlCol="0" anchor="ctr"/>
          <a:lstStyle/>
          <a:p>
            <a:pPr algn="r" indent="0" marL="0">
              <a:lnSpc>
                <a:spcPts val="2640"/>
              </a:lnSpc>
              <a:buNone/>
            </a:pPr>
            <a:r>
              <a:rPr lang="en-US" sz="2200" b="1" dirty="0">
                <a:solidFill>
                  <a:srgbClr val="007C9F"/>
                </a:solidFill>
                <a:latin typeface="Arial" pitchFamily="34" charset="0"/>
                <a:ea typeface="Arial" pitchFamily="34" charset="-122"/>
                <a:cs typeface="Arial" pitchFamily="34" charset="-120"/>
              </a:rPr>
              <a:t>5 / 14</a:t>
            </a:r>
            <a:endParaRPr lang="en-US" sz="2200" dirty="0"/>
          </a:p>
        </p:txBody>
      </p:sp>
      <p:sp>
        <p:nvSpPr>
          <p:cNvPr id="19" name="Shape 17"/>
          <p:cNvSpPr/>
          <p:nvPr/>
        </p:nvSpPr>
        <p:spPr>
          <a:xfrm>
            <a:off x="6327648" y="3108960"/>
            <a:ext cx="4995367" cy="731520"/>
          </a:xfrm>
          <a:prstGeom prst="roundRect">
            <a:avLst>
              <a:gd name="adj" fmla="val 5000"/>
            </a:avLst>
          </a:prstGeom>
          <a:solidFill>
            <a:srgbClr val="E3EDF1"/>
          </a:solidFill>
          <a:ln/>
        </p:spPr>
      </p:sp>
      <p:sp>
        <p:nvSpPr>
          <p:cNvPr id="20" name="Text 18"/>
          <p:cNvSpPr txBox="1"/>
          <p:nvPr/>
        </p:nvSpPr>
        <p:spPr>
          <a:xfrm>
            <a:off x="6528816" y="3163824"/>
            <a:ext cx="3291840" cy="310896"/>
          </a:xfrm>
          <a:prstGeom prst="rect">
            <a:avLst/>
          </a:prstGeom>
          <a:noFill/>
          <a:ln/>
        </p:spPr>
        <p:txBody>
          <a:bodyPr wrap="square" lIns="0" tIns="0" rIns="0" bIns="0" rtlCol="0" anchor="ctr"/>
          <a:lstStyle/>
          <a:p>
            <a:pPr algn="l" indent="0" marL="0">
              <a:lnSpc>
                <a:spcPts val="1920"/>
              </a:lnSpc>
              <a:buNone/>
            </a:pPr>
            <a:r>
              <a:rPr lang="en-US" sz="1600" b="1" dirty="0">
                <a:solidFill>
                  <a:srgbClr val="142D3D"/>
                </a:solidFill>
                <a:latin typeface="Arial" pitchFamily="34" charset="0"/>
                <a:ea typeface="Arial" pitchFamily="34" charset="-122"/>
                <a:cs typeface="Arial" pitchFamily="34" charset="-120"/>
              </a:rPr>
              <a:t>Aprobación</a:t>
            </a:r>
            <a:endParaRPr lang="en-US" sz="1600" dirty="0"/>
          </a:p>
        </p:txBody>
      </p:sp>
      <p:sp>
        <p:nvSpPr>
          <p:cNvPr id="21" name="Text 19"/>
          <p:cNvSpPr txBox="1"/>
          <p:nvPr/>
        </p:nvSpPr>
        <p:spPr>
          <a:xfrm>
            <a:off x="6528816" y="3474720"/>
            <a:ext cx="3291840" cy="292608"/>
          </a:xfrm>
          <a:prstGeom prst="rect">
            <a:avLst/>
          </a:prstGeom>
          <a:noFill/>
          <a:ln/>
        </p:spPr>
        <p:txBody>
          <a:bodyPr wrap="square" lIns="0" tIns="0" rIns="0" bIns="0" rtlCol="0" anchor="ctr"/>
          <a:lstStyle/>
          <a:p>
            <a:pPr algn="l" indent="0" marL="0">
              <a:lnSpc>
                <a:spcPts val="1680"/>
              </a:lnSpc>
              <a:buNone/>
            </a:pPr>
            <a:r>
              <a:rPr lang="en-US" sz="1400" dirty="0">
                <a:solidFill>
                  <a:srgbClr val="516673"/>
                </a:solidFill>
                <a:latin typeface="Arial" pitchFamily="34" charset="0"/>
                <a:ea typeface="Arial" pitchFamily="34" charset="-122"/>
                <a:cs typeface="Arial" pitchFamily="34" charset="-120"/>
              </a:rPr>
              <a:t>sobre concluyentes</a:t>
            </a:r>
            <a:endParaRPr lang="en-US" sz="1400" dirty="0"/>
          </a:p>
        </p:txBody>
      </p:sp>
      <p:sp>
        <p:nvSpPr>
          <p:cNvPr id="22" name="Text 20"/>
          <p:cNvSpPr txBox="1"/>
          <p:nvPr/>
        </p:nvSpPr>
        <p:spPr>
          <a:xfrm>
            <a:off x="9859975" y="3108960"/>
            <a:ext cx="1444752" cy="731520"/>
          </a:xfrm>
          <a:prstGeom prst="rect">
            <a:avLst/>
          </a:prstGeom>
          <a:noFill/>
          <a:ln/>
        </p:spPr>
        <p:txBody>
          <a:bodyPr wrap="square" lIns="0" tIns="0" rIns="0" bIns="0" rtlCol="0" anchor="ctr"/>
          <a:lstStyle/>
          <a:p>
            <a:pPr algn="r" indent="0" marL="0">
              <a:lnSpc>
                <a:spcPts val="2640"/>
              </a:lnSpc>
              <a:buNone/>
            </a:pPr>
            <a:r>
              <a:rPr lang="en-US" sz="2200" b="1" dirty="0">
                <a:solidFill>
                  <a:srgbClr val="007C9F"/>
                </a:solidFill>
                <a:latin typeface="Arial" pitchFamily="34" charset="0"/>
                <a:ea typeface="Arial" pitchFamily="34" charset="-122"/>
                <a:cs typeface="Arial" pitchFamily="34" charset="-120"/>
              </a:rPr>
              <a:t>3 / 5</a:t>
            </a:r>
            <a:endParaRPr lang="en-US" sz="2200" dirty="0"/>
          </a:p>
        </p:txBody>
      </p:sp>
      <p:sp>
        <p:nvSpPr>
          <p:cNvPr id="23" name="Shape 21"/>
          <p:cNvSpPr/>
          <p:nvPr/>
        </p:nvSpPr>
        <p:spPr>
          <a:xfrm>
            <a:off x="6327648" y="3950208"/>
            <a:ext cx="4995367" cy="731520"/>
          </a:xfrm>
          <a:prstGeom prst="roundRect">
            <a:avLst>
              <a:gd name="adj" fmla="val 5000"/>
            </a:avLst>
          </a:prstGeom>
          <a:solidFill>
            <a:srgbClr val="E3EDF1"/>
          </a:solidFill>
          <a:ln/>
        </p:spPr>
      </p:sp>
      <p:sp>
        <p:nvSpPr>
          <p:cNvPr id="24" name="Text 22"/>
          <p:cNvSpPr txBox="1"/>
          <p:nvPr/>
        </p:nvSpPr>
        <p:spPr>
          <a:xfrm>
            <a:off x="6528816" y="4005072"/>
            <a:ext cx="3291840" cy="310896"/>
          </a:xfrm>
          <a:prstGeom prst="rect">
            <a:avLst/>
          </a:prstGeom>
          <a:noFill/>
          <a:ln/>
        </p:spPr>
        <p:txBody>
          <a:bodyPr wrap="square" lIns="0" tIns="0" rIns="0" bIns="0" rtlCol="0" anchor="ctr"/>
          <a:lstStyle/>
          <a:p>
            <a:pPr algn="l" indent="0" marL="0">
              <a:lnSpc>
                <a:spcPts val="1920"/>
              </a:lnSpc>
              <a:buNone/>
            </a:pPr>
            <a:r>
              <a:rPr lang="en-US" sz="1600" b="1" dirty="0">
                <a:solidFill>
                  <a:srgbClr val="142D3D"/>
                </a:solidFill>
                <a:latin typeface="Arial" pitchFamily="34" charset="0"/>
                <a:ea typeface="Arial" pitchFamily="34" charset="-122"/>
                <a:cs typeface="Arial" pitchFamily="34" charset="-120"/>
              </a:rPr>
              <a:t>Bloqueo</a:t>
            </a:r>
            <a:endParaRPr lang="en-US" sz="1600" dirty="0"/>
          </a:p>
        </p:txBody>
      </p:sp>
      <p:sp>
        <p:nvSpPr>
          <p:cNvPr id="25" name="Text 23"/>
          <p:cNvSpPr txBox="1"/>
          <p:nvPr/>
        </p:nvSpPr>
        <p:spPr>
          <a:xfrm>
            <a:off x="6528816" y="4315968"/>
            <a:ext cx="3291840" cy="292608"/>
          </a:xfrm>
          <a:prstGeom prst="rect">
            <a:avLst/>
          </a:prstGeom>
          <a:noFill/>
          <a:ln/>
        </p:spPr>
        <p:txBody>
          <a:bodyPr wrap="square" lIns="0" tIns="0" rIns="0" bIns="0" rtlCol="0" anchor="ctr"/>
          <a:lstStyle/>
          <a:p>
            <a:pPr algn="l" indent="0" marL="0">
              <a:lnSpc>
                <a:spcPts val="1680"/>
              </a:lnSpc>
              <a:buNone/>
            </a:pPr>
            <a:r>
              <a:rPr lang="en-US" sz="1400" dirty="0">
                <a:solidFill>
                  <a:srgbClr val="516673"/>
                </a:solidFill>
                <a:latin typeface="Arial" pitchFamily="34" charset="0"/>
                <a:ea typeface="Arial" pitchFamily="34" charset="-122"/>
                <a:cs typeface="Arial" pitchFamily="34" charset="-120"/>
              </a:rPr>
              <a:t>sobre planificados Alta</a:t>
            </a:r>
            <a:endParaRPr lang="en-US" sz="1400" dirty="0"/>
          </a:p>
        </p:txBody>
      </p:sp>
      <p:sp>
        <p:nvSpPr>
          <p:cNvPr id="26" name="Text 24"/>
          <p:cNvSpPr txBox="1"/>
          <p:nvPr/>
        </p:nvSpPr>
        <p:spPr>
          <a:xfrm>
            <a:off x="9859975" y="3950208"/>
            <a:ext cx="1444752" cy="731520"/>
          </a:xfrm>
          <a:prstGeom prst="rect">
            <a:avLst/>
          </a:prstGeom>
          <a:noFill/>
          <a:ln/>
        </p:spPr>
        <p:txBody>
          <a:bodyPr wrap="square" lIns="0" tIns="0" rIns="0" bIns="0" rtlCol="0" anchor="ctr"/>
          <a:lstStyle/>
          <a:p>
            <a:pPr algn="r" indent="0" marL="0">
              <a:lnSpc>
                <a:spcPts val="2640"/>
              </a:lnSpc>
              <a:buNone/>
            </a:pPr>
            <a:r>
              <a:rPr lang="en-US" sz="2200" b="1" dirty="0">
                <a:solidFill>
                  <a:srgbClr val="007C9F"/>
                </a:solidFill>
                <a:latin typeface="Arial" pitchFamily="34" charset="0"/>
                <a:ea typeface="Arial" pitchFamily="34" charset="-122"/>
                <a:cs typeface="Arial" pitchFamily="34" charset="-120"/>
              </a:rPr>
              <a:t>9 / 14</a:t>
            </a:r>
            <a:endParaRPr lang="en-US" sz="2200" dirty="0"/>
          </a:p>
        </p:txBody>
      </p:sp>
      <p:sp>
        <p:nvSpPr>
          <p:cNvPr id="27" name="Shape 25"/>
          <p:cNvSpPr/>
          <p:nvPr/>
        </p:nvSpPr>
        <p:spPr>
          <a:xfrm>
            <a:off x="594360" y="5074920"/>
            <a:ext cx="11002975" cy="868680"/>
          </a:xfrm>
          <a:prstGeom prst="roundRect">
            <a:avLst>
              <a:gd name="adj" fmla="val 6316"/>
            </a:avLst>
          </a:prstGeom>
          <a:solidFill>
            <a:srgbClr val="142D3D"/>
          </a:solidFill>
          <a:ln/>
        </p:spPr>
      </p:sp>
      <p:sp>
        <p:nvSpPr>
          <p:cNvPr id="28" name="Text 26"/>
          <p:cNvSpPr txBox="1"/>
          <p:nvPr/>
        </p:nvSpPr>
        <p:spPr>
          <a:xfrm>
            <a:off x="914400" y="5074920"/>
            <a:ext cx="10362895" cy="868680"/>
          </a:xfrm>
          <a:prstGeom prst="rect">
            <a:avLst/>
          </a:prstGeom>
          <a:noFill/>
          <a:ln/>
        </p:spPr>
        <p:txBody>
          <a:bodyPr wrap="square" lIns="0" tIns="0" rIns="0" bIns="0" rtlCol="0" anchor="ctr"/>
          <a:lstStyle/>
          <a:p>
            <a:pPr algn="l" indent="0" marL="0">
              <a:lnSpc>
                <a:spcPts val="2640"/>
              </a:lnSpc>
              <a:buNone/>
            </a:pPr>
            <a:r>
              <a:rPr lang="en-US" sz="2200" b="1" dirty="0">
                <a:solidFill>
                  <a:srgbClr val="FFFFFF"/>
                </a:solidFill>
                <a:latin typeface="Arial" pitchFamily="34" charset="0"/>
                <a:ea typeface="Arial" pitchFamily="34" charset="-122"/>
                <a:cs typeface="Arial" pitchFamily="34" charset="-120"/>
              </a:rPr>
              <a:t>Registro ≠ ejecución.    Ejecución ≠ aprobación.</a:t>
            </a:r>
            <a:endParaRPr lang="en-US" sz="2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2F6F8"/>
        </a:solidFill>
      </p:bgPr>
    </p:bg>
    <p:spTree>
      <p:nvGrpSpPr>
        <p:cNvPr id="1" name=""/>
        <p:cNvGrpSpPr/>
        <p:nvPr/>
      </p:nvGrpSpPr>
      <p:grpSpPr>
        <a:xfrm>
          <a:off x="0" y="0"/>
          <a:ext cx="0" cy="0"/>
          <a:chOff x="0" y="0"/>
          <a:chExt cx="0" cy="0"/>
        </a:xfrm>
      </p:grpSpPr>
      <p:sp>
        <p:nvSpPr>
          <p:cNvPr id="2" name="Shape 0"/>
          <p:cNvSpPr/>
          <p:nvPr/>
        </p:nvSpPr>
        <p:spPr>
          <a:xfrm>
            <a:off x="594360" y="457200"/>
            <a:ext cx="457200" cy="457200"/>
          </a:xfrm>
          <a:prstGeom prst="ellipse">
            <a:avLst/>
          </a:prstGeom>
          <a:solidFill>
            <a:srgbClr val="007C9F"/>
          </a:solidFill>
          <a:ln/>
        </p:spPr>
      </p:sp>
      <p:sp>
        <p:nvSpPr>
          <p:cNvPr id="3" name="Text 1"/>
          <p:cNvSpPr txBox="1"/>
          <p:nvPr/>
        </p:nvSpPr>
        <p:spPr>
          <a:xfrm>
            <a:off x="594360" y="457200"/>
            <a:ext cx="457200" cy="457200"/>
          </a:xfrm>
          <a:prstGeom prst="rect">
            <a:avLst/>
          </a:prstGeom>
          <a:noFill/>
          <a:ln/>
        </p:spPr>
        <p:txBody>
          <a:bodyPr wrap="square" lIns="0" tIns="0" rIns="0" bIns="0" rtlCol="0" anchor="ctr"/>
          <a:lstStyle/>
          <a:p>
            <a:pPr algn="ctr" indent="0" marL="0">
              <a:lnSpc>
                <a:spcPts val="1920"/>
              </a:lnSpc>
              <a:buNone/>
            </a:pPr>
            <a:r>
              <a:rPr lang="en-US" sz="1600" b="1" dirty="0">
                <a:solidFill>
                  <a:srgbClr val="FFFFFF"/>
                </a:solidFill>
                <a:latin typeface="Arial" pitchFamily="34" charset="0"/>
                <a:ea typeface="Arial" pitchFamily="34" charset="-122"/>
                <a:cs typeface="Arial" pitchFamily="34" charset="-120"/>
              </a:rPr>
              <a:t>12</a:t>
            </a:r>
            <a:endParaRPr lang="en-US" sz="1600" dirty="0"/>
          </a:p>
        </p:txBody>
      </p:sp>
      <p:sp>
        <p:nvSpPr>
          <p:cNvPr id="4" name="Text 2"/>
          <p:cNvSpPr txBox="1"/>
          <p:nvPr/>
        </p:nvSpPr>
        <p:spPr>
          <a:xfrm>
            <a:off x="1207008" y="429768"/>
            <a:ext cx="7726680" cy="530352"/>
          </a:xfrm>
          <a:prstGeom prst="rect">
            <a:avLst/>
          </a:prstGeom>
          <a:noFill/>
          <a:ln/>
        </p:spPr>
        <p:txBody>
          <a:bodyPr wrap="square" lIns="0" tIns="0" rIns="0" bIns="0" rtlCol="0" anchor="ctr"/>
          <a:lstStyle/>
          <a:p>
            <a:pPr algn="l" indent="0" marL="0">
              <a:lnSpc>
                <a:spcPts val="3360"/>
              </a:lnSpc>
              <a:buNone/>
            </a:pPr>
            <a:r>
              <a:rPr lang="en-US" sz="2800" b="1" dirty="0">
                <a:solidFill>
                  <a:srgbClr val="142D3D"/>
                </a:solidFill>
                <a:latin typeface="Arial" pitchFamily="34" charset="0"/>
                <a:ea typeface="Arial" pitchFamily="34" charset="-122"/>
                <a:cs typeface="Arial" pitchFamily="34" charset="-120"/>
              </a:rPr>
              <a:t>Resultados de los 14 casos de prioridad Alta</a:t>
            </a:r>
            <a:endParaRPr lang="en-US" sz="2800" dirty="0"/>
          </a:p>
        </p:txBody>
      </p:sp>
      <p:sp>
        <p:nvSpPr>
          <p:cNvPr id="5" name="Text 3"/>
          <p:cNvSpPr txBox="1"/>
          <p:nvPr/>
        </p:nvSpPr>
        <p:spPr>
          <a:xfrm>
            <a:off x="9006840" y="429768"/>
            <a:ext cx="2590495" cy="530352"/>
          </a:xfrm>
          <a:prstGeom prst="rect">
            <a:avLst/>
          </a:prstGeom>
          <a:noFill/>
          <a:ln/>
        </p:spPr>
        <p:txBody>
          <a:bodyPr wrap="square" lIns="0" tIns="0" rIns="0" bIns="0" rtlCol="0" anchor="ctr"/>
          <a:lstStyle/>
          <a:p>
            <a:pPr algn="r" indent="0" marL="0">
              <a:lnSpc>
                <a:spcPts val="1680"/>
              </a:lnSpc>
              <a:buNone/>
            </a:pPr>
            <a:r>
              <a:rPr lang="en-US" sz="1400" dirty="0">
                <a:solidFill>
                  <a:srgbClr val="516673"/>
                </a:solidFill>
                <a:latin typeface="Arial" pitchFamily="34" charset="0"/>
                <a:ea typeface="Arial" pitchFamily="34" charset="-122"/>
                <a:cs typeface="Arial" pitchFamily="34" charset="-120"/>
              </a:rPr>
              <a:t>Granit · 8:25–9:00</a:t>
            </a:r>
            <a:endParaRPr lang="en-US" sz="1400" dirty="0"/>
          </a:p>
        </p:txBody>
      </p:sp>
      <p:sp>
        <p:nvSpPr>
          <p:cNvPr id="6" name="Shape 4"/>
          <p:cNvSpPr/>
          <p:nvPr/>
        </p:nvSpPr>
        <p:spPr>
          <a:xfrm>
            <a:off x="594360" y="1664208"/>
            <a:ext cx="3520440" cy="1645920"/>
          </a:xfrm>
          <a:prstGeom prst="roundRect">
            <a:avLst>
              <a:gd name="adj" fmla="val 3333"/>
            </a:avLst>
          </a:prstGeom>
          <a:solidFill>
            <a:srgbClr val="FFFFFF"/>
          </a:solidFill>
          <a:ln w="9525">
            <a:solidFill>
              <a:srgbClr val="D3DEE4"/>
            </a:solidFill>
            <a:prstDash val="solid"/>
          </a:ln>
        </p:spPr>
      </p:sp>
      <p:sp>
        <p:nvSpPr>
          <p:cNvPr id="7" name="Text 5"/>
          <p:cNvSpPr txBox="1"/>
          <p:nvPr/>
        </p:nvSpPr>
        <p:spPr>
          <a:xfrm>
            <a:off x="594360" y="1847088"/>
            <a:ext cx="3520440" cy="804672"/>
          </a:xfrm>
          <a:prstGeom prst="rect">
            <a:avLst/>
          </a:prstGeom>
          <a:noFill/>
          <a:ln/>
        </p:spPr>
        <p:txBody>
          <a:bodyPr wrap="square" lIns="0" tIns="0" rIns="0" bIns="0" rtlCol="0" anchor="ctr"/>
          <a:lstStyle/>
          <a:p>
            <a:pPr algn="ctr" indent="0" marL="0">
              <a:lnSpc>
                <a:spcPts val="5760"/>
              </a:lnSpc>
              <a:buNone/>
            </a:pPr>
            <a:r>
              <a:rPr lang="en-US" sz="4800" b="1" dirty="0">
                <a:solidFill>
                  <a:srgbClr val="18744D"/>
                </a:solidFill>
                <a:latin typeface="Arial" pitchFamily="34" charset="0"/>
                <a:ea typeface="Arial" pitchFamily="34" charset="-122"/>
                <a:cs typeface="Arial" pitchFamily="34" charset="-120"/>
              </a:rPr>
              <a:t>3</a:t>
            </a:r>
            <a:endParaRPr lang="en-US" sz="4800" dirty="0"/>
          </a:p>
        </p:txBody>
      </p:sp>
      <p:sp>
        <p:nvSpPr>
          <p:cNvPr id="8" name="Shape 6"/>
          <p:cNvSpPr/>
          <p:nvPr/>
        </p:nvSpPr>
        <p:spPr>
          <a:xfrm>
            <a:off x="1973461" y="2798064"/>
            <a:ext cx="762238" cy="301752"/>
          </a:xfrm>
          <a:prstGeom prst="roundRect">
            <a:avLst>
              <a:gd name="adj" fmla="val 15152"/>
            </a:avLst>
          </a:prstGeom>
          <a:solidFill>
            <a:srgbClr val="18744D"/>
          </a:solidFill>
          <a:ln/>
        </p:spPr>
      </p:sp>
      <p:sp>
        <p:nvSpPr>
          <p:cNvPr id="9" name="Text 7"/>
          <p:cNvSpPr txBox="1"/>
          <p:nvPr/>
        </p:nvSpPr>
        <p:spPr>
          <a:xfrm>
            <a:off x="1973461" y="2798064"/>
            <a:ext cx="762238" cy="301752"/>
          </a:xfrm>
          <a:prstGeom prst="rect">
            <a:avLst/>
          </a:prstGeom>
          <a:noFill/>
          <a:ln/>
        </p:spPr>
        <p:txBody>
          <a:bodyPr wrap="square" lIns="25400" tIns="0" rIns="25400" bIns="0" rtlCol="0" anchor="ctr"/>
          <a:lstStyle/>
          <a:p>
            <a:pPr algn="ctr" indent="0" marL="0">
              <a:lnSpc>
                <a:spcPts val="1680"/>
              </a:lnSpc>
              <a:buNone/>
            </a:pPr>
            <a:r>
              <a:rPr lang="en-US" sz="1400" b="1" dirty="0">
                <a:solidFill>
                  <a:srgbClr val="FFFFFF"/>
                </a:solidFill>
                <a:latin typeface="Arial" pitchFamily="34" charset="0"/>
                <a:ea typeface="Arial" pitchFamily="34" charset="-122"/>
                <a:cs typeface="Arial" pitchFamily="34" charset="-120"/>
              </a:rPr>
              <a:t>PASÓ</a:t>
            </a:r>
            <a:endParaRPr lang="en-US" sz="1400" dirty="0"/>
          </a:p>
        </p:txBody>
      </p:sp>
      <p:sp>
        <p:nvSpPr>
          <p:cNvPr id="10" name="Shape 8"/>
          <p:cNvSpPr/>
          <p:nvPr/>
        </p:nvSpPr>
        <p:spPr>
          <a:xfrm>
            <a:off x="4334256" y="1664208"/>
            <a:ext cx="3520440" cy="1645920"/>
          </a:xfrm>
          <a:prstGeom prst="roundRect">
            <a:avLst>
              <a:gd name="adj" fmla="val 3333"/>
            </a:avLst>
          </a:prstGeom>
          <a:solidFill>
            <a:srgbClr val="FFFFFF"/>
          </a:solidFill>
          <a:ln w="9525">
            <a:solidFill>
              <a:srgbClr val="D3DEE4"/>
            </a:solidFill>
            <a:prstDash val="solid"/>
          </a:ln>
        </p:spPr>
      </p:sp>
      <p:sp>
        <p:nvSpPr>
          <p:cNvPr id="11" name="Text 9"/>
          <p:cNvSpPr txBox="1"/>
          <p:nvPr/>
        </p:nvSpPr>
        <p:spPr>
          <a:xfrm>
            <a:off x="4334256" y="1847088"/>
            <a:ext cx="3520440" cy="804672"/>
          </a:xfrm>
          <a:prstGeom prst="rect">
            <a:avLst/>
          </a:prstGeom>
          <a:noFill/>
          <a:ln/>
        </p:spPr>
        <p:txBody>
          <a:bodyPr wrap="square" lIns="0" tIns="0" rIns="0" bIns="0" rtlCol="0" anchor="ctr"/>
          <a:lstStyle/>
          <a:p>
            <a:pPr algn="ctr" indent="0" marL="0">
              <a:lnSpc>
                <a:spcPts val="5760"/>
              </a:lnSpc>
              <a:buNone/>
            </a:pPr>
            <a:r>
              <a:rPr lang="en-US" sz="4800" b="1" dirty="0">
                <a:solidFill>
                  <a:srgbClr val="BA3C3C"/>
                </a:solidFill>
                <a:latin typeface="Arial" pitchFamily="34" charset="0"/>
                <a:ea typeface="Arial" pitchFamily="34" charset="-122"/>
                <a:cs typeface="Arial" pitchFamily="34" charset="-120"/>
              </a:rPr>
              <a:t>2</a:t>
            </a:r>
            <a:endParaRPr lang="en-US" sz="4800" dirty="0"/>
          </a:p>
        </p:txBody>
      </p:sp>
      <p:sp>
        <p:nvSpPr>
          <p:cNvPr id="12" name="Shape 10"/>
          <p:cNvSpPr/>
          <p:nvPr/>
        </p:nvSpPr>
        <p:spPr>
          <a:xfrm>
            <a:off x="5667661" y="2798064"/>
            <a:ext cx="853631" cy="301752"/>
          </a:xfrm>
          <a:prstGeom prst="roundRect">
            <a:avLst>
              <a:gd name="adj" fmla="val 15152"/>
            </a:avLst>
          </a:prstGeom>
          <a:solidFill>
            <a:srgbClr val="BA3C3C"/>
          </a:solidFill>
          <a:ln/>
        </p:spPr>
      </p:sp>
      <p:sp>
        <p:nvSpPr>
          <p:cNvPr id="13" name="Text 11"/>
          <p:cNvSpPr txBox="1"/>
          <p:nvPr/>
        </p:nvSpPr>
        <p:spPr>
          <a:xfrm>
            <a:off x="5667661" y="2798064"/>
            <a:ext cx="853631" cy="301752"/>
          </a:xfrm>
          <a:prstGeom prst="rect">
            <a:avLst/>
          </a:prstGeom>
          <a:noFill/>
          <a:ln/>
        </p:spPr>
        <p:txBody>
          <a:bodyPr wrap="square" lIns="25400" tIns="0" rIns="25400" bIns="0" rtlCol="0" anchor="ctr"/>
          <a:lstStyle/>
          <a:p>
            <a:pPr algn="ctr" indent="0" marL="0">
              <a:lnSpc>
                <a:spcPts val="1680"/>
              </a:lnSpc>
              <a:buNone/>
            </a:pPr>
            <a:r>
              <a:rPr lang="en-US" sz="1400" b="1" dirty="0">
                <a:solidFill>
                  <a:srgbClr val="FFFFFF"/>
                </a:solidFill>
                <a:latin typeface="Arial" pitchFamily="34" charset="0"/>
                <a:ea typeface="Arial" pitchFamily="34" charset="-122"/>
                <a:cs typeface="Arial" pitchFamily="34" charset="-120"/>
              </a:rPr>
              <a:t>FALLÓ</a:t>
            </a:r>
            <a:endParaRPr lang="en-US" sz="1400" dirty="0"/>
          </a:p>
        </p:txBody>
      </p:sp>
      <p:sp>
        <p:nvSpPr>
          <p:cNvPr id="14" name="Shape 12"/>
          <p:cNvSpPr/>
          <p:nvPr/>
        </p:nvSpPr>
        <p:spPr>
          <a:xfrm>
            <a:off x="8074152" y="1664208"/>
            <a:ext cx="3520440" cy="1645920"/>
          </a:xfrm>
          <a:prstGeom prst="roundRect">
            <a:avLst>
              <a:gd name="adj" fmla="val 3333"/>
            </a:avLst>
          </a:prstGeom>
          <a:solidFill>
            <a:srgbClr val="FFFFFF"/>
          </a:solidFill>
          <a:ln w="9525">
            <a:solidFill>
              <a:srgbClr val="D3DEE4"/>
            </a:solidFill>
            <a:prstDash val="solid"/>
          </a:ln>
        </p:spPr>
      </p:sp>
      <p:sp>
        <p:nvSpPr>
          <p:cNvPr id="15" name="Text 13"/>
          <p:cNvSpPr txBox="1"/>
          <p:nvPr/>
        </p:nvSpPr>
        <p:spPr>
          <a:xfrm>
            <a:off x="8074152" y="1847088"/>
            <a:ext cx="3520440" cy="804672"/>
          </a:xfrm>
          <a:prstGeom prst="rect">
            <a:avLst/>
          </a:prstGeom>
          <a:noFill/>
          <a:ln/>
        </p:spPr>
        <p:txBody>
          <a:bodyPr wrap="square" lIns="0" tIns="0" rIns="0" bIns="0" rtlCol="0" anchor="ctr"/>
          <a:lstStyle/>
          <a:p>
            <a:pPr algn="ctr" indent="0" marL="0">
              <a:lnSpc>
                <a:spcPts val="5760"/>
              </a:lnSpc>
              <a:buNone/>
            </a:pPr>
            <a:r>
              <a:rPr lang="en-US" sz="4800" b="1" dirty="0">
                <a:solidFill>
                  <a:srgbClr val="A46810"/>
                </a:solidFill>
                <a:latin typeface="Arial" pitchFamily="34" charset="0"/>
                <a:ea typeface="Arial" pitchFamily="34" charset="-122"/>
                <a:cs typeface="Arial" pitchFamily="34" charset="-120"/>
              </a:rPr>
              <a:t>9</a:t>
            </a:r>
            <a:endParaRPr lang="en-US" sz="4800" dirty="0"/>
          </a:p>
        </p:txBody>
      </p:sp>
      <p:sp>
        <p:nvSpPr>
          <p:cNvPr id="16" name="Shape 14"/>
          <p:cNvSpPr/>
          <p:nvPr/>
        </p:nvSpPr>
        <p:spPr>
          <a:xfrm>
            <a:off x="9122664" y="2798064"/>
            <a:ext cx="1423416" cy="301752"/>
          </a:xfrm>
          <a:prstGeom prst="roundRect">
            <a:avLst>
              <a:gd name="adj" fmla="val 15152"/>
            </a:avLst>
          </a:prstGeom>
          <a:solidFill>
            <a:srgbClr val="A46810"/>
          </a:solidFill>
          <a:ln/>
        </p:spPr>
      </p:sp>
      <p:sp>
        <p:nvSpPr>
          <p:cNvPr id="17" name="Text 15"/>
          <p:cNvSpPr txBox="1"/>
          <p:nvPr/>
        </p:nvSpPr>
        <p:spPr>
          <a:xfrm>
            <a:off x="9122664" y="2798064"/>
            <a:ext cx="1423416" cy="301752"/>
          </a:xfrm>
          <a:prstGeom prst="rect">
            <a:avLst/>
          </a:prstGeom>
          <a:noFill/>
          <a:ln/>
        </p:spPr>
        <p:txBody>
          <a:bodyPr wrap="square" lIns="25400" tIns="0" rIns="25400" bIns="0" rtlCol="0" anchor="ctr"/>
          <a:lstStyle/>
          <a:p>
            <a:pPr algn="ctr" indent="0" marL="0">
              <a:lnSpc>
                <a:spcPts val="1680"/>
              </a:lnSpc>
              <a:buNone/>
            </a:pPr>
            <a:r>
              <a:rPr lang="en-US" sz="1400" b="1" dirty="0">
                <a:solidFill>
                  <a:srgbClr val="FFFFFF"/>
                </a:solidFill>
                <a:latin typeface="Arial" pitchFamily="34" charset="0"/>
                <a:ea typeface="Arial" pitchFamily="34" charset="-122"/>
                <a:cs typeface="Arial" pitchFamily="34" charset="-120"/>
              </a:rPr>
              <a:t>BLOQUEADO</a:t>
            </a:r>
            <a:endParaRPr lang="en-US" sz="1400" dirty="0"/>
          </a:p>
        </p:txBody>
      </p:sp>
      <p:sp>
        <p:nvSpPr>
          <p:cNvPr id="18" name="Shape 16"/>
          <p:cNvSpPr/>
          <p:nvPr/>
        </p:nvSpPr>
        <p:spPr>
          <a:xfrm>
            <a:off x="594360" y="3493008"/>
            <a:ext cx="3520440" cy="1645920"/>
          </a:xfrm>
          <a:prstGeom prst="roundRect">
            <a:avLst>
              <a:gd name="adj" fmla="val 3333"/>
            </a:avLst>
          </a:prstGeom>
          <a:solidFill>
            <a:srgbClr val="E3EDF1"/>
          </a:solidFill>
          <a:ln/>
        </p:spPr>
      </p:sp>
      <p:sp>
        <p:nvSpPr>
          <p:cNvPr id="19" name="Text 17"/>
          <p:cNvSpPr txBox="1"/>
          <p:nvPr/>
        </p:nvSpPr>
        <p:spPr>
          <a:xfrm>
            <a:off x="832104" y="3657600"/>
            <a:ext cx="3044952" cy="566928"/>
          </a:xfrm>
          <a:prstGeom prst="rect">
            <a:avLst/>
          </a:prstGeom>
          <a:noFill/>
          <a:ln/>
        </p:spPr>
        <p:txBody>
          <a:bodyPr wrap="square" lIns="0" tIns="0" rIns="0" bIns="0" rtlCol="0" anchor="ctr"/>
          <a:lstStyle/>
          <a:p>
            <a:pPr algn="l" indent="0" marL="0">
              <a:lnSpc>
                <a:spcPts val="3840"/>
              </a:lnSpc>
              <a:buNone/>
            </a:pPr>
            <a:r>
              <a:rPr lang="en-US" sz="3200" b="1" dirty="0">
                <a:solidFill>
                  <a:srgbClr val="142D3D"/>
                </a:solidFill>
                <a:latin typeface="Arial" pitchFamily="34" charset="0"/>
                <a:ea typeface="Arial" pitchFamily="34" charset="-122"/>
                <a:cs typeface="Arial" pitchFamily="34" charset="-120"/>
              </a:rPr>
              <a:t>35.7 %</a:t>
            </a:r>
            <a:endParaRPr lang="en-US" sz="3200" dirty="0"/>
          </a:p>
        </p:txBody>
      </p:sp>
      <p:sp>
        <p:nvSpPr>
          <p:cNvPr id="20" name="Text 18"/>
          <p:cNvSpPr txBox="1"/>
          <p:nvPr/>
        </p:nvSpPr>
        <p:spPr>
          <a:xfrm>
            <a:off x="832104" y="4279392"/>
            <a:ext cx="3044952" cy="329184"/>
          </a:xfrm>
          <a:prstGeom prst="rect">
            <a:avLst/>
          </a:prstGeom>
          <a:noFill/>
          <a:ln/>
        </p:spPr>
        <p:txBody>
          <a:bodyPr wrap="square" lIns="0" tIns="0" rIns="0" bIns="0" rtlCol="0" anchor="ctr"/>
          <a:lstStyle/>
          <a:p>
            <a:pPr algn="l" indent="0" marL="0">
              <a:lnSpc>
                <a:spcPts val="2040"/>
              </a:lnSpc>
              <a:buNone/>
            </a:pPr>
            <a:r>
              <a:rPr lang="en-US" sz="1700" b="1" dirty="0">
                <a:solidFill>
                  <a:srgbClr val="007C9F"/>
                </a:solidFill>
                <a:latin typeface="Arial" pitchFamily="34" charset="0"/>
                <a:ea typeface="Arial" pitchFamily="34" charset="-122"/>
                <a:cs typeface="Arial" pitchFamily="34" charset="-120"/>
              </a:rPr>
              <a:t>Ejecución concluyente</a:t>
            </a:r>
            <a:endParaRPr lang="en-US" sz="1700" dirty="0"/>
          </a:p>
        </p:txBody>
      </p:sp>
      <p:sp>
        <p:nvSpPr>
          <p:cNvPr id="21" name="Text 19"/>
          <p:cNvSpPr txBox="1"/>
          <p:nvPr/>
        </p:nvSpPr>
        <p:spPr>
          <a:xfrm>
            <a:off x="832104" y="4626864"/>
            <a:ext cx="3044952" cy="329184"/>
          </a:xfrm>
          <a:prstGeom prst="rect">
            <a:avLst/>
          </a:prstGeom>
          <a:noFill/>
          <a:ln/>
        </p:spPr>
        <p:txBody>
          <a:bodyPr wrap="square" lIns="0" tIns="0" rIns="0" bIns="0" rtlCol="0" anchor="ctr"/>
          <a:lstStyle/>
          <a:p>
            <a:pPr algn="l" indent="0" marL="0">
              <a:lnSpc>
                <a:spcPts val="1800"/>
              </a:lnSpc>
              <a:buNone/>
            </a:pPr>
            <a:r>
              <a:rPr lang="en-US" sz="1500" dirty="0">
                <a:solidFill>
                  <a:srgbClr val="516673"/>
                </a:solidFill>
                <a:latin typeface="Arial" pitchFamily="34" charset="0"/>
                <a:ea typeface="Arial" pitchFamily="34" charset="-122"/>
                <a:cs typeface="Arial" pitchFamily="34" charset="-120"/>
              </a:rPr>
              <a:t>5 de 14 planificados Alta</a:t>
            </a:r>
            <a:endParaRPr lang="en-US" sz="1500" dirty="0"/>
          </a:p>
        </p:txBody>
      </p:sp>
      <p:sp>
        <p:nvSpPr>
          <p:cNvPr id="22" name="Shape 20"/>
          <p:cNvSpPr/>
          <p:nvPr/>
        </p:nvSpPr>
        <p:spPr>
          <a:xfrm>
            <a:off x="4334256" y="3493008"/>
            <a:ext cx="3520440" cy="1645920"/>
          </a:xfrm>
          <a:prstGeom prst="roundRect">
            <a:avLst>
              <a:gd name="adj" fmla="val 3333"/>
            </a:avLst>
          </a:prstGeom>
          <a:solidFill>
            <a:srgbClr val="E3EDF1"/>
          </a:solidFill>
          <a:ln/>
        </p:spPr>
      </p:sp>
      <p:sp>
        <p:nvSpPr>
          <p:cNvPr id="23" name="Text 21"/>
          <p:cNvSpPr txBox="1"/>
          <p:nvPr/>
        </p:nvSpPr>
        <p:spPr>
          <a:xfrm>
            <a:off x="4572000" y="3657600"/>
            <a:ext cx="3044952" cy="566928"/>
          </a:xfrm>
          <a:prstGeom prst="rect">
            <a:avLst/>
          </a:prstGeom>
          <a:noFill/>
          <a:ln/>
        </p:spPr>
        <p:txBody>
          <a:bodyPr wrap="square" lIns="0" tIns="0" rIns="0" bIns="0" rtlCol="0" anchor="ctr"/>
          <a:lstStyle/>
          <a:p>
            <a:pPr algn="l" indent="0" marL="0">
              <a:lnSpc>
                <a:spcPts val="3840"/>
              </a:lnSpc>
              <a:buNone/>
            </a:pPr>
            <a:r>
              <a:rPr lang="en-US" sz="3200" b="1" dirty="0">
                <a:solidFill>
                  <a:srgbClr val="142D3D"/>
                </a:solidFill>
                <a:latin typeface="Arial" pitchFamily="34" charset="0"/>
                <a:ea typeface="Arial" pitchFamily="34" charset="-122"/>
                <a:cs typeface="Arial" pitchFamily="34" charset="-120"/>
              </a:rPr>
              <a:t>60 %</a:t>
            </a:r>
            <a:endParaRPr lang="en-US" sz="3200" dirty="0"/>
          </a:p>
        </p:txBody>
      </p:sp>
      <p:sp>
        <p:nvSpPr>
          <p:cNvPr id="24" name="Text 22"/>
          <p:cNvSpPr txBox="1"/>
          <p:nvPr/>
        </p:nvSpPr>
        <p:spPr>
          <a:xfrm>
            <a:off x="4572000" y="4279392"/>
            <a:ext cx="3044952" cy="329184"/>
          </a:xfrm>
          <a:prstGeom prst="rect">
            <a:avLst/>
          </a:prstGeom>
          <a:noFill/>
          <a:ln/>
        </p:spPr>
        <p:txBody>
          <a:bodyPr wrap="square" lIns="0" tIns="0" rIns="0" bIns="0" rtlCol="0" anchor="ctr"/>
          <a:lstStyle/>
          <a:p>
            <a:pPr algn="l" indent="0" marL="0">
              <a:lnSpc>
                <a:spcPts val="2040"/>
              </a:lnSpc>
              <a:buNone/>
            </a:pPr>
            <a:r>
              <a:rPr lang="en-US" sz="1700" b="1" dirty="0">
                <a:solidFill>
                  <a:srgbClr val="007C9F"/>
                </a:solidFill>
                <a:latin typeface="Arial" pitchFamily="34" charset="0"/>
                <a:ea typeface="Arial" pitchFamily="34" charset="-122"/>
                <a:cs typeface="Arial" pitchFamily="34" charset="-120"/>
              </a:rPr>
              <a:t>Aprobación</a:t>
            </a:r>
            <a:endParaRPr lang="en-US" sz="1700" dirty="0"/>
          </a:p>
        </p:txBody>
      </p:sp>
      <p:sp>
        <p:nvSpPr>
          <p:cNvPr id="25" name="Text 23"/>
          <p:cNvSpPr txBox="1"/>
          <p:nvPr/>
        </p:nvSpPr>
        <p:spPr>
          <a:xfrm>
            <a:off x="4572000" y="4626864"/>
            <a:ext cx="3044952" cy="329184"/>
          </a:xfrm>
          <a:prstGeom prst="rect">
            <a:avLst/>
          </a:prstGeom>
          <a:noFill/>
          <a:ln/>
        </p:spPr>
        <p:txBody>
          <a:bodyPr wrap="square" lIns="0" tIns="0" rIns="0" bIns="0" rtlCol="0" anchor="ctr"/>
          <a:lstStyle/>
          <a:p>
            <a:pPr algn="l" indent="0" marL="0">
              <a:lnSpc>
                <a:spcPts val="1800"/>
              </a:lnSpc>
              <a:buNone/>
            </a:pPr>
            <a:r>
              <a:rPr lang="en-US" sz="1500" dirty="0">
                <a:solidFill>
                  <a:srgbClr val="516673"/>
                </a:solidFill>
                <a:latin typeface="Arial" pitchFamily="34" charset="0"/>
                <a:ea typeface="Arial" pitchFamily="34" charset="-122"/>
                <a:cs typeface="Arial" pitchFamily="34" charset="-120"/>
              </a:rPr>
              <a:t>3 de 5 concluyentes</a:t>
            </a:r>
            <a:endParaRPr lang="en-US" sz="1500" dirty="0"/>
          </a:p>
        </p:txBody>
      </p:sp>
      <p:sp>
        <p:nvSpPr>
          <p:cNvPr id="26" name="Shape 24"/>
          <p:cNvSpPr/>
          <p:nvPr/>
        </p:nvSpPr>
        <p:spPr>
          <a:xfrm>
            <a:off x="8074152" y="3493008"/>
            <a:ext cx="3520440" cy="1645920"/>
          </a:xfrm>
          <a:prstGeom prst="roundRect">
            <a:avLst>
              <a:gd name="adj" fmla="val 3333"/>
            </a:avLst>
          </a:prstGeom>
          <a:solidFill>
            <a:srgbClr val="E3EDF1"/>
          </a:solidFill>
          <a:ln/>
        </p:spPr>
      </p:sp>
      <p:sp>
        <p:nvSpPr>
          <p:cNvPr id="27" name="Text 25"/>
          <p:cNvSpPr txBox="1"/>
          <p:nvPr/>
        </p:nvSpPr>
        <p:spPr>
          <a:xfrm>
            <a:off x="8311896" y="3657600"/>
            <a:ext cx="3044952" cy="566928"/>
          </a:xfrm>
          <a:prstGeom prst="rect">
            <a:avLst/>
          </a:prstGeom>
          <a:noFill/>
          <a:ln/>
        </p:spPr>
        <p:txBody>
          <a:bodyPr wrap="square" lIns="0" tIns="0" rIns="0" bIns="0" rtlCol="0" anchor="ctr"/>
          <a:lstStyle/>
          <a:p>
            <a:pPr algn="l" indent="0" marL="0">
              <a:lnSpc>
                <a:spcPts val="3840"/>
              </a:lnSpc>
              <a:buNone/>
            </a:pPr>
            <a:r>
              <a:rPr lang="en-US" sz="3200" b="1" dirty="0">
                <a:solidFill>
                  <a:srgbClr val="142D3D"/>
                </a:solidFill>
                <a:latin typeface="Arial" pitchFamily="34" charset="0"/>
                <a:ea typeface="Arial" pitchFamily="34" charset="-122"/>
                <a:cs typeface="Arial" pitchFamily="34" charset="-120"/>
              </a:rPr>
              <a:t>64.3 %</a:t>
            </a:r>
            <a:endParaRPr lang="en-US" sz="3200" dirty="0"/>
          </a:p>
        </p:txBody>
      </p:sp>
      <p:sp>
        <p:nvSpPr>
          <p:cNvPr id="28" name="Text 26"/>
          <p:cNvSpPr txBox="1"/>
          <p:nvPr/>
        </p:nvSpPr>
        <p:spPr>
          <a:xfrm>
            <a:off x="8311896" y="4279392"/>
            <a:ext cx="3044952" cy="329184"/>
          </a:xfrm>
          <a:prstGeom prst="rect">
            <a:avLst/>
          </a:prstGeom>
          <a:noFill/>
          <a:ln/>
        </p:spPr>
        <p:txBody>
          <a:bodyPr wrap="square" lIns="0" tIns="0" rIns="0" bIns="0" rtlCol="0" anchor="ctr"/>
          <a:lstStyle/>
          <a:p>
            <a:pPr algn="l" indent="0" marL="0">
              <a:lnSpc>
                <a:spcPts val="2040"/>
              </a:lnSpc>
              <a:buNone/>
            </a:pPr>
            <a:r>
              <a:rPr lang="en-US" sz="1700" b="1" dirty="0">
                <a:solidFill>
                  <a:srgbClr val="007C9F"/>
                </a:solidFill>
                <a:latin typeface="Arial" pitchFamily="34" charset="0"/>
                <a:ea typeface="Arial" pitchFamily="34" charset="-122"/>
                <a:cs typeface="Arial" pitchFamily="34" charset="-120"/>
              </a:rPr>
              <a:t>Bloqueo</a:t>
            </a:r>
            <a:endParaRPr lang="en-US" sz="1700" dirty="0"/>
          </a:p>
        </p:txBody>
      </p:sp>
      <p:sp>
        <p:nvSpPr>
          <p:cNvPr id="29" name="Text 27"/>
          <p:cNvSpPr txBox="1"/>
          <p:nvPr/>
        </p:nvSpPr>
        <p:spPr>
          <a:xfrm>
            <a:off x="8311896" y="4626864"/>
            <a:ext cx="3044952" cy="329184"/>
          </a:xfrm>
          <a:prstGeom prst="rect">
            <a:avLst/>
          </a:prstGeom>
          <a:noFill/>
          <a:ln/>
        </p:spPr>
        <p:txBody>
          <a:bodyPr wrap="square" lIns="0" tIns="0" rIns="0" bIns="0" rtlCol="0" anchor="ctr"/>
          <a:lstStyle/>
          <a:p>
            <a:pPr algn="l" indent="0" marL="0">
              <a:lnSpc>
                <a:spcPts val="1800"/>
              </a:lnSpc>
              <a:buNone/>
            </a:pPr>
            <a:r>
              <a:rPr lang="en-US" sz="1500" dirty="0">
                <a:solidFill>
                  <a:srgbClr val="516673"/>
                </a:solidFill>
                <a:latin typeface="Arial" pitchFamily="34" charset="0"/>
                <a:ea typeface="Arial" pitchFamily="34" charset="-122"/>
                <a:cs typeface="Arial" pitchFamily="34" charset="-120"/>
              </a:rPr>
              <a:t>9 de 14 planificados Alta</a:t>
            </a:r>
            <a:endParaRPr lang="en-US" sz="1500" dirty="0"/>
          </a:p>
        </p:txBody>
      </p:sp>
      <p:sp>
        <p:nvSpPr>
          <p:cNvPr id="30" name="Shape 28"/>
          <p:cNvSpPr/>
          <p:nvPr/>
        </p:nvSpPr>
        <p:spPr>
          <a:xfrm>
            <a:off x="594360" y="5349240"/>
            <a:ext cx="11002975" cy="868680"/>
          </a:xfrm>
          <a:prstGeom prst="roundRect">
            <a:avLst>
              <a:gd name="adj" fmla="val 6316"/>
            </a:avLst>
          </a:prstGeom>
          <a:solidFill>
            <a:srgbClr val="FFFFFF"/>
          </a:solidFill>
          <a:ln w="9525">
            <a:solidFill>
              <a:srgbClr val="D3DEE4"/>
            </a:solidFill>
            <a:prstDash val="solid"/>
          </a:ln>
        </p:spPr>
      </p:sp>
      <p:sp>
        <p:nvSpPr>
          <p:cNvPr id="31" name="Text 29"/>
          <p:cNvSpPr txBox="1"/>
          <p:nvPr/>
        </p:nvSpPr>
        <p:spPr>
          <a:xfrm>
            <a:off x="850392" y="5349240"/>
            <a:ext cx="10490911" cy="868680"/>
          </a:xfrm>
          <a:prstGeom prst="rect">
            <a:avLst/>
          </a:prstGeom>
          <a:noFill/>
          <a:ln/>
        </p:spPr>
        <p:txBody>
          <a:bodyPr wrap="square" lIns="0" tIns="0" rIns="0" bIns="0" rtlCol="0" anchor="ctr"/>
          <a:lstStyle/>
          <a:p>
            <a:pPr algn="l" indent="0" marL="0">
              <a:lnSpc>
                <a:spcPts val="2040"/>
              </a:lnSpc>
              <a:buNone/>
            </a:pPr>
            <a:r>
              <a:rPr lang="en-US" sz="1700" b="1" dirty="0">
                <a:solidFill>
                  <a:srgbClr val="142D3D"/>
                </a:solidFill>
                <a:latin typeface="Arial" pitchFamily="34" charset="0"/>
                <a:ea typeface="Arial" pitchFamily="34" charset="-122"/>
                <a:cs typeface="Arial" pitchFamily="34" charset="-120"/>
              </a:rPr>
              <a:t>18 casos diseñados · 14 Alta · 4 Media</a:t>
            </a:r>
            <a:pPr algn="l" indent="0" marL="0">
              <a:lnSpc>
                <a:spcPts val="2040"/>
              </a:lnSpc>
              <a:buNone/>
            </a:pPr>
            <a:r>
              <a:rPr lang="en-US" sz="1600" dirty="0">
                <a:solidFill>
                  <a:srgbClr val="516673"/>
                </a:solidFill>
                <a:latin typeface="Arial" pitchFamily="34" charset="0"/>
                <a:ea typeface="Arial" pitchFamily="34" charset="-122"/>
                <a:cs typeface="Arial" pitchFamily="34" charset="-120"/>
              </a:rPr>
              <a:t>   —diseñadas, no ejecutadas.</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2F6F8"/>
        </a:solidFill>
      </p:bgPr>
    </p:bg>
    <p:spTree>
      <p:nvGrpSpPr>
        <p:cNvPr id="1" name=""/>
        <p:cNvGrpSpPr/>
        <p:nvPr/>
      </p:nvGrpSpPr>
      <p:grpSpPr>
        <a:xfrm>
          <a:off x="0" y="0"/>
          <a:ext cx="0" cy="0"/>
          <a:chOff x="0" y="0"/>
          <a:chExt cx="0" cy="0"/>
        </a:xfrm>
      </p:grpSpPr>
      <p:sp>
        <p:nvSpPr>
          <p:cNvPr id="2" name="Shape 0"/>
          <p:cNvSpPr/>
          <p:nvPr/>
        </p:nvSpPr>
        <p:spPr>
          <a:xfrm>
            <a:off x="594360" y="457200"/>
            <a:ext cx="457200" cy="457200"/>
          </a:xfrm>
          <a:prstGeom prst="ellipse">
            <a:avLst/>
          </a:prstGeom>
          <a:solidFill>
            <a:srgbClr val="007C9F"/>
          </a:solidFill>
          <a:ln/>
        </p:spPr>
      </p:sp>
      <p:sp>
        <p:nvSpPr>
          <p:cNvPr id="3" name="Text 1"/>
          <p:cNvSpPr txBox="1"/>
          <p:nvPr/>
        </p:nvSpPr>
        <p:spPr>
          <a:xfrm>
            <a:off x="594360" y="457200"/>
            <a:ext cx="457200" cy="457200"/>
          </a:xfrm>
          <a:prstGeom prst="rect">
            <a:avLst/>
          </a:prstGeom>
          <a:noFill/>
          <a:ln/>
        </p:spPr>
        <p:txBody>
          <a:bodyPr wrap="square" lIns="0" tIns="0" rIns="0" bIns="0" rtlCol="0" anchor="ctr"/>
          <a:lstStyle/>
          <a:p>
            <a:pPr algn="ctr" indent="0" marL="0">
              <a:lnSpc>
                <a:spcPts val="1920"/>
              </a:lnSpc>
              <a:buNone/>
            </a:pPr>
            <a:r>
              <a:rPr lang="en-US" sz="1600" b="1" dirty="0">
                <a:solidFill>
                  <a:srgbClr val="FFFFFF"/>
                </a:solidFill>
                <a:latin typeface="Arial" pitchFamily="34" charset="0"/>
                <a:ea typeface="Arial" pitchFamily="34" charset="-122"/>
                <a:cs typeface="Arial" pitchFamily="34" charset="-120"/>
              </a:rPr>
              <a:t>13</a:t>
            </a:r>
            <a:endParaRPr lang="en-US" sz="1600" dirty="0"/>
          </a:p>
        </p:txBody>
      </p:sp>
      <p:sp>
        <p:nvSpPr>
          <p:cNvPr id="4" name="Text 2"/>
          <p:cNvSpPr txBox="1"/>
          <p:nvPr/>
        </p:nvSpPr>
        <p:spPr>
          <a:xfrm>
            <a:off x="1207008" y="429768"/>
            <a:ext cx="7726680" cy="530352"/>
          </a:xfrm>
          <a:prstGeom prst="rect">
            <a:avLst/>
          </a:prstGeom>
          <a:noFill/>
          <a:ln/>
        </p:spPr>
        <p:txBody>
          <a:bodyPr wrap="square" lIns="0" tIns="0" rIns="0" bIns="0" rtlCol="0" anchor="ctr"/>
          <a:lstStyle/>
          <a:p>
            <a:pPr algn="l" indent="0" marL="0">
              <a:lnSpc>
                <a:spcPts val="3360"/>
              </a:lnSpc>
              <a:buNone/>
            </a:pPr>
            <a:r>
              <a:rPr lang="en-US" sz="2800" b="1" dirty="0">
                <a:solidFill>
                  <a:srgbClr val="142D3D"/>
                </a:solidFill>
                <a:latin typeface="Arial" pitchFamily="34" charset="0"/>
                <a:ea typeface="Arial" pitchFamily="34" charset="-122"/>
                <a:cs typeface="Arial" pitchFamily="34" charset="-120"/>
              </a:rPr>
              <a:t>Defectos, observaciones y ciclo de vida</a:t>
            </a:r>
            <a:endParaRPr lang="en-US" sz="2800" dirty="0"/>
          </a:p>
        </p:txBody>
      </p:sp>
      <p:sp>
        <p:nvSpPr>
          <p:cNvPr id="5" name="Text 3"/>
          <p:cNvSpPr txBox="1"/>
          <p:nvPr/>
        </p:nvSpPr>
        <p:spPr>
          <a:xfrm>
            <a:off x="9006840" y="429768"/>
            <a:ext cx="2590495" cy="530352"/>
          </a:xfrm>
          <a:prstGeom prst="rect">
            <a:avLst/>
          </a:prstGeom>
          <a:noFill/>
          <a:ln/>
        </p:spPr>
        <p:txBody>
          <a:bodyPr wrap="square" lIns="0" tIns="0" rIns="0" bIns="0" rtlCol="0" anchor="ctr"/>
          <a:lstStyle/>
          <a:p>
            <a:pPr algn="r" indent="0" marL="0">
              <a:lnSpc>
                <a:spcPts val="1680"/>
              </a:lnSpc>
              <a:buNone/>
            </a:pPr>
            <a:r>
              <a:rPr lang="en-US" sz="1400" dirty="0">
                <a:solidFill>
                  <a:srgbClr val="516673"/>
                </a:solidFill>
                <a:latin typeface="Arial" pitchFamily="34" charset="0"/>
                <a:ea typeface="Arial" pitchFamily="34" charset="-122"/>
                <a:cs typeface="Arial" pitchFamily="34" charset="-120"/>
              </a:rPr>
              <a:t>Granit · 9:00–9:45</a:t>
            </a:r>
            <a:endParaRPr lang="en-US" sz="1400" dirty="0"/>
          </a:p>
        </p:txBody>
      </p:sp>
      <p:sp>
        <p:nvSpPr>
          <p:cNvPr id="6" name="Text 4"/>
          <p:cNvSpPr txBox="1"/>
          <p:nvPr/>
        </p:nvSpPr>
        <p:spPr>
          <a:xfrm>
            <a:off x="758952" y="1572768"/>
            <a:ext cx="3950208" cy="457200"/>
          </a:xfrm>
          <a:prstGeom prst="rect">
            <a:avLst/>
          </a:prstGeom>
          <a:noFill/>
          <a:ln/>
        </p:spPr>
        <p:txBody>
          <a:bodyPr wrap="square" lIns="0" tIns="0" rIns="0" bIns="0" rtlCol="0" anchor="ctr"/>
          <a:lstStyle/>
          <a:p>
            <a:pPr algn="l" indent="0" marL="0">
              <a:lnSpc>
                <a:spcPts val="1680"/>
              </a:lnSpc>
              <a:buNone/>
            </a:pPr>
            <a:r>
              <a:rPr lang="en-US" sz="1400" b="1" dirty="0">
                <a:solidFill>
                  <a:srgbClr val="516673"/>
                </a:solidFill>
                <a:latin typeface="Arial" pitchFamily="34" charset="0"/>
                <a:ea typeface="Arial" pitchFamily="34" charset="-122"/>
                <a:cs typeface="Arial" pitchFamily="34" charset="-120"/>
              </a:rPr>
              <a:t>ÍTEM</a:t>
            </a:r>
            <a:endParaRPr lang="en-US" sz="1400" dirty="0"/>
          </a:p>
        </p:txBody>
      </p:sp>
      <p:sp>
        <p:nvSpPr>
          <p:cNvPr id="7" name="Text 5"/>
          <p:cNvSpPr txBox="1"/>
          <p:nvPr/>
        </p:nvSpPr>
        <p:spPr>
          <a:xfrm>
            <a:off x="5056632" y="1572768"/>
            <a:ext cx="1481328" cy="457200"/>
          </a:xfrm>
          <a:prstGeom prst="rect">
            <a:avLst/>
          </a:prstGeom>
          <a:noFill/>
          <a:ln/>
        </p:spPr>
        <p:txBody>
          <a:bodyPr wrap="square" lIns="0" tIns="0" rIns="0" bIns="0" rtlCol="0" anchor="ctr"/>
          <a:lstStyle/>
          <a:p>
            <a:pPr algn="l" indent="0" marL="0">
              <a:lnSpc>
                <a:spcPts val="1680"/>
              </a:lnSpc>
              <a:buNone/>
            </a:pPr>
            <a:r>
              <a:rPr lang="en-US" sz="1400" b="1" dirty="0">
                <a:solidFill>
                  <a:srgbClr val="516673"/>
                </a:solidFill>
                <a:latin typeface="Arial" pitchFamily="34" charset="0"/>
                <a:ea typeface="Arial" pitchFamily="34" charset="-122"/>
                <a:cs typeface="Arial" pitchFamily="34" charset="-120"/>
              </a:rPr>
              <a:t>SEVERIDAD</a:t>
            </a:r>
            <a:endParaRPr lang="en-US" sz="1400" dirty="0"/>
          </a:p>
        </p:txBody>
      </p:sp>
      <p:sp>
        <p:nvSpPr>
          <p:cNvPr id="8" name="Text 6"/>
          <p:cNvSpPr txBox="1"/>
          <p:nvPr/>
        </p:nvSpPr>
        <p:spPr>
          <a:xfrm>
            <a:off x="6885432" y="1572768"/>
            <a:ext cx="1709928" cy="457200"/>
          </a:xfrm>
          <a:prstGeom prst="rect">
            <a:avLst/>
          </a:prstGeom>
          <a:noFill/>
          <a:ln/>
        </p:spPr>
        <p:txBody>
          <a:bodyPr wrap="square" lIns="0" tIns="0" rIns="0" bIns="0" rtlCol="0" anchor="ctr"/>
          <a:lstStyle/>
          <a:p>
            <a:pPr algn="l" indent="0" marL="0">
              <a:lnSpc>
                <a:spcPts val="1680"/>
              </a:lnSpc>
              <a:buNone/>
            </a:pPr>
            <a:r>
              <a:rPr lang="en-US" sz="1400" b="1" dirty="0">
                <a:solidFill>
                  <a:srgbClr val="516673"/>
                </a:solidFill>
                <a:latin typeface="Arial" pitchFamily="34" charset="0"/>
                <a:ea typeface="Arial" pitchFamily="34" charset="-122"/>
                <a:cs typeface="Arial" pitchFamily="34" charset="-120"/>
              </a:rPr>
              <a:t>PRIORIDAD PROPUESTA</a:t>
            </a:r>
            <a:endParaRPr lang="en-US" sz="1400" dirty="0"/>
          </a:p>
        </p:txBody>
      </p:sp>
      <p:sp>
        <p:nvSpPr>
          <p:cNvPr id="9" name="Text 7"/>
          <p:cNvSpPr txBox="1"/>
          <p:nvPr/>
        </p:nvSpPr>
        <p:spPr>
          <a:xfrm>
            <a:off x="8942832" y="1572768"/>
            <a:ext cx="2560320" cy="457200"/>
          </a:xfrm>
          <a:prstGeom prst="rect">
            <a:avLst/>
          </a:prstGeom>
          <a:noFill/>
          <a:ln/>
        </p:spPr>
        <p:txBody>
          <a:bodyPr wrap="square" lIns="0" tIns="0" rIns="0" bIns="0" rtlCol="0" anchor="ctr"/>
          <a:lstStyle/>
          <a:p>
            <a:pPr algn="l" indent="0" marL="0">
              <a:lnSpc>
                <a:spcPts val="1680"/>
              </a:lnSpc>
              <a:buNone/>
            </a:pPr>
            <a:r>
              <a:rPr lang="en-US" sz="1400" b="1" dirty="0">
                <a:solidFill>
                  <a:srgbClr val="516673"/>
                </a:solidFill>
                <a:latin typeface="Arial" pitchFamily="34" charset="0"/>
                <a:ea typeface="Arial" pitchFamily="34" charset="-122"/>
                <a:cs typeface="Arial" pitchFamily="34" charset="-120"/>
              </a:rPr>
              <a:t>ESTADO</a:t>
            </a:r>
            <a:endParaRPr lang="en-US" sz="1400" dirty="0"/>
          </a:p>
        </p:txBody>
      </p:sp>
      <p:sp>
        <p:nvSpPr>
          <p:cNvPr id="10" name="Shape 8"/>
          <p:cNvSpPr/>
          <p:nvPr/>
        </p:nvSpPr>
        <p:spPr>
          <a:xfrm>
            <a:off x="594360" y="2066544"/>
            <a:ext cx="11002975" cy="521208"/>
          </a:xfrm>
          <a:prstGeom prst="roundRect">
            <a:avLst>
              <a:gd name="adj" fmla="val 7018"/>
            </a:avLst>
          </a:prstGeom>
          <a:solidFill>
            <a:srgbClr val="FFFFFF"/>
          </a:solidFill>
          <a:ln/>
        </p:spPr>
      </p:sp>
      <p:sp>
        <p:nvSpPr>
          <p:cNvPr id="11" name="Text 9"/>
          <p:cNvSpPr txBox="1"/>
          <p:nvPr/>
        </p:nvSpPr>
        <p:spPr>
          <a:xfrm>
            <a:off x="758952" y="2066544"/>
            <a:ext cx="3931920" cy="521208"/>
          </a:xfrm>
          <a:prstGeom prst="rect">
            <a:avLst/>
          </a:prstGeom>
          <a:noFill/>
          <a:ln/>
        </p:spPr>
        <p:txBody>
          <a:bodyPr wrap="square" lIns="0" tIns="0" rIns="0" bIns="0" rtlCol="0" anchor="ctr"/>
          <a:lstStyle/>
          <a:p>
            <a:pPr algn="l" indent="0" marL="0">
              <a:lnSpc>
                <a:spcPts val="1800"/>
              </a:lnSpc>
              <a:buNone/>
            </a:pPr>
            <a:r>
              <a:rPr lang="en-US" sz="1500" b="1" dirty="0">
                <a:solidFill>
                  <a:srgbClr val="142D3D"/>
                </a:solidFill>
                <a:latin typeface="Arial" pitchFamily="34" charset="0"/>
                <a:ea typeface="Arial" pitchFamily="34" charset="-122"/>
                <a:cs typeface="Arial" pitchFamily="34" charset="-120"/>
              </a:rPr>
              <a:t>DEF-01 · [Carrito] total de línea ≠ total a pagar</a:t>
            </a:r>
            <a:endParaRPr lang="en-US" sz="1500" dirty="0"/>
          </a:p>
        </p:txBody>
      </p:sp>
      <p:sp>
        <p:nvSpPr>
          <p:cNvPr id="12" name="Text 10"/>
          <p:cNvSpPr txBox="1"/>
          <p:nvPr/>
        </p:nvSpPr>
        <p:spPr>
          <a:xfrm>
            <a:off x="5056632" y="2066544"/>
            <a:ext cx="1463040" cy="521208"/>
          </a:xfrm>
          <a:prstGeom prst="rect">
            <a:avLst/>
          </a:prstGeom>
          <a:noFill/>
          <a:ln/>
        </p:spPr>
        <p:txBody>
          <a:bodyPr wrap="square" lIns="0" tIns="0" rIns="0" bIns="0" rtlCol="0" anchor="ctr"/>
          <a:lstStyle/>
          <a:p>
            <a:pPr algn="l" indent="0" marL="0">
              <a:lnSpc>
                <a:spcPts val="1800"/>
              </a:lnSpc>
              <a:buNone/>
            </a:pPr>
            <a:r>
              <a:rPr lang="en-US" sz="1500" b="1" dirty="0">
                <a:solidFill>
                  <a:srgbClr val="142D3D"/>
                </a:solidFill>
                <a:latin typeface="Arial" pitchFamily="34" charset="0"/>
                <a:ea typeface="Arial" pitchFamily="34" charset="-122"/>
                <a:cs typeface="Arial" pitchFamily="34" charset="-120"/>
              </a:rPr>
              <a:t>Alta</a:t>
            </a:r>
            <a:endParaRPr lang="en-US" sz="1500" dirty="0"/>
          </a:p>
        </p:txBody>
      </p:sp>
      <p:sp>
        <p:nvSpPr>
          <p:cNvPr id="13" name="Text 11"/>
          <p:cNvSpPr txBox="1"/>
          <p:nvPr/>
        </p:nvSpPr>
        <p:spPr>
          <a:xfrm>
            <a:off x="6885432" y="2066544"/>
            <a:ext cx="1691640" cy="521208"/>
          </a:xfrm>
          <a:prstGeom prst="rect">
            <a:avLst/>
          </a:prstGeom>
          <a:noFill/>
          <a:ln/>
        </p:spPr>
        <p:txBody>
          <a:bodyPr wrap="square" lIns="0" tIns="0" rIns="0" bIns="0" rtlCol="0" anchor="ctr"/>
          <a:lstStyle/>
          <a:p>
            <a:pPr algn="l" indent="0" marL="0">
              <a:lnSpc>
                <a:spcPts val="1800"/>
              </a:lnSpc>
              <a:buNone/>
            </a:pPr>
            <a:r>
              <a:rPr lang="en-US" sz="1500" b="1" dirty="0">
                <a:solidFill>
                  <a:srgbClr val="142D3D"/>
                </a:solidFill>
                <a:latin typeface="Arial" pitchFamily="34" charset="0"/>
                <a:ea typeface="Arial" pitchFamily="34" charset="-122"/>
                <a:cs typeface="Arial" pitchFamily="34" charset="-120"/>
              </a:rPr>
              <a:t>Alta</a:t>
            </a:r>
            <a:endParaRPr lang="en-US" sz="1500" dirty="0"/>
          </a:p>
        </p:txBody>
      </p:sp>
      <p:sp>
        <p:nvSpPr>
          <p:cNvPr id="14" name="Text 12"/>
          <p:cNvSpPr txBox="1"/>
          <p:nvPr/>
        </p:nvSpPr>
        <p:spPr>
          <a:xfrm>
            <a:off x="8942832" y="2066544"/>
            <a:ext cx="2542032" cy="521208"/>
          </a:xfrm>
          <a:prstGeom prst="rect">
            <a:avLst/>
          </a:prstGeom>
          <a:noFill/>
          <a:ln/>
        </p:spPr>
        <p:txBody>
          <a:bodyPr wrap="square" lIns="0" tIns="0" rIns="0" bIns="0" rtlCol="0" anchor="ctr"/>
          <a:lstStyle/>
          <a:p>
            <a:pPr algn="l" indent="0" marL="0">
              <a:lnSpc>
                <a:spcPts val="1800"/>
              </a:lnSpc>
              <a:buNone/>
            </a:pPr>
            <a:r>
              <a:rPr lang="en-US" sz="1500" dirty="0">
                <a:solidFill>
                  <a:srgbClr val="516673"/>
                </a:solidFill>
                <a:latin typeface="Arial" pitchFamily="34" charset="0"/>
                <a:ea typeface="Arial" pitchFamily="34" charset="-122"/>
                <a:cs typeface="Arial" pitchFamily="34" charset="-120"/>
              </a:rPr>
              <a:t>Abierto · reproducido</a:t>
            </a:r>
            <a:endParaRPr lang="en-US" sz="1500" dirty="0"/>
          </a:p>
        </p:txBody>
      </p:sp>
      <p:sp>
        <p:nvSpPr>
          <p:cNvPr id="15" name="Shape 13"/>
          <p:cNvSpPr/>
          <p:nvPr/>
        </p:nvSpPr>
        <p:spPr>
          <a:xfrm>
            <a:off x="594360" y="2633472"/>
            <a:ext cx="11002975" cy="521208"/>
          </a:xfrm>
          <a:prstGeom prst="roundRect">
            <a:avLst>
              <a:gd name="adj" fmla="val 7018"/>
            </a:avLst>
          </a:prstGeom>
          <a:solidFill>
            <a:srgbClr val="E3EDF1"/>
          </a:solidFill>
          <a:ln/>
        </p:spPr>
      </p:sp>
      <p:sp>
        <p:nvSpPr>
          <p:cNvPr id="16" name="Text 14"/>
          <p:cNvSpPr txBox="1"/>
          <p:nvPr/>
        </p:nvSpPr>
        <p:spPr>
          <a:xfrm>
            <a:off x="758952" y="2633472"/>
            <a:ext cx="3931920" cy="521208"/>
          </a:xfrm>
          <a:prstGeom prst="rect">
            <a:avLst/>
          </a:prstGeom>
          <a:noFill/>
          <a:ln/>
        </p:spPr>
        <p:txBody>
          <a:bodyPr wrap="square" lIns="0" tIns="0" rIns="0" bIns="0" rtlCol="0" anchor="ctr"/>
          <a:lstStyle/>
          <a:p>
            <a:pPr algn="l" indent="0" marL="0">
              <a:lnSpc>
                <a:spcPts val="1800"/>
              </a:lnSpc>
              <a:buNone/>
            </a:pPr>
            <a:r>
              <a:rPr lang="en-US" sz="1500" b="1" dirty="0">
                <a:solidFill>
                  <a:srgbClr val="142D3D"/>
                </a:solidFill>
                <a:latin typeface="Arial" pitchFamily="34" charset="0"/>
                <a:ea typeface="Arial" pitchFamily="34" charset="-122"/>
                <a:cs typeface="Arial" pitchFamily="34" charset="-120"/>
              </a:rPr>
              <a:t>DEF-04 · [Checkout] sin método de pago aplicable</a:t>
            </a:r>
            <a:endParaRPr lang="en-US" sz="1500" dirty="0"/>
          </a:p>
        </p:txBody>
      </p:sp>
      <p:sp>
        <p:nvSpPr>
          <p:cNvPr id="17" name="Text 15"/>
          <p:cNvSpPr txBox="1"/>
          <p:nvPr/>
        </p:nvSpPr>
        <p:spPr>
          <a:xfrm>
            <a:off x="5056632" y="2633472"/>
            <a:ext cx="1463040" cy="521208"/>
          </a:xfrm>
          <a:prstGeom prst="rect">
            <a:avLst/>
          </a:prstGeom>
          <a:noFill/>
          <a:ln/>
        </p:spPr>
        <p:txBody>
          <a:bodyPr wrap="square" lIns="0" tIns="0" rIns="0" bIns="0" rtlCol="0" anchor="ctr"/>
          <a:lstStyle/>
          <a:p>
            <a:pPr algn="l" indent="0" marL="0">
              <a:lnSpc>
                <a:spcPts val="1800"/>
              </a:lnSpc>
              <a:buNone/>
            </a:pPr>
            <a:r>
              <a:rPr lang="en-US" sz="1500" b="1" dirty="0">
                <a:solidFill>
                  <a:srgbClr val="142D3D"/>
                </a:solidFill>
                <a:latin typeface="Arial" pitchFamily="34" charset="0"/>
                <a:ea typeface="Arial" pitchFamily="34" charset="-122"/>
                <a:cs typeface="Arial" pitchFamily="34" charset="-120"/>
              </a:rPr>
              <a:t>Crítica</a:t>
            </a:r>
            <a:endParaRPr lang="en-US" sz="1500" dirty="0"/>
          </a:p>
        </p:txBody>
      </p:sp>
      <p:sp>
        <p:nvSpPr>
          <p:cNvPr id="18" name="Text 16"/>
          <p:cNvSpPr txBox="1"/>
          <p:nvPr/>
        </p:nvSpPr>
        <p:spPr>
          <a:xfrm>
            <a:off x="6885432" y="2633472"/>
            <a:ext cx="1691640" cy="521208"/>
          </a:xfrm>
          <a:prstGeom prst="rect">
            <a:avLst/>
          </a:prstGeom>
          <a:noFill/>
          <a:ln/>
        </p:spPr>
        <p:txBody>
          <a:bodyPr wrap="square" lIns="0" tIns="0" rIns="0" bIns="0" rtlCol="0" anchor="ctr"/>
          <a:lstStyle/>
          <a:p>
            <a:pPr algn="l" indent="0" marL="0">
              <a:lnSpc>
                <a:spcPts val="1800"/>
              </a:lnSpc>
              <a:buNone/>
            </a:pPr>
            <a:r>
              <a:rPr lang="en-US" sz="1500" b="1" dirty="0">
                <a:solidFill>
                  <a:srgbClr val="142D3D"/>
                </a:solidFill>
                <a:latin typeface="Arial" pitchFamily="34" charset="0"/>
                <a:ea typeface="Arial" pitchFamily="34" charset="-122"/>
                <a:cs typeface="Arial" pitchFamily="34" charset="-120"/>
              </a:rPr>
              <a:t>Alta</a:t>
            </a:r>
            <a:endParaRPr lang="en-US" sz="1500" dirty="0"/>
          </a:p>
        </p:txBody>
      </p:sp>
      <p:sp>
        <p:nvSpPr>
          <p:cNvPr id="19" name="Text 17"/>
          <p:cNvSpPr txBox="1"/>
          <p:nvPr/>
        </p:nvSpPr>
        <p:spPr>
          <a:xfrm>
            <a:off x="8942832" y="2633472"/>
            <a:ext cx="2542032" cy="521208"/>
          </a:xfrm>
          <a:prstGeom prst="rect">
            <a:avLst/>
          </a:prstGeom>
          <a:noFill/>
          <a:ln/>
        </p:spPr>
        <p:txBody>
          <a:bodyPr wrap="square" lIns="0" tIns="0" rIns="0" bIns="0" rtlCol="0" anchor="ctr"/>
          <a:lstStyle/>
          <a:p>
            <a:pPr algn="l" indent="0" marL="0">
              <a:lnSpc>
                <a:spcPts val="1800"/>
              </a:lnSpc>
              <a:buNone/>
            </a:pPr>
            <a:r>
              <a:rPr lang="en-US" sz="1500" dirty="0">
                <a:solidFill>
                  <a:srgbClr val="516673"/>
                </a:solidFill>
                <a:latin typeface="Arial" pitchFamily="34" charset="0"/>
                <a:ea typeface="Arial" pitchFamily="34" charset="-122"/>
                <a:cs typeface="Arial" pitchFamily="34" charset="-120"/>
              </a:rPr>
              <a:t>Abierto · causa en análisis</a:t>
            </a:r>
            <a:endParaRPr lang="en-US" sz="1500" dirty="0"/>
          </a:p>
        </p:txBody>
      </p:sp>
      <p:sp>
        <p:nvSpPr>
          <p:cNvPr id="20" name="Shape 18"/>
          <p:cNvSpPr/>
          <p:nvPr/>
        </p:nvSpPr>
        <p:spPr>
          <a:xfrm>
            <a:off x="594360" y="3200400"/>
            <a:ext cx="11002975" cy="612648"/>
          </a:xfrm>
          <a:prstGeom prst="roundRect">
            <a:avLst>
              <a:gd name="adj" fmla="val 5970"/>
            </a:avLst>
          </a:prstGeom>
          <a:solidFill>
            <a:srgbClr val="FFFFFF"/>
          </a:solidFill>
          <a:ln/>
        </p:spPr>
      </p:sp>
      <p:sp>
        <p:nvSpPr>
          <p:cNvPr id="21" name="Text 19"/>
          <p:cNvSpPr txBox="1"/>
          <p:nvPr/>
        </p:nvSpPr>
        <p:spPr>
          <a:xfrm>
            <a:off x="758952" y="3200400"/>
            <a:ext cx="3931920" cy="612648"/>
          </a:xfrm>
          <a:prstGeom prst="rect">
            <a:avLst/>
          </a:prstGeom>
          <a:noFill/>
          <a:ln/>
        </p:spPr>
        <p:txBody>
          <a:bodyPr wrap="square" lIns="0" tIns="0" rIns="0" bIns="0" rtlCol="0" anchor="ctr"/>
          <a:lstStyle/>
          <a:p>
            <a:pPr algn="l" indent="0" marL="0">
              <a:lnSpc>
                <a:spcPts val="1800"/>
              </a:lnSpc>
              <a:buNone/>
            </a:pPr>
            <a:r>
              <a:rPr lang="en-US" sz="1500" dirty="0">
                <a:solidFill>
                  <a:srgbClr val="142D3D"/>
                </a:solidFill>
                <a:latin typeface="Arial" pitchFamily="34" charset="0"/>
                <a:ea typeface="Arial" pitchFamily="34" charset="-122"/>
                <a:cs typeface="Arial" pitchFamily="34" charset="-120"/>
              </a:rPr>
              <a:t>3 observaciones · opciones, cupones, normalización</a:t>
            </a:r>
            <a:endParaRPr lang="en-US" sz="1500" dirty="0"/>
          </a:p>
        </p:txBody>
      </p:sp>
      <p:sp>
        <p:nvSpPr>
          <p:cNvPr id="22" name="Text 20"/>
          <p:cNvSpPr txBox="1"/>
          <p:nvPr/>
        </p:nvSpPr>
        <p:spPr>
          <a:xfrm>
            <a:off x="5056632" y="3200400"/>
            <a:ext cx="1463040" cy="612648"/>
          </a:xfrm>
          <a:prstGeom prst="rect">
            <a:avLst/>
          </a:prstGeom>
          <a:noFill/>
          <a:ln/>
        </p:spPr>
        <p:txBody>
          <a:bodyPr wrap="square" lIns="0" tIns="0" rIns="0" bIns="0" rtlCol="0" anchor="ctr"/>
          <a:lstStyle/>
          <a:p>
            <a:pPr algn="l" indent="0" marL="0">
              <a:lnSpc>
                <a:spcPts val="1800"/>
              </a:lnSpc>
              <a:buNone/>
            </a:pPr>
            <a:r>
              <a:rPr lang="en-US" sz="1500" b="1" dirty="0">
                <a:solidFill>
                  <a:srgbClr val="142D3D"/>
                </a:solidFill>
                <a:latin typeface="Arial" pitchFamily="34" charset="0"/>
                <a:ea typeface="Arial" pitchFamily="34" charset="-122"/>
                <a:cs typeface="Arial" pitchFamily="34" charset="-120"/>
              </a:rPr>
              <a:t>—</a:t>
            </a:r>
            <a:endParaRPr lang="en-US" sz="1500" dirty="0"/>
          </a:p>
        </p:txBody>
      </p:sp>
      <p:sp>
        <p:nvSpPr>
          <p:cNvPr id="23" name="Text 21"/>
          <p:cNvSpPr txBox="1"/>
          <p:nvPr/>
        </p:nvSpPr>
        <p:spPr>
          <a:xfrm>
            <a:off x="6885432" y="3200400"/>
            <a:ext cx="1691640" cy="612648"/>
          </a:xfrm>
          <a:prstGeom prst="rect">
            <a:avLst/>
          </a:prstGeom>
          <a:noFill/>
          <a:ln/>
        </p:spPr>
        <p:txBody>
          <a:bodyPr wrap="square" lIns="0" tIns="0" rIns="0" bIns="0" rtlCol="0" anchor="ctr"/>
          <a:lstStyle/>
          <a:p>
            <a:pPr algn="l" indent="0" marL="0">
              <a:lnSpc>
                <a:spcPts val="1800"/>
              </a:lnSpc>
              <a:buNone/>
            </a:pPr>
            <a:r>
              <a:rPr lang="en-US" sz="1500" b="1" dirty="0">
                <a:solidFill>
                  <a:srgbClr val="142D3D"/>
                </a:solidFill>
                <a:latin typeface="Arial" pitchFamily="34" charset="0"/>
                <a:ea typeface="Arial" pitchFamily="34" charset="-122"/>
                <a:cs typeface="Arial" pitchFamily="34" charset="-120"/>
              </a:rPr>
              <a:t>—</a:t>
            </a:r>
            <a:endParaRPr lang="en-US" sz="1500" dirty="0"/>
          </a:p>
        </p:txBody>
      </p:sp>
      <p:sp>
        <p:nvSpPr>
          <p:cNvPr id="24" name="Text 22"/>
          <p:cNvSpPr txBox="1"/>
          <p:nvPr/>
        </p:nvSpPr>
        <p:spPr>
          <a:xfrm>
            <a:off x="8942832" y="3200400"/>
            <a:ext cx="2542032" cy="612648"/>
          </a:xfrm>
          <a:prstGeom prst="rect">
            <a:avLst/>
          </a:prstGeom>
          <a:noFill/>
          <a:ln/>
        </p:spPr>
        <p:txBody>
          <a:bodyPr wrap="square" lIns="0" tIns="0" rIns="0" bIns="0" rtlCol="0" anchor="ctr"/>
          <a:lstStyle/>
          <a:p>
            <a:pPr algn="l" indent="0" marL="0">
              <a:lnSpc>
                <a:spcPts val="1800"/>
              </a:lnSpc>
              <a:buNone/>
            </a:pPr>
            <a:r>
              <a:rPr lang="en-US" sz="1500" dirty="0">
                <a:solidFill>
                  <a:srgbClr val="516673"/>
                </a:solidFill>
                <a:latin typeface="Arial" pitchFamily="34" charset="0"/>
                <a:ea typeface="Arial" pitchFamily="34" charset="-122"/>
                <a:cs typeface="Arial" pitchFamily="34" charset="-120"/>
              </a:rPr>
              <a:t>Registradas con ficha</a:t>
            </a:r>
            <a:endParaRPr lang="en-US" sz="1500" dirty="0"/>
          </a:p>
        </p:txBody>
      </p:sp>
      <p:sp>
        <p:nvSpPr>
          <p:cNvPr id="25" name="Text 23"/>
          <p:cNvSpPr txBox="1"/>
          <p:nvPr/>
        </p:nvSpPr>
        <p:spPr>
          <a:xfrm>
            <a:off x="594360" y="3986784"/>
            <a:ext cx="11002975" cy="310896"/>
          </a:xfrm>
          <a:prstGeom prst="rect">
            <a:avLst/>
          </a:prstGeom>
          <a:noFill/>
          <a:ln/>
        </p:spPr>
        <p:txBody>
          <a:bodyPr wrap="square" lIns="0" tIns="0" rIns="0" bIns="0" rtlCol="0" anchor="ctr"/>
          <a:lstStyle/>
          <a:p>
            <a:pPr algn="l" indent="0" marL="0">
              <a:lnSpc>
                <a:spcPts val="1680"/>
              </a:lnSpc>
              <a:buNone/>
            </a:pPr>
            <a:r>
              <a:rPr lang="en-US" sz="1400" b="1" dirty="0">
                <a:solidFill>
                  <a:srgbClr val="516673"/>
                </a:solidFill>
                <a:latin typeface="Arial" pitchFamily="34" charset="0"/>
                <a:ea typeface="Arial" pitchFamily="34" charset="-122"/>
                <a:cs typeface="Arial" pitchFamily="34" charset="-120"/>
              </a:rPr>
              <a:t>CICLO DE VIDA DEL DEFECTO</a:t>
            </a:r>
            <a:endParaRPr lang="en-US" sz="1400" dirty="0"/>
          </a:p>
        </p:txBody>
      </p:sp>
      <p:sp>
        <p:nvSpPr>
          <p:cNvPr id="26" name="Shape 24"/>
          <p:cNvSpPr/>
          <p:nvPr/>
        </p:nvSpPr>
        <p:spPr>
          <a:xfrm>
            <a:off x="594360" y="4389120"/>
            <a:ext cx="1572768" cy="585216"/>
          </a:xfrm>
          <a:prstGeom prst="roundRect">
            <a:avLst>
              <a:gd name="adj" fmla="val 7813"/>
            </a:avLst>
          </a:prstGeom>
          <a:solidFill>
            <a:srgbClr val="FFFFFF"/>
          </a:solidFill>
          <a:ln w="12700">
            <a:solidFill>
              <a:srgbClr val="007C9F"/>
            </a:solidFill>
            <a:prstDash val="solid"/>
          </a:ln>
        </p:spPr>
      </p:sp>
      <p:sp>
        <p:nvSpPr>
          <p:cNvPr id="27" name="Text 25"/>
          <p:cNvSpPr txBox="1"/>
          <p:nvPr/>
        </p:nvSpPr>
        <p:spPr>
          <a:xfrm>
            <a:off x="649224" y="4389120"/>
            <a:ext cx="1463040" cy="585216"/>
          </a:xfrm>
          <a:prstGeom prst="rect">
            <a:avLst/>
          </a:prstGeom>
          <a:noFill/>
          <a:ln/>
        </p:spPr>
        <p:txBody>
          <a:bodyPr wrap="square" lIns="0" tIns="0" rIns="0" bIns="0" rtlCol="0" anchor="ctr"/>
          <a:lstStyle/>
          <a:p>
            <a:pPr algn="ctr" indent="0" marL="0">
              <a:lnSpc>
                <a:spcPts val="1680"/>
              </a:lnSpc>
              <a:buNone/>
            </a:pPr>
            <a:r>
              <a:rPr lang="en-US" sz="1400" b="1" dirty="0">
                <a:solidFill>
                  <a:srgbClr val="142D3D"/>
                </a:solidFill>
                <a:latin typeface="Arial" pitchFamily="34" charset="0"/>
                <a:ea typeface="Arial" pitchFamily="34" charset="-122"/>
                <a:cs typeface="Arial" pitchFamily="34" charset="-120"/>
              </a:rPr>
              <a:t>Nuevo</a:t>
            </a:r>
            <a:endParaRPr lang="en-US" sz="1400" dirty="0"/>
          </a:p>
        </p:txBody>
      </p:sp>
      <p:sp>
        <p:nvSpPr>
          <p:cNvPr id="28" name="Text 26"/>
          <p:cNvSpPr txBox="1"/>
          <p:nvPr/>
        </p:nvSpPr>
        <p:spPr>
          <a:xfrm>
            <a:off x="2167128" y="4389120"/>
            <a:ext cx="310896" cy="585216"/>
          </a:xfrm>
          <a:prstGeom prst="rect">
            <a:avLst/>
          </a:prstGeom>
          <a:noFill/>
          <a:ln/>
        </p:spPr>
        <p:txBody>
          <a:bodyPr wrap="square" lIns="0" tIns="0" rIns="0" bIns="0" rtlCol="0" anchor="ctr"/>
          <a:lstStyle/>
          <a:p>
            <a:pPr algn="ctr" indent="0" marL="0">
              <a:lnSpc>
                <a:spcPts val="1920"/>
              </a:lnSpc>
              <a:buNone/>
            </a:pPr>
            <a:r>
              <a:rPr lang="en-US" sz="1600" b="1" dirty="0">
                <a:solidFill>
                  <a:srgbClr val="007C9F"/>
                </a:solidFill>
                <a:latin typeface="Arial" pitchFamily="34" charset="0"/>
                <a:ea typeface="Arial" pitchFamily="34" charset="-122"/>
                <a:cs typeface="Arial" pitchFamily="34" charset="-120"/>
              </a:rPr>
              <a:t>→</a:t>
            </a:r>
            <a:endParaRPr lang="en-US" sz="1600" dirty="0"/>
          </a:p>
        </p:txBody>
      </p:sp>
      <p:sp>
        <p:nvSpPr>
          <p:cNvPr id="29" name="Shape 27"/>
          <p:cNvSpPr/>
          <p:nvPr/>
        </p:nvSpPr>
        <p:spPr>
          <a:xfrm>
            <a:off x="2478024" y="4389120"/>
            <a:ext cx="1572768" cy="585216"/>
          </a:xfrm>
          <a:prstGeom prst="roundRect">
            <a:avLst>
              <a:gd name="adj" fmla="val 7813"/>
            </a:avLst>
          </a:prstGeom>
          <a:solidFill>
            <a:srgbClr val="FFFFFF"/>
          </a:solidFill>
          <a:ln w="12700">
            <a:solidFill>
              <a:srgbClr val="007C9F"/>
            </a:solidFill>
            <a:prstDash val="solid"/>
          </a:ln>
        </p:spPr>
      </p:sp>
      <p:sp>
        <p:nvSpPr>
          <p:cNvPr id="30" name="Text 28"/>
          <p:cNvSpPr txBox="1"/>
          <p:nvPr/>
        </p:nvSpPr>
        <p:spPr>
          <a:xfrm>
            <a:off x="2532888" y="4389120"/>
            <a:ext cx="1463040" cy="585216"/>
          </a:xfrm>
          <a:prstGeom prst="rect">
            <a:avLst/>
          </a:prstGeom>
          <a:noFill/>
          <a:ln/>
        </p:spPr>
        <p:txBody>
          <a:bodyPr wrap="square" lIns="0" tIns="0" rIns="0" bIns="0" rtlCol="0" anchor="ctr"/>
          <a:lstStyle/>
          <a:p>
            <a:pPr algn="ctr" indent="0" marL="0">
              <a:lnSpc>
                <a:spcPts val="1680"/>
              </a:lnSpc>
              <a:buNone/>
            </a:pPr>
            <a:r>
              <a:rPr lang="en-US" sz="1400" b="1" dirty="0">
                <a:solidFill>
                  <a:srgbClr val="142D3D"/>
                </a:solidFill>
                <a:latin typeface="Arial" pitchFamily="34" charset="0"/>
                <a:ea typeface="Arial" pitchFamily="34" charset="-122"/>
                <a:cs typeface="Arial" pitchFamily="34" charset="-120"/>
              </a:rPr>
              <a:t>En análisis</a:t>
            </a:r>
            <a:endParaRPr lang="en-US" sz="1400" dirty="0"/>
          </a:p>
        </p:txBody>
      </p:sp>
      <p:sp>
        <p:nvSpPr>
          <p:cNvPr id="31" name="Text 29"/>
          <p:cNvSpPr txBox="1"/>
          <p:nvPr/>
        </p:nvSpPr>
        <p:spPr>
          <a:xfrm>
            <a:off x="4050792" y="4389120"/>
            <a:ext cx="310896" cy="585216"/>
          </a:xfrm>
          <a:prstGeom prst="rect">
            <a:avLst/>
          </a:prstGeom>
          <a:noFill/>
          <a:ln/>
        </p:spPr>
        <p:txBody>
          <a:bodyPr wrap="square" lIns="0" tIns="0" rIns="0" bIns="0" rtlCol="0" anchor="ctr"/>
          <a:lstStyle/>
          <a:p>
            <a:pPr algn="ctr" indent="0" marL="0">
              <a:lnSpc>
                <a:spcPts val="1920"/>
              </a:lnSpc>
              <a:buNone/>
            </a:pPr>
            <a:r>
              <a:rPr lang="en-US" sz="1600" b="1" dirty="0">
                <a:solidFill>
                  <a:srgbClr val="007C9F"/>
                </a:solidFill>
                <a:latin typeface="Arial" pitchFamily="34" charset="0"/>
                <a:ea typeface="Arial" pitchFamily="34" charset="-122"/>
                <a:cs typeface="Arial" pitchFamily="34" charset="-120"/>
              </a:rPr>
              <a:t>→</a:t>
            </a:r>
            <a:endParaRPr lang="en-US" sz="1600" dirty="0"/>
          </a:p>
        </p:txBody>
      </p:sp>
      <p:sp>
        <p:nvSpPr>
          <p:cNvPr id="32" name="Shape 30"/>
          <p:cNvSpPr/>
          <p:nvPr/>
        </p:nvSpPr>
        <p:spPr>
          <a:xfrm>
            <a:off x="4361688" y="4389120"/>
            <a:ext cx="1572768" cy="585216"/>
          </a:xfrm>
          <a:prstGeom prst="roundRect">
            <a:avLst>
              <a:gd name="adj" fmla="val 7813"/>
            </a:avLst>
          </a:prstGeom>
          <a:solidFill>
            <a:srgbClr val="FFFFFF"/>
          </a:solidFill>
          <a:ln w="12700">
            <a:solidFill>
              <a:srgbClr val="007C9F"/>
            </a:solidFill>
            <a:prstDash val="solid"/>
          </a:ln>
        </p:spPr>
      </p:sp>
      <p:sp>
        <p:nvSpPr>
          <p:cNvPr id="33" name="Text 31"/>
          <p:cNvSpPr txBox="1"/>
          <p:nvPr/>
        </p:nvSpPr>
        <p:spPr>
          <a:xfrm>
            <a:off x="4416552" y="4389120"/>
            <a:ext cx="1463040" cy="585216"/>
          </a:xfrm>
          <a:prstGeom prst="rect">
            <a:avLst/>
          </a:prstGeom>
          <a:noFill/>
          <a:ln/>
        </p:spPr>
        <p:txBody>
          <a:bodyPr wrap="square" lIns="0" tIns="0" rIns="0" bIns="0" rtlCol="0" anchor="ctr"/>
          <a:lstStyle/>
          <a:p>
            <a:pPr algn="ctr" indent="0" marL="0">
              <a:lnSpc>
                <a:spcPts val="1680"/>
              </a:lnSpc>
              <a:buNone/>
            </a:pPr>
            <a:r>
              <a:rPr lang="en-US" sz="1400" b="1" dirty="0">
                <a:solidFill>
                  <a:srgbClr val="142D3D"/>
                </a:solidFill>
                <a:latin typeface="Arial" pitchFamily="34" charset="0"/>
                <a:ea typeface="Arial" pitchFamily="34" charset="-122"/>
                <a:cs typeface="Arial" pitchFamily="34" charset="-120"/>
              </a:rPr>
              <a:t>Asignado</a:t>
            </a:r>
            <a:endParaRPr lang="en-US" sz="1400" dirty="0"/>
          </a:p>
        </p:txBody>
      </p:sp>
      <p:sp>
        <p:nvSpPr>
          <p:cNvPr id="34" name="Text 32"/>
          <p:cNvSpPr txBox="1"/>
          <p:nvPr/>
        </p:nvSpPr>
        <p:spPr>
          <a:xfrm>
            <a:off x="5934456" y="4389120"/>
            <a:ext cx="310896" cy="585216"/>
          </a:xfrm>
          <a:prstGeom prst="rect">
            <a:avLst/>
          </a:prstGeom>
          <a:noFill/>
          <a:ln/>
        </p:spPr>
        <p:txBody>
          <a:bodyPr wrap="square" lIns="0" tIns="0" rIns="0" bIns="0" rtlCol="0" anchor="ctr"/>
          <a:lstStyle/>
          <a:p>
            <a:pPr algn="ctr" indent="0" marL="0">
              <a:lnSpc>
                <a:spcPts val="1920"/>
              </a:lnSpc>
              <a:buNone/>
            </a:pPr>
            <a:r>
              <a:rPr lang="en-US" sz="1600" b="1" dirty="0">
                <a:solidFill>
                  <a:srgbClr val="007C9F"/>
                </a:solidFill>
                <a:latin typeface="Arial" pitchFamily="34" charset="0"/>
                <a:ea typeface="Arial" pitchFamily="34" charset="-122"/>
                <a:cs typeface="Arial" pitchFamily="34" charset="-120"/>
              </a:rPr>
              <a:t>→</a:t>
            </a:r>
            <a:endParaRPr lang="en-US" sz="1600" dirty="0"/>
          </a:p>
        </p:txBody>
      </p:sp>
      <p:sp>
        <p:nvSpPr>
          <p:cNvPr id="35" name="Shape 33"/>
          <p:cNvSpPr/>
          <p:nvPr/>
        </p:nvSpPr>
        <p:spPr>
          <a:xfrm>
            <a:off x="6245352" y="4389120"/>
            <a:ext cx="1572768" cy="585216"/>
          </a:xfrm>
          <a:prstGeom prst="roundRect">
            <a:avLst>
              <a:gd name="adj" fmla="val 7813"/>
            </a:avLst>
          </a:prstGeom>
          <a:solidFill>
            <a:srgbClr val="FFFFFF"/>
          </a:solidFill>
          <a:ln w="12700">
            <a:solidFill>
              <a:srgbClr val="007C9F"/>
            </a:solidFill>
            <a:prstDash val="solid"/>
          </a:ln>
        </p:spPr>
      </p:sp>
      <p:sp>
        <p:nvSpPr>
          <p:cNvPr id="36" name="Text 34"/>
          <p:cNvSpPr txBox="1"/>
          <p:nvPr/>
        </p:nvSpPr>
        <p:spPr>
          <a:xfrm>
            <a:off x="6300216" y="4389120"/>
            <a:ext cx="1463040" cy="585216"/>
          </a:xfrm>
          <a:prstGeom prst="rect">
            <a:avLst/>
          </a:prstGeom>
          <a:noFill/>
          <a:ln/>
        </p:spPr>
        <p:txBody>
          <a:bodyPr wrap="square" lIns="0" tIns="0" rIns="0" bIns="0" rtlCol="0" anchor="ctr"/>
          <a:lstStyle/>
          <a:p>
            <a:pPr algn="ctr" indent="0" marL="0">
              <a:lnSpc>
                <a:spcPts val="1680"/>
              </a:lnSpc>
              <a:buNone/>
            </a:pPr>
            <a:r>
              <a:rPr lang="en-US" sz="1400" b="1" dirty="0">
                <a:solidFill>
                  <a:srgbClr val="142D3D"/>
                </a:solidFill>
                <a:latin typeface="Arial" pitchFamily="34" charset="0"/>
                <a:ea typeface="Arial" pitchFamily="34" charset="-122"/>
                <a:cs typeface="Arial" pitchFamily="34" charset="-120"/>
              </a:rPr>
              <a:t>En corrección</a:t>
            </a:r>
            <a:endParaRPr lang="en-US" sz="1400" dirty="0"/>
          </a:p>
        </p:txBody>
      </p:sp>
      <p:sp>
        <p:nvSpPr>
          <p:cNvPr id="37" name="Text 35"/>
          <p:cNvSpPr txBox="1"/>
          <p:nvPr/>
        </p:nvSpPr>
        <p:spPr>
          <a:xfrm>
            <a:off x="7818120" y="4389120"/>
            <a:ext cx="310896" cy="585216"/>
          </a:xfrm>
          <a:prstGeom prst="rect">
            <a:avLst/>
          </a:prstGeom>
          <a:noFill/>
          <a:ln/>
        </p:spPr>
        <p:txBody>
          <a:bodyPr wrap="square" lIns="0" tIns="0" rIns="0" bIns="0" rtlCol="0" anchor="ctr"/>
          <a:lstStyle/>
          <a:p>
            <a:pPr algn="ctr" indent="0" marL="0">
              <a:lnSpc>
                <a:spcPts val="1920"/>
              </a:lnSpc>
              <a:buNone/>
            </a:pPr>
            <a:r>
              <a:rPr lang="en-US" sz="1600" b="1" dirty="0">
                <a:solidFill>
                  <a:srgbClr val="007C9F"/>
                </a:solidFill>
                <a:latin typeface="Arial" pitchFamily="34" charset="0"/>
                <a:ea typeface="Arial" pitchFamily="34" charset="-122"/>
                <a:cs typeface="Arial" pitchFamily="34" charset="-120"/>
              </a:rPr>
              <a:t>→</a:t>
            </a:r>
            <a:endParaRPr lang="en-US" sz="1600" dirty="0"/>
          </a:p>
        </p:txBody>
      </p:sp>
      <p:sp>
        <p:nvSpPr>
          <p:cNvPr id="38" name="Shape 36"/>
          <p:cNvSpPr/>
          <p:nvPr/>
        </p:nvSpPr>
        <p:spPr>
          <a:xfrm>
            <a:off x="8129016" y="4389120"/>
            <a:ext cx="1572768" cy="585216"/>
          </a:xfrm>
          <a:prstGeom prst="roundRect">
            <a:avLst>
              <a:gd name="adj" fmla="val 7813"/>
            </a:avLst>
          </a:prstGeom>
          <a:solidFill>
            <a:srgbClr val="FFFFFF"/>
          </a:solidFill>
          <a:ln w="12700">
            <a:solidFill>
              <a:srgbClr val="007C9F"/>
            </a:solidFill>
            <a:prstDash val="solid"/>
          </a:ln>
        </p:spPr>
      </p:sp>
      <p:sp>
        <p:nvSpPr>
          <p:cNvPr id="39" name="Text 37"/>
          <p:cNvSpPr txBox="1"/>
          <p:nvPr/>
        </p:nvSpPr>
        <p:spPr>
          <a:xfrm>
            <a:off x="8183880" y="4389120"/>
            <a:ext cx="1463040" cy="585216"/>
          </a:xfrm>
          <a:prstGeom prst="rect">
            <a:avLst/>
          </a:prstGeom>
          <a:noFill/>
          <a:ln/>
        </p:spPr>
        <p:txBody>
          <a:bodyPr wrap="square" lIns="0" tIns="0" rIns="0" bIns="0" rtlCol="0" anchor="ctr"/>
          <a:lstStyle/>
          <a:p>
            <a:pPr algn="ctr" indent="0" marL="0">
              <a:lnSpc>
                <a:spcPts val="1680"/>
              </a:lnSpc>
              <a:buNone/>
            </a:pPr>
            <a:r>
              <a:rPr lang="en-US" sz="1400" b="1" dirty="0">
                <a:solidFill>
                  <a:srgbClr val="142D3D"/>
                </a:solidFill>
                <a:latin typeface="Arial" pitchFamily="34" charset="0"/>
                <a:ea typeface="Arial" pitchFamily="34" charset="-122"/>
                <a:cs typeface="Arial" pitchFamily="34" charset="-120"/>
              </a:rPr>
              <a:t>Listo para reprueba</a:t>
            </a:r>
            <a:endParaRPr lang="en-US" sz="1400" dirty="0"/>
          </a:p>
        </p:txBody>
      </p:sp>
      <p:sp>
        <p:nvSpPr>
          <p:cNvPr id="40" name="Text 38"/>
          <p:cNvSpPr txBox="1"/>
          <p:nvPr/>
        </p:nvSpPr>
        <p:spPr>
          <a:xfrm>
            <a:off x="9701784" y="4389120"/>
            <a:ext cx="310896" cy="585216"/>
          </a:xfrm>
          <a:prstGeom prst="rect">
            <a:avLst/>
          </a:prstGeom>
          <a:noFill/>
          <a:ln/>
        </p:spPr>
        <p:txBody>
          <a:bodyPr wrap="square" lIns="0" tIns="0" rIns="0" bIns="0" rtlCol="0" anchor="ctr"/>
          <a:lstStyle/>
          <a:p>
            <a:pPr algn="ctr" indent="0" marL="0">
              <a:lnSpc>
                <a:spcPts val="1920"/>
              </a:lnSpc>
              <a:buNone/>
            </a:pPr>
            <a:r>
              <a:rPr lang="en-US" sz="1600" b="1" dirty="0">
                <a:solidFill>
                  <a:srgbClr val="007C9F"/>
                </a:solidFill>
                <a:latin typeface="Arial" pitchFamily="34" charset="0"/>
                <a:ea typeface="Arial" pitchFamily="34" charset="-122"/>
                <a:cs typeface="Arial" pitchFamily="34" charset="-120"/>
              </a:rPr>
              <a:t>→</a:t>
            </a:r>
            <a:endParaRPr lang="en-US" sz="1600" dirty="0"/>
          </a:p>
        </p:txBody>
      </p:sp>
      <p:sp>
        <p:nvSpPr>
          <p:cNvPr id="41" name="Shape 39"/>
          <p:cNvSpPr/>
          <p:nvPr/>
        </p:nvSpPr>
        <p:spPr>
          <a:xfrm>
            <a:off x="10012680" y="4389120"/>
            <a:ext cx="1572768" cy="585216"/>
          </a:xfrm>
          <a:prstGeom prst="roundRect">
            <a:avLst>
              <a:gd name="adj" fmla="val 7813"/>
            </a:avLst>
          </a:prstGeom>
          <a:solidFill>
            <a:srgbClr val="007C9F"/>
          </a:solidFill>
          <a:ln/>
        </p:spPr>
      </p:sp>
      <p:sp>
        <p:nvSpPr>
          <p:cNvPr id="42" name="Text 40"/>
          <p:cNvSpPr txBox="1"/>
          <p:nvPr/>
        </p:nvSpPr>
        <p:spPr>
          <a:xfrm>
            <a:off x="10067544" y="4389120"/>
            <a:ext cx="1463040" cy="585216"/>
          </a:xfrm>
          <a:prstGeom prst="rect">
            <a:avLst/>
          </a:prstGeom>
          <a:noFill/>
          <a:ln/>
        </p:spPr>
        <p:txBody>
          <a:bodyPr wrap="square" lIns="0" tIns="0" rIns="0" bIns="0" rtlCol="0" anchor="ctr"/>
          <a:lstStyle/>
          <a:p>
            <a:pPr algn="ctr" indent="0" marL="0">
              <a:lnSpc>
                <a:spcPts val="1680"/>
              </a:lnSpc>
              <a:buNone/>
            </a:pPr>
            <a:r>
              <a:rPr lang="en-US" sz="1400" b="1" dirty="0">
                <a:solidFill>
                  <a:srgbClr val="FFFFFF"/>
                </a:solidFill>
                <a:latin typeface="Arial" pitchFamily="34" charset="0"/>
                <a:ea typeface="Arial" pitchFamily="34" charset="-122"/>
                <a:cs typeface="Arial" pitchFamily="34" charset="-120"/>
              </a:rPr>
              <a:t>Cerrado</a:t>
            </a:r>
            <a:endParaRPr lang="en-US" sz="1400" dirty="0"/>
          </a:p>
        </p:txBody>
      </p:sp>
      <p:sp>
        <p:nvSpPr>
          <p:cNvPr id="43" name="Shape 41"/>
          <p:cNvSpPr/>
          <p:nvPr/>
        </p:nvSpPr>
        <p:spPr>
          <a:xfrm>
            <a:off x="3264408" y="4974336"/>
            <a:ext cx="0" cy="201168"/>
          </a:xfrm>
          <a:prstGeom prst="line">
            <a:avLst/>
          </a:prstGeom>
          <a:noFill/>
          <a:ln w="12700">
            <a:solidFill>
              <a:srgbClr val="516673"/>
            </a:solidFill>
            <a:prstDash val="solid"/>
          </a:ln>
        </p:spPr>
      </p:sp>
      <p:sp>
        <p:nvSpPr>
          <p:cNvPr id="44" name="Shape 42"/>
          <p:cNvSpPr/>
          <p:nvPr/>
        </p:nvSpPr>
        <p:spPr>
          <a:xfrm>
            <a:off x="8915400" y="4974336"/>
            <a:ext cx="0" cy="201168"/>
          </a:xfrm>
          <a:prstGeom prst="line">
            <a:avLst/>
          </a:prstGeom>
          <a:noFill/>
          <a:ln w="12700">
            <a:solidFill>
              <a:srgbClr val="516673"/>
            </a:solidFill>
            <a:prstDash val="solid"/>
          </a:ln>
        </p:spPr>
      </p:sp>
      <p:sp>
        <p:nvSpPr>
          <p:cNvPr id="45" name="Shape 43"/>
          <p:cNvSpPr/>
          <p:nvPr/>
        </p:nvSpPr>
        <p:spPr>
          <a:xfrm>
            <a:off x="2478024" y="5175504"/>
            <a:ext cx="3310128" cy="475488"/>
          </a:xfrm>
          <a:prstGeom prst="roundRect">
            <a:avLst>
              <a:gd name="adj" fmla="val 7692"/>
            </a:avLst>
          </a:prstGeom>
          <a:solidFill>
            <a:srgbClr val="E3EDF1"/>
          </a:solidFill>
          <a:ln/>
        </p:spPr>
      </p:sp>
      <p:sp>
        <p:nvSpPr>
          <p:cNvPr id="46" name="Text 44"/>
          <p:cNvSpPr txBox="1"/>
          <p:nvPr/>
        </p:nvSpPr>
        <p:spPr>
          <a:xfrm>
            <a:off x="2587752" y="5175504"/>
            <a:ext cx="3090672" cy="475488"/>
          </a:xfrm>
          <a:prstGeom prst="rect">
            <a:avLst/>
          </a:prstGeom>
          <a:noFill/>
          <a:ln/>
        </p:spPr>
        <p:txBody>
          <a:bodyPr wrap="square" lIns="0" tIns="0" rIns="0" bIns="0" rtlCol="0" anchor="ctr"/>
          <a:lstStyle/>
          <a:p>
            <a:pPr algn="l" indent="0" marL="0">
              <a:lnSpc>
                <a:spcPts val="1680"/>
              </a:lnSpc>
              <a:buNone/>
            </a:pPr>
            <a:r>
              <a:rPr lang="en-US" sz="1400" dirty="0">
                <a:solidFill>
                  <a:srgbClr val="142D3D"/>
                </a:solidFill>
                <a:latin typeface="Arial" pitchFamily="34" charset="0"/>
                <a:ea typeface="Arial" pitchFamily="34" charset="-122"/>
                <a:cs typeface="Arial" pitchFamily="34" charset="-120"/>
              </a:rPr>
              <a:t>Rechazado · Duplicado · Diferido</a:t>
            </a:r>
            <a:endParaRPr lang="en-US" sz="1400" dirty="0"/>
          </a:p>
        </p:txBody>
      </p:sp>
      <p:sp>
        <p:nvSpPr>
          <p:cNvPr id="47" name="Shape 45"/>
          <p:cNvSpPr/>
          <p:nvPr/>
        </p:nvSpPr>
        <p:spPr>
          <a:xfrm>
            <a:off x="7315200" y="5175504"/>
            <a:ext cx="4279392" cy="475488"/>
          </a:xfrm>
          <a:prstGeom prst="roundRect">
            <a:avLst>
              <a:gd name="adj" fmla="val 7692"/>
            </a:avLst>
          </a:prstGeom>
          <a:solidFill>
            <a:srgbClr val="E3EDF1"/>
          </a:solidFill>
          <a:ln/>
        </p:spPr>
      </p:sp>
      <p:sp>
        <p:nvSpPr>
          <p:cNvPr id="48" name="Text 46"/>
          <p:cNvSpPr txBox="1"/>
          <p:nvPr/>
        </p:nvSpPr>
        <p:spPr>
          <a:xfrm>
            <a:off x="7424928" y="5175504"/>
            <a:ext cx="4059936" cy="475488"/>
          </a:xfrm>
          <a:prstGeom prst="rect">
            <a:avLst/>
          </a:prstGeom>
          <a:noFill/>
          <a:ln/>
        </p:spPr>
        <p:txBody>
          <a:bodyPr wrap="square" lIns="0" tIns="0" rIns="0" bIns="0" rtlCol="0" anchor="ctr"/>
          <a:lstStyle/>
          <a:p>
            <a:pPr algn="l" indent="0" marL="0">
              <a:lnSpc>
                <a:spcPts val="1680"/>
              </a:lnSpc>
              <a:buNone/>
            </a:pPr>
            <a:r>
              <a:rPr lang="en-US" sz="1400" dirty="0">
                <a:solidFill>
                  <a:srgbClr val="142D3D"/>
                </a:solidFill>
                <a:latin typeface="Arial" pitchFamily="34" charset="0"/>
                <a:ea typeface="Arial" pitchFamily="34" charset="-122"/>
                <a:cs typeface="Arial" pitchFamily="34" charset="-120"/>
              </a:rPr>
              <a:t>Reabierto → vuelve a En corrección</a:t>
            </a:r>
            <a:endParaRPr lang="en-US" sz="1400" dirty="0"/>
          </a:p>
        </p:txBody>
      </p:sp>
      <p:sp>
        <p:nvSpPr>
          <p:cNvPr id="49" name="Text 47"/>
          <p:cNvSpPr txBox="1"/>
          <p:nvPr/>
        </p:nvSpPr>
        <p:spPr>
          <a:xfrm>
            <a:off x="594360" y="5833872"/>
            <a:ext cx="5394960" cy="493776"/>
          </a:xfrm>
          <a:prstGeom prst="rect">
            <a:avLst/>
          </a:prstGeom>
          <a:noFill/>
          <a:ln/>
        </p:spPr>
        <p:txBody>
          <a:bodyPr wrap="square" lIns="0" tIns="0" rIns="0" bIns="0" rtlCol="0" anchor="ctr"/>
          <a:lstStyle/>
          <a:p>
            <a:pPr algn="l" indent="0" marL="0">
              <a:lnSpc>
                <a:spcPts val="1800"/>
              </a:lnSpc>
              <a:buNone/>
            </a:pPr>
            <a:r>
              <a:rPr lang="en-US" sz="1500" b="1" dirty="0">
                <a:solidFill>
                  <a:srgbClr val="007C9F"/>
                </a:solidFill>
                <a:latin typeface="Arial" pitchFamily="34" charset="0"/>
                <a:ea typeface="Arial" pitchFamily="34" charset="-122"/>
                <a:cs typeface="Arial" pitchFamily="34" charset="-120"/>
              </a:rPr>
              <a:t>Prueba de confirmación: </a:t>
            </a:r>
            <a:pPr algn="l" indent="0" marL="0">
              <a:lnSpc>
                <a:spcPts val="1800"/>
              </a:lnSpc>
              <a:buNone/>
            </a:pPr>
            <a:r>
              <a:rPr lang="en-US" sz="1500" dirty="0">
                <a:solidFill>
                  <a:srgbClr val="516673"/>
                </a:solidFill>
                <a:latin typeface="Arial" pitchFamily="34" charset="0"/>
                <a:ea typeface="Arial" pitchFamily="34" charset="-122"/>
                <a:cs typeface="Arial" pitchFamily="34" charset="-120"/>
              </a:rPr>
              <a:t>repite el caso que falló.</a:t>
            </a:r>
            <a:endParaRPr lang="en-US" sz="1500" dirty="0"/>
          </a:p>
        </p:txBody>
      </p:sp>
      <p:sp>
        <p:nvSpPr>
          <p:cNvPr id="50" name="Text 48"/>
          <p:cNvSpPr txBox="1"/>
          <p:nvPr/>
        </p:nvSpPr>
        <p:spPr>
          <a:xfrm>
            <a:off x="6172200" y="5833872"/>
            <a:ext cx="5425135" cy="493776"/>
          </a:xfrm>
          <a:prstGeom prst="rect">
            <a:avLst/>
          </a:prstGeom>
          <a:noFill/>
          <a:ln/>
        </p:spPr>
        <p:txBody>
          <a:bodyPr wrap="square" lIns="0" tIns="0" rIns="0" bIns="0" rtlCol="0" anchor="ctr"/>
          <a:lstStyle/>
          <a:p>
            <a:pPr algn="l" indent="0" marL="0">
              <a:lnSpc>
                <a:spcPts val="1800"/>
              </a:lnSpc>
              <a:buNone/>
            </a:pPr>
            <a:r>
              <a:rPr lang="en-US" sz="1500" b="1" dirty="0">
                <a:solidFill>
                  <a:srgbClr val="007C9F"/>
                </a:solidFill>
                <a:latin typeface="Arial" pitchFamily="34" charset="0"/>
                <a:ea typeface="Arial" pitchFamily="34" charset="-122"/>
                <a:cs typeface="Arial" pitchFamily="34" charset="-120"/>
              </a:rPr>
              <a:t>Pruebas de regresión: </a:t>
            </a:r>
            <a:pPr algn="l" indent="0" marL="0">
              <a:lnSpc>
                <a:spcPts val="1800"/>
              </a:lnSpc>
              <a:buNone/>
            </a:pPr>
            <a:r>
              <a:rPr lang="en-US" sz="1500" dirty="0">
                <a:solidFill>
                  <a:srgbClr val="516673"/>
                </a:solidFill>
                <a:latin typeface="Arial" pitchFamily="34" charset="0"/>
                <a:ea typeface="Arial" pitchFamily="34" charset="-122"/>
                <a:cs typeface="Arial" pitchFamily="34" charset="-120"/>
              </a:rPr>
              <a:t>que la corrección no rompa lo relacionado.</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2F6F8"/>
        </a:solidFill>
      </p:bgPr>
    </p:bg>
    <p:spTree>
      <p:nvGrpSpPr>
        <p:cNvPr id="1" name=""/>
        <p:cNvGrpSpPr/>
        <p:nvPr/>
      </p:nvGrpSpPr>
      <p:grpSpPr>
        <a:xfrm>
          <a:off x="0" y="0"/>
          <a:ext cx="0" cy="0"/>
          <a:chOff x="0" y="0"/>
          <a:chExt cx="0" cy="0"/>
        </a:xfrm>
      </p:grpSpPr>
      <p:sp>
        <p:nvSpPr>
          <p:cNvPr id="2" name="Shape 0"/>
          <p:cNvSpPr/>
          <p:nvPr/>
        </p:nvSpPr>
        <p:spPr>
          <a:xfrm>
            <a:off x="594360" y="457200"/>
            <a:ext cx="457200" cy="457200"/>
          </a:xfrm>
          <a:prstGeom prst="ellipse">
            <a:avLst/>
          </a:prstGeom>
          <a:solidFill>
            <a:srgbClr val="007C9F"/>
          </a:solidFill>
          <a:ln/>
        </p:spPr>
      </p:sp>
      <p:sp>
        <p:nvSpPr>
          <p:cNvPr id="3" name="Text 1"/>
          <p:cNvSpPr txBox="1"/>
          <p:nvPr/>
        </p:nvSpPr>
        <p:spPr>
          <a:xfrm>
            <a:off x="594360" y="457200"/>
            <a:ext cx="457200" cy="457200"/>
          </a:xfrm>
          <a:prstGeom prst="rect">
            <a:avLst/>
          </a:prstGeom>
          <a:noFill/>
          <a:ln/>
        </p:spPr>
        <p:txBody>
          <a:bodyPr wrap="square" lIns="0" tIns="0" rIns="0" bIns="0" rtlCol="0" anchor="ctr"/>
          <a:lstStyle/>
          <a:p>
            <a:pPr algn="ctr" indent="0" marL="0">
              <a:lnSpc>
                <a:spcPts val="1920"/>
              </a:lnSpc>
              <a:buNone/>
            </a:pPr>
            <a:r>
              <a:rPr lang="en-US" sz="1600" b="1" dirty="0">
                <a:solidFill>
                  <a:srgbClr val="FFFFFF"/>
                </a:solidFill>
                <a:latin typeface="Arial" pitchFamily="34" charset="0"/>
                <a:ea typeface="Arial" pitchFamily="34" charset="-122"/>
                <a:cs typeface="Arial" pitchFamily="34" charset="-120"/>
              </a:rPr>
              <a:t>14</a:t>
            </a:r>
            <a:endParaRPr lang="en-US" sz="1600" dirty="0"/>
          </a:p>
        </p:txBody>
      </p:sp>
      <p:sp>
        <p:nvSpPr>
          <p:cNvPr id="4" name="Text 2"/>
          <p:cNvSpPr txBox="1"/>
          <p:nvPr/>
        </p:nvSpPr>
        <p:spPr>
          <a:xfrm>
            <a:off x="1207008" y="429768"/>
            <a:ext cx="7726680" cy="530352"/>
          </a:xfrm>
          <a:prstGeom prst="rect">
            <a:avLst/>
          </a:prstGeom>
          <a:noFill/>
          <a:ln/>
        </p:spPr>
        <p:txBody>
          <a:bodyPr wrap="square" lIns="0" tIns="0" rIns="0" bIns="0" rtlCol="0" anchor="ctr"/>
          <a:lstStyle/>
          <a:p>
            <a:pPr algn="l" indent="0" marL="0">
              <a:lnSpc>
                <a:spcPts val="3360"/>
              </a:lnSpc>
              <a:buNone/>
            </a:pPr>
            <a:r>
              <a:rPr lang="en-US" sz="2800" b="1" dirty="0">
                <a:solidFill>
                  <a:srgbClr val="142D3D"/>
                </a:solidFill>
                <a:latin typeface="Arial" pitchFamily="34" charset="0"/>
                <a:ea typeface="Arial" pitchFamily="34" charset="-122"/>
                <a:cs typeface="Arial" pitchFamily="34" charset="-120"/>
              </a:rPr>
              <a:t>Automatización para el Proyecto 2</a:t>
            </a:r>
            <a:endParaRPr lang="en-US" sz="2800" dirty="0"/>
          </a:p>
        </p:txBody>
      </p:sp>
      <p:sp>
        <p:nvSpPr>
          <p:cNvPr id="5" name="Text 3"/>
          <p:cNvSpPr txBox="1"/>
          <p:nvPr/>
        </p:nvSpPr>
        <p:spPr>
          <a:xfrm>
            <a:off x="9006840" y="429768"/>
            <a:ext cx="2590495" cy="530352"/>
          </a:xfrm>
          <a:prstGeom prst="rect">
            <a:avLst/>
          </a:prstGeom>
          <a:noFill/>
          <a:ln/>
        </p:spPr>
        <p:txBody>
          <a:bodyPr wrap="square" lIns="0" tIns="0" rIns="0" bIns="0" rtlCol="0" anchor="ctr"/>
          <a:lstStyle/>
          <a:p>
            <a:pPr algn="r" indent="0" marL="0">
              <a:lnSpc>
                <a:spcPts val="1680"/>
              </a:lnSpc>
              <a:buNone/>
            </a:pPr>
            <a:r>
              <a:rPr lang="en-US" sz="1400" dirty="0">
                <a:solidFill>
                  <a:srgbClr val="516673"/>
                </a:solidFill>
                <a:latin typeface="Arial" pitchFamily="34" charset="0"/>
                <a:ea typeface="Arial" pitchFamily="34" charset="-122"/>
                <a:cs typeface="Arial" pitchFamily="34" charset="-120"/>
              </a:rPr>
              <a:t>Granit · 9:45–10:40</a:t>
            </a:r>
            <a:endParaRPr lang="en-US" sz="1400" dirty="0"/>
          </a:p>
        </p:txBody>
      </p:sp>
      <p:sp>
        <p:nvSpPr>
          <p:cNvPr id="6" name="Shape 4"/>
          <p:cNvSpPr/>
          <p:nvPr/>
        </p:nvSpPr>
        <p:spPr>
          <a:xfrm>
            <a:off x="594360" y="1664208"/>
            <a:ext cx="3520440" cy="1444752"/>
          </a:xfrm>
          <a:prstGeom prst="roundRect">
            <a:avLst>
              <a:gd name="adj" fmla="val 3797"/>
            </a:avLst>
          </a:prstGeom>
          <a:solidFill>
            <a:srgbClr val="FFFFFF"/>
          </a:solidFill>
          <a:ln w="9525">
            <a:solidFill>
              <a:srgbClr val="D3DEE4"/>
            </a:solidFill>
            <a:prstDash val="solid"/>
          </a:ln>
        </p:spPr>
      </p:sp>
      <p:sp>
        <p:nvSpPr>
          <p:cNvPr id="7" name="Shape 5"/>
          <p:cNvSpPr/>
          <p:nvPr/>
        </p:nvSpPr>
        <p:spPr>
          <a:xfrm>
            <a:off x="832104" y="1847088"/>
            <a:ext cx="402336" cy="402336"/>
          </a:xfrm>
          <a:prstGeom prst="ellipse">
            <a:avLst/>
          </a:prstGeom>
          <a:solidFill>
            <a:srgbClr val="007C9F"/>
          </a:solidFill>
          <a:ln/>
        </p:spPr>
      </p:sp>
      <p:sp>
        <p:nvSpPr>
          <p:cNvPr id="8" name="Text 6"/>
          <p:cNvSpPr txBox="1"/>
          <p:nvPr/>
        </p:nvSpPr>
        <p:spPr>
          <a:xfrm>
            <a:off x="832104" y="1847088"/>
            <a:ext cx="402336" cy="402336"/>
          </a:xfrm>
          <a:prstGeom prst="rect">
            <a:avLst/>
          </a:prstGeom>
          <a:noFill/>
          <a:ln/>
        </p:spPr>
        <p:txBody>
          <a:bodyPr wrap="square" lIns="0" tIns="0" rIns="0" bIns="0" rtlCol="0" anchor="ctr"/>
          <a:lstStyle/>
          <a:p>
            <a:pPr algn="ctr" indent="0" marL="0">
              <a:lnSpc>
                <a:spcPts val="1800"/>
              </a:lnSpc>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9" name="Text 7"/>
          <p:cNvSpPr txBox="1"/>
          <p:nvPr/>
        </p:nvSpPr>
        <p:spPr>
          <a:xfrm>
            <a:off x="1344168" y="1847088"/>
            <a:ext cx="2532888" cy="402336"/>
          </a:xfrm>
          <a:prstGeom prst="rect">
            <a:avLst/>
          </a:prstGeom>
          <a:noFill/>
          <a:ln/>
        </p:spPr>
        <p:txBody>
          <a:bodyPr wrap="square" lIns="0" tIns="0" rIns="0" bIns="0" rtlCol="0" anchor="ctr"/>
          <a:lstStyle/>
          <a:p>
            <a:pPr algn="l" indent="0" marL="0">
              <a:lnSpc>
                <a:spcPts val="2280"/>
              </a:lnSpc>
              <a:buNone/>
            </a:pPr>
            <a:r>
              <a:rPr lang="en-US" sz="1900" b="1" dirty="0">
                <a:solidFill>
                  <a:srgbClr val="142D3D"/>
                </a:solidFill>
                <a:latin typeface="Arial" pitchFamily="34" charset="0"/>
                <a:ea typeface="Arial" pitchFamily="34" charset="-122"/>
                <a:cs typeface="Arial" pitchFamily="34" charset="-120"/>
              </a:rPr>
              <a:t>CP-CAR-01</a:t>
            </a:r>
            <a:endParaRPr lang="en-US" sz="1900" dirty="0"/>
          </a:p>
        </p:txBody>
      </p:sp>
      <p:sp>
        <p:nvSpPr>
          <p:cNvPr id="10" name="Text 8"/>
          <p:cNvSpPr txBox="1"/>
          <p:nvPr/>
        </p:nvSpPr>
        <p:spPr>
          <a:xfrm>
            <a:off x="832104" y="2395728"/>
            <a:ext cx="3044952" cy="859536"/>
          </a:xfrm>
          <a:prstGeom prst="rect">
            <a:avLst/>
          </a:prstGeom>
          <a:noFill/>
          <a:ln/>
        </p:spPr>
        <p:txBody>
          <a:bodyPr wrap="square" lIns="0" tIns="0" rIns="0" bIns="0" rtlCol="0" anchor="t"/>
          <a:lstStyle/>
          <a:p>
            <a:pPr algn="l" indent="0" marL="0">
              <a:lnSpc>
                <a:spcPts val="1920"/>
              </a:lnSpc>
              <a:buNone/>
            </a:pPr>
            <a:r>
              <a:rPr lang="en-US" sz="1600" dirty="0">
                <a:solidFill>
                  <a:srgbClr val="516673"/>
                </a:solidFill>
                <a:latin typeface="Arial" pitchFamily="34" charset="0"/>
                <a:ea typeface="Arial" pitchFamily="34" charset="-122"/>
                <a:cs typeface="Arial" pitchFamily="34" charset="-120"/>
              </a:rPr>
              <a:t>Riesgo monetario · cálculo decimal</a:t>
            </a:r>
            <a:endParaRPr lang="en-US" sz="1600" dirty="0"/>
          </a:p>
        </p:txBody>
      </p:sp>
      <p:sp>
        <p:nvSpPr>
          <p:cNvPr id="11" name="Shape 9"/>
          <p:cNvSpPr/>
          <p:nvPr/>
        </p:nvSpPr>
        <p:spPr>
          <a:xfrm>
            <a:off x="4334256" y="1664208"/>
            <a:ext cx="3520440" cy="1444752"/>
          </a:xfrm>
          <a:prstGeom prst="roundRect">
            <a:avLst>
              <a:gd name="adj" fmla="val 3797"/>
            </a:avLst>
          </a:prstGeom>
          <a:solidFill>
            <a:srgbClr val="FFFFFF"/>
          </a:solidFill>
          <a:ln w="9525">
            <a:solidFill>
              <a:srgbClr val="D3DEE4"/>
            </a:solidFill>
            <a:prstDash val="solid"/>
          </a:ln>
        </p:spPr>
      </p:sp>
      <p:sp>
        <p:nvSpPr>
          <p:cNvPr id="12" name="Shape 10"/>
          <p:cNvSpPr/>
          <p:nvPr/>
        </p:nvSpPr>
        <p:spPr>
          <a:xfrm>
            <a:off x="4572000" y="1847088"/>
            <a:ext cx="402336" cy="402336"/>
          </a:xfrm>
          <a:prstGeom prst="ellipse">
            <a:avLst/>
          </a:prstGeom>
          <a:solidFill>
            <a:srgbClr val="007C9F"/>
          </a:solidFill>
          <a:ln/>
        </p:spPr>
      </p:sp>
      <p:sp>
        <p:nvSpPr>
          <p:cNvPr id="13" name="Text 11"/>
          <p:cNvSpPr txBox="1"/>
          <p:nvPr/>
        </p:nvSpPr>
        <p:spPr>
          <a:xfrm>
            <a:off x="4572000" y="1847088"/>
            <a:ext cx="402336" cy="402336"/>
          </a:xfrm>
          <a:prstGeom prst="rect">
            <a:avLst/>
          </a:prstGeom>
          <a:noFill/>
          <a:ln/>
        </p:spPr>
        <p:txBody>
          <a:bodyPr wrap="square" lIns="0" tIns="0" rIns="0" bIns="0" rtlCol="0" anchor="ctr"/>
          <a:lstStyle/>
          <a:p>
            <a:pPr algn="ctr" indent="0" marL="0">
              <a:lnSpc>
                <a:spcPts val="1800"/>
              </a:lnSpc>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4" name="Text 12"/>
          <p:cNvSpPr txBox="1"/>
          <p:nvPr/>
        </p:nvSpPr>
        <p:spPr>
          <a:xfrm>
            <a:off x="5084064" y="1847088"/>
            <a:ext cx="2532888" cy="402336"/>
          </a:xfrm>
          <a:prstGeom prst="rect">
            <a:avLst/>
          </a:prstGeom>
          <a:noFill/>
          <a:ln/>
        </p:spPr>
        <p:txBody>
          <a:bodyPr wrap="square" lIns="0" tIns="0" rIns="0" bIns="0" rtlCol="0" anchor="ctr"/>
          <a:lstStyle/>
          <a:p>
            <a:pPr algn="l" indent="0" marL="0">
              <a:lnSpc>
                <a:spcPts val="2280"/>
              </a:lnSpc>
              <a:buNone/>
            </a:pPr>
            <a:r>
              <a:rPr lang="en-US" sz="1900" b="1" dirty="0">
                <a:solidFill>
                  <a:srgbClr val="142D3D"/>
                </a:solidFill>
                <a:latin typeface="Arial" pitchFamily="34" charset="0"/>
                <a:ea typeface="Arial" pitchFamily="34" charset="-122"/>
                <a:cs typeface="Arial" pitchFamily="34" charset="-120"/>
              </a:rPr>
              <a:t>CP-CAT-02</a:t>
            </a:r>
            <a:endParaRPr lang="en-US" sz="1900" dirty="0"/>
          </a:p>
        </p:txBody>
      </p:sp>
      <p:sp>
        <p:nvSpPr>
          <p:cNvPr id="15" name="Text 13"/>
          <p:cNvSpPr txBox="1"/>
          <p:nvPr/>
        </p:nvSpPr>
        <p:spPr>
          <a:xfrm>
            <a:off x="4572000" y="2395728"/>
            <a:ext cx="3044952" cy="859536"/>
          </a:xfrm>
          <a:prstGeom prst="rect">
            <a:avLst/>
          </a:prstGeom>
          <a:noFill/>
          <a:ln/>
        </p:spPr>
        <p:txBody>
          <a:bodyPr wrap="square" lIns="0" tIns="0" rIns="0" bIns="0" rtlCol="0" anchor="t"/>
          <a:lstStyle/>
          <a:p>
            <a:pPr algn="l" indent="0" marL="0">
              <a:lnSpc>
                <a:spcPts val="1920"/>
              </a:lnSpc>
              <a:buNone/>
            </a:pPr>
            <a:r>
              <a:rPr lang="en-US" sz="1600" dirty="0">
                <a:solidFill>
                  <a:srgbClr val="516673"/>
                </a:solidFill>
                <a:latin typeface="Arial" pitchFamily="34" charset="0"/>
                <a:ea typeface="Arial" pitchFamily="34" charset="-122"/>
                <a:cs typeface="Arial" pitchFamily="34" charset="-120"/>
              </a:rPr>
              <a:t>12 precios · determinista</a:t>
            </a:r>
            <a:endParaRPr lang="en-US" sz="1600" dirty="0"/>
          </a:p>
        </p:txBody>
      </p:sp>
      <p:sp>
        <p:nvSpPr>
          <p:cNvPr id="16" name="Shape 14"/>
          <p:cNvSpPr/>
          <p:nvPr/>
        </p:nvSpPr>
        <p:spPr>
          <a:xfrm>
            <a:off x="8074152" y="1664208"/>
            <a:ext cx="3520440" cy="1444752"/>
          </a:xfrm>
          <a:prstGeom prst="roundRect">
            <a:avLst>
              <a:gd name="adj" fmla="val 3797"/>
            </a:avLst>
          </a:prstGeom>
          <a:solidFill>
            <a:srgbClr val="FFFFFF"/>
          </a:solidFill>
          <a:ln w="9525">
            <a:solidFill>
              <a:srgbClr val="D3DEE4"/>
            </a:solidFill>
            <a:prstDash val="solid"/>
          </a:ln>
        </p:spPr>
      </p:sp>
      <p:sp>
        <p:nvSpPr>
          <p:cNvPr id="17" name="Shape 15"/>
          <p:cNvSpPr/>
          <p:nvPr/>
        </p:nvSpPr>
        <p:spPr>
          <a:xfrm>
            <a:off x="8311896" y="1847088"/>
            <a:ext cx="402336" cy="402336"/>
          </a:xfrm>
          <a:prstGeom prst="ellipse">
            <a:avLst/>
          </a:prstGeom>
          <a:solidFill>
            <a:srgbClr val="007C9F"/>
          </a:solidFill>
          <a:ln/>
        </p:spPr>
      </p:sp>
      <p:sp>
        <p:nvSpPr>
          <p:cNvPr id="18" name="Text 16"/>
          <p:cNvSpPr txBox="1"/>
          <p:nvPr/>
        </p:nvSpPr>
        <p:spPr>
          <a:xfrm>
            <a:off x="8311896" y="1847088"/>
            <a:ext cx="402336" cy="402336"/>
          </a:xfrm>
          <a:prstGeom prst="rect">
            <a:avLst/>
          </a:prstGeom>
          <a:noFill/>
          <a:ln/>
        </p:spPr>
        <p:txBody>
          <a:bodyPr wrap="square" lIns="0" tIns="0" rIns="0" bIns="0" rtlCol="0" anchor="ctr"/>
          <a:lstStyle/>
          <a:p>
            <a:pPr algn="ctr" indent="0" marL="0">
              <a:lnSpc>
                <a:spcPts val="1800"/>
              </a:lnSpc>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9" name="Text 17"/>
          <p:cNvSpPr txBox="1"/>
          <p:nvPr/>
        </p:nvSpPr>
        <p:spPr>
          <a:xfrm>
            <a:off x="8823960" y="1847088"/>
            <a:ext cx="2532888" cy="402336"/>
          </a:xfrm>
          <a:prstGeom prst="rect">
            <a:avLst/>
          </a:prstGeom>
          <a:noFill/>
          <a:ln/>
        </p:spPr>
        <p:txBody>
          <a:bodyPr wrap="square" lIns="0" tIns="0" rIns="0" bIns="0" rtlCol="0" anchor="ctr"/>
          <a:lstStyle/>
          <a:p>
            <a:pPr algn="l" indent="0" marL="0">
              <a:lnSpc>
                <a:spcPts val="2280"/>
              </a:lnSpc>
              <a:buNone/>
            </a:pPr>
            <a:r>
              <a:rPr lang="en-US" sz="1900" b="1" dirty="0">
                <a:solidFill>
                  <a:srgbClr val="142D3D"/>
                </a:solidFill>
                <a:latin typeface="Arial" pitchFamily="34" charset="0"/>
                <a:ea typeface="Arial" pitchFamily="34" charset="-122"/>
                <a:cs typeface="Arial" pitchFamily="34" charset="-120"/>
              </a:rPr>
              <a:t>CP-PRO-01</a:t>
            </a:r>
            <a:endParaRPr lang="en-US" sz="1900" dirty="0"/>
          </a:p>
        </p:txBody>
      </p:sp>
      <p:sp>
        <p:nvSpPr>
          <p:cNvPr id="20" name="Text 18"/>
          <p:cNvSpPr txBox="1"/>
          <p:nvPr/>
        </p:nvSpPr>
        <p:spPr>
          <a:xfrm>
            <a:off x="8311896" y="2395728"/>
            <a:ext cx="3044952" cy="859536"/>
          </a:xfrm>
          <a:prstGeom prst="rect">
            <a:avLst/>
          </a:prstGeom>
          <a:noFill/>
          <a:ln/>
        </p:spPr>
        <p:txBody>
          <a:bodyPr wrap="square" lIns="0" tIns="0" rIns="0" bIns="0" rtlCol="0" anchor="t"/>
          <a:lstStyle/>
          <a:p>
            <a:pPr algn="l" indent="0" marL="0">
              <a:lnSpc>
                <a:spcPts val="1920"/>
              </a:lnSpc>
              <a:buNone/>
            </a:pPr>
            <a:r>
              <a:rPr lang="en-US" sz="1600" dirty="0">
                <a:solidFill>
                  <a:srgbClr val="516673"/>
                </a:solidFill>
                <a:latin typeface="Arial" pitchFamily="34" charset="0"/>
                <a:ea typeface="Arial" pitchFamily="34" charset="-122"/>
                <a:cs typeface="Arial" pitchFamily="34" charset="-120"/>
              </a:rPr>
              <a:t>Validación observable y estable</a:t>
            </a:r>
            <a:endParaRPr lang="en-US" sz="1600" dirty="0"/>
          </a:p>
        </p:txBody>
      </p:sp>
      <p:sp>
        <p:nvSpPr>
          <p:cNvPr id="21" name="Shape 19"/>
          <p:cNvSpPr/>
          <p:nvPr/>
        </p:nvSpPr>
        <p:spPr>
          <a:xfrm>
            <a:off x="594360" y="3310128"/>
            <a:ext cx="6766560" cy="1298448"/>
          </a:xfrm>
          <a:prstGeom prst="roundRect">
            <a:avLst>
              <a:gd name="adj" fmla="val 4225"/>
            </a:avLst>
          </a:prstGeom>
          <a:solidFill>
            <a:srgbClr val="E3EDF1"/>
          </a:solidFill>
          <a:ln/>
        </p:spPr>
      </p:sp>
      <p:sp>
        <p:nvSpPr>
          <p:cNvPr id="22" name="Text 20"/>
          <p:cNvSpPr txBox="1"/>
          <p:nvPr/>
        </p:nvSpPr>
        <p:spPr>
          <a:xfrm>
            <a:off x="850392" y="3419856"/>
            <a:ext cx="5486400" cy="274320"/>
          </a:xfrm>
          <a:prstGeom prst="rect">
            <a:avLst/>
          </a:prstGeom>
          <a:noFill/>
          <a:ln/>
        </p:spPr>
        <p:txBody>
          <a:bodyPr wrap="square" lIns="0" tIns="0" rIns="0" bIns="0" rtlCol="0" anchor="ctr"/>
          <a:lstStyle/>
          <a:p>
            <a:pPr algn="l" indent="0" marL="0">
              <a:lnSpc>
                <a:spcPts val="1680"/>
              </a:lnSpc>
              <a:buNone/>
            </a:pPr>
            <a:r>
              <a:rPr lang="en-US" sz="1400" b="1" dirty="0">
                <a:solidFill>
                  <a:srgbClr val="A46810"/>
                </a:solidFill>
                <a:latin typeface="Arial" pitchFamily="34" charset="0"/>
                <a:ea typeface="Arial" pitchFamily="34" charset="-122"/>
                <a:cs typeface="Arial" pitchFamily="34" charset="-120"/>
              </a:rPr>
              <a:t>SÓLO CON AMBIENTE PREPARADO</a:t>
            </a:r>
            <a:endParaRPr lang="en-US" sz="1400" dirty="0"/>
          </a:p>
        </p:txBody>
      </p:sp>
      <p:sp>
        <p:nvSpPr>
          <p:cNvPr id="23" name="Text 21"/>
          <p:cNvSpPr txBox="1"/>
          <p:nvPr/>
        </p:nvSpPr>
        <p:spPr>
          <a:xfrm>
            <a:off x="850392" y="3730752"/>
            <a:ext cx="6309360" cy="786384"/>
          </a:xfrm>
          <a:prstGeom prst="rect">
            <a:avLst/>
          </a:prstGeom>
          <a:noFill/>
          <a:ln/>
        </p:spPr>
        <p:txBody>
          <a:bodyPr wrap="square" lIns="0" tIns="0" rIns="0" bIns="0" rtlCol="0" anchor="t"/>
          <a:lstStyle/>
          <a:p>
            <a:pPr algn="l" indent="0" marL="0">
              <a:lnSpc>
                <a:spcPts val="1800"/>
              </a:lnSpc>
              <a:buNone/>
            </a:pPr>
            <a:r>
              <a:rPr lang="en-US" sz="1500" dirty="0">
                <a:solidFill>
                  <a:srgbClr val="142D3D"/>
                </a:solidFill>
                <a:latin typeface="Arial" pitchFamily="34" charset="0"/>
                <a:ea typeface="Arial" pitchFamily="34" charset="-122"/>
                <a:cs typeface="Arial" pitchFamily="34" charset="-120"/>
              </a:rPr>
              <a:t>CP-CAR-02: fijar y restaurar el stock · cupones vigentes · pedidos: pago de prueba y permisos.</a:t>
            </a:r>
            <a:endParaRPr lang="en-US" sz="1500" dirty="0"/>
          </a:p>
        </p:txBody>
      </p:sp>
      <p:sp>
        <p:nvSpPr>
          <p:cNvPr id="24" name="Shape 22"/>
          <p:cNvSpPr/>
          <p:nvPr/>
        </p:nvSpPr>
        <p:spPr>
          <a:xfrm>
            <a:off x="7562088" y="3310128"/>
            <a:ext cx="4035247" cy="1298448"/>
          </a:xfrm>
          <a:prstGeom prst="roundRect">
            <a:avLst>
              <a:gd name="adj" fmla="val 4225"/>
            </a:avLst>
          </a:prstGeom>
          <a:solidFill>
            <a:srgbClr val="E3EDF1"/>
          </a:solidFill>
          <a:ln/>
        </p:spPr>
      </p:sp>
      <p:sp>
        <p:nvSpPr>
          <p:cNvPr id="25" name="Text 23"/>
          <p:cNvSpPr txBox="1"/>
          <p:nvPr/>
        </p:nvSpPr>
        <p:spPr>
          <a:xfrm>
            <a:off x="7818120" y="3419856"/>
            <a:ext cx="3291840" cy="274320"/>
          </a:xfrm>
          <a:prstGeom prst="rect">
            <a:avLst/>
          </a:prstGeom>
          <a:noFill/>
          <a:ln/>
        </p:spPr>
        <p:txBody>
          <a:bodyPr wrap="square" lIns="0" tIns="0" rIns="0" bIns="0" rtlCol="0" anchor="ctr"/>
          <a:lstStyle/>
          <a:p>
            <a:pPr algn="l" indent="0" marL="0">
              <a:lnSpc>
                <a:spcPts val="1680"/>
              </a:lnSpc>
              <a:buNone/>
            </a:pPr>
            <a:r>
              <a:rPr lang="en-US" sz="1400" b="1" dirty="0">
                <a:solidFill>
                  <a:srgbClr val="516673"/>
                </a:solidFill>
                <a:latin typeface="Arial" pitchFamily="34" charset="0"/>
                <a:ea typeface="Arial" pitchFamily="34" charset="-122"/>
                <a:cs typeface="Arial" pitchFamily="34" charset="-120"/>
              </a:rPr>
              <a:t>SE QUEDA MANUAL</a:t>
            </a:r>
            <a:endParaRPr lang="en-US" sz="1400" dirty="0"/>
          </a:p>
        </p:txBody>
      </p:sp>
      <p:sp>
        <p:nvSpPr>
          <p:cNvPr id="26" name="Text 24"/>
          <p:cNvSpPr txBox="1"/>
          <p:nvPr/>
        </p:nvSpPr>
        <p:spPr>
          <a:xfrm>
            <a:off x="7818120" y="3730752"/>
            <a:ext cx="3523183" cy="786384"/>
          </a:xfrm>
          <a:prstGeom prst="rect">
            <a:avLst/>
          </a:prstGeom>
          <a:noFill/>
          <a:ln/>
        </p:spPr>
        <p:txBody>
          <a:bodyPr wrap="square" lIns="0" tIns="0" rIns="0" bIns="0" rtlCol="0" anchor="t"/>
          <a:lstStyle/>
          <a:p>
            <a:pPr algn="l" indent="0" marL="0">
              <a:lnSpc>
                <a:spcPts val="1800"/>
              </a:lnSpc>
              <a:buNone/>
            </a:pPr>
            <a:r>
              <a:rPr lang="en-US" sz="1500" dirty="0">
                <a:solidFill>
                  <a:srgbClr val="142D3D"/>
                </a:solidFill>
                <a:latin typeface="Arial" pitchFamily="34" charset="0"/>
                <a:ea typeface="Arial" pitchFamily="34" charset="-122"/>
                <a:cs typeface="Arial" pitchFamily="34" charset="-120"/>
              </a:rPr>
              <a:t>Configuraciones ambiguas y claridad de mensajes: exigen interpretar intención.</a:t>
            </a:r>
            <a:endParaRPr lang="en-US" sz="1500" dirty="0"/>
          </a:p>
        </p:txBody>
      </p:sp>
      <p:sp>
        <p:nvSpPr>
          <p:cNvPr id="27" name="Shape 25"/>
          <p:cNvSpPr/>
          <p:nvPr/>
        </p:nvSpPr>
        <p:spPr>
          <a:xfrm>
            <a:off x="594360" y="4754880"/>
            <a:ext cx="11002975" cy="960120"/>
          </a:xfrm>
          <a:prstGeom prst="roundRect">
            <a:avLst>
              <a:gd name="adj" fmla="val 5714"/>
            </a:avLst>
          </a:prstGeom>
          <a:solidFill>
            <a:srgbClr val="FFFFFF"/>
          </a:solidFill>
          <a:ln w="9525">
            <a:solidFill>
              <a:srgbClr val="D3DEE4"/>
            </a:solidFill>
            <a:prstDash val="solid"/>
          </a:ln>
        </p:spPr>
      </p:sp>
      <p:sp>
        <p:nvSpPr>
          <p:cNvPr id="28" name="Text 26"/>
          <p:cNvSpPr txBox="1"/>
          <p:nvPr/>
        </p:nvSpPr>
        <p:spPr>
          <a:xfrm>
            <a:off x="850392" y="4754880"/>
            <a:ext cx="10490911" cy="960120"/>
          </a:xfrm>
          <a:prstGeom prst="rect">
            <a:avLst/>
          </a:prstGeom>
          <a:noFill/>
          <a:ln/>
        </p:spPr>
        <p:txBody>
          <a:bodyPr wrap="square" lIns="0" tIns="0" rIns="0" bIns="0" rtlCol="0" anchor="ctr"/>
          <a:lstStyle/>
          <a:p>
            <a:pPr algn="l" indent="0" marL="0">
              <a:lnSpc>
                <a:spcPts val="1920"/>
              </a:lnSpc>
              <a:buNone/>
            </a:pPr>
            <a:r>
              <a:rPr lang="en-US" sz="1600" b="1" dirty="0">
                <a:solidFill>
                  <a:srgbClr val="142D3D"/>
                </a:solidFill>
                <a:latin typeface="Arial" pitchFamily="34" charset="0"/>
                <a:ea typeface="Arial" pitchFamily="34" charset="-122"/>
                <a:cs typeface="Arial" pitchFamily="34" charset="-120"/>
              </a:rPr>
              <a:t>Es una recomendación, no una suite implementada. </a:t>
            </a:r>
            <a:pPr algn="l" indent="0" marL="0">
              <a:lnSpc>
                <a:spcPts val="1920"/>
              </a:lnSpc>
              <a:buNone/>
            </a:pPr>
            <a:r>
              <a:rPr lang="en-US" sz="1600" dirty="0">
                <a:solidFill>
                  <a:srgbClr val="516673"/>
                </a:solidFill>
                <a:latin typeface="Arial" pitchFamily="34" charset="0"/>
                <a:ea typeface="Arial" pitchFamily="34" charset="-122"/>
                <a:cs typeface="Arial" pitchFamily="34" charset="-120"/>
              </a:rPr>
              <a:t>Automatizar un flujo nunca completado a mano da pruebas que fallan por el bloqueo conocido.</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2F6F8"/>
        </a:solidFill>
      </p:bgPr>
    </p:bg>
    <p:spTree>
      <p:nvGrpSpPr>
        <p:cNvPr id="1" name=""/>
        <p:cNvGrpSpPr/>
        <p:nvPr/>
      </p:nvGrpSpPr>
      <p:grpSpPr>
        <a:xfrm>
          <a:off x="0" y="0"/>
          <a:ext cx="0" cy="0"/>
          <a:chOff x="0" y="0"/>
          <a:chExt cx="0" cy="0"/>
        </a:xfrm>
      </p:grpSpPr>
      <p:sp>
        <p:nvSpPr>
          <p:cNvPr id="2" name="Shape 0"/>
          <p:cNvSpPr/>
          <p:nvPr/>
        </p:nvSpPr>
        <p:spPr>
          <a:xfrm>
            <a:off x="594360" y="457200"/>
            <a:ext cx="457200" cy="457200"/>
          </a:xfrm>
          <a:prstGeom prst="ellipse">
            <a:avLst/>
          </a:prstGeom>
          <a:solidFill>
            <a:srgbClr val="007C9F"/>
          </a:solidFill>
          <a:ln/>
        </p:spPr>
      </p:sp>
      <p:sp>
        <p:nvSpPr>
          <p:cNvPr id="3" name="Text 1"/>
          <p:cNvSpPr txBox="1"/>
          <p:nvPr/>
        </p:nvSpPr>
        <p:spPr>
          <a:xfrm>
            <a:off x="594360" y="457200"/>
            <a:ext cx="457200" cy="457200"/>
          </a:xfrm>
          <a:prstGeom prst="rect">
            <a:avLst/>
          </a:prstGeom>
          <a:noFill/>
          <a:ln/>
        </p:spPr>
        <p:txBody>
          <a:bodyPr wrap="square" lIns="0" tIns="0" rIns="0" bIns="0" rtlCol="0" anchor="ctr"/>
          <a:lstStyle/>
          <a:p>
            <a:pPr algn="ctr" indent="0" marL="0">
              <a:lnSpc>
                <a:spcPts val="1920"/>
              </a:lnSpc>
              <a:buNone/>
            </a:pPr>
            <a:r>
              <a:rPr lang="en-US" sz="1600" b="1" dirty="0">
                <a:solidFill>
                  <a:srgbClr val="FFFFFF"/>
                </a:solidFill>
                <a:latin typeface="Arial" pitchFamily="34" charset="0"/>
                <a:ea typeface="Arial" pitchFamily="34" charset="-122"/>
                <a:cs typeface="Arial" pitchFamily="34" charset="-120"/>
              </a:rPr>
              <a:t>15</a:t>
            </a:r>
            <a:endParaRPr lang="en-US" sz="1600" dirty="0"/>
          </a:p>
        </p:txBody>
      </p:sp>
      <p:sp>
        <p:nvSpPr>
          <p:cNvPr id="4" name="Text 2"/>
          <p:cNvSpPr txBox="1"/>
          <p:nvPr/>
        </p:nvSpPr>
        <p:spPr>
          <a:xfrm>
            <a:off x="1207008" y="429768"/>
            <a:ext cx="7726680" cy="530352"/>
          </a:xfrm>
          <a:prstGeom prst="rect">
            <a:avLst/>
          </a:prstGeom>
          <a:noFill/>
          <a:ln/>
        </p:spPr>
        <p:txBody>
          <a:bodyPr wrap="square" lIns="0" tIns="0" rIns="0" bIns="0" rtlCol="0" anchor="ctr"/>
          <a:lstStyle/>
          <a:p>
            <a:pPr algn="l" indent="0" marL="0">
              <a:lnSpc>
                <a:spcPts val="3360"/>
              </a:lnSpc>
              <a:buNone/>
            </a:pPr>
            <a:r>
              <a:rPr lang="en-US" sz="2800" b="1" dirty="0">
                <a:solidFill>
                  <a:srgbClr val="142D3D"/>
                </a:solidFill>
                <a:latin typeface="Arial" pitchFamily="34" charset="0"/>
                <a:ea typeface="Arial" pitchFamily="34" charset="-122"/>
                <a:cs typeface="Arial" pitchFamily="34" charset="-120"/>
              </a:rPr>
              <a:t>Condiciones para continuar</a:t>
            </a:r>
            <a:endParaRPr lang="en-US" sz="2800" dirty="0"/>
          </a:p>
        </p:txBody>
      </p:sp>
      <p:sp>
        <p:nvSpPr>
          <p:cNvPr id="5" name="Text 3"/>
          <p:cNvSpPr txBox="1"/>
          <p:nvPr/>
        </p:nvSpPr>
        <p:spPr>
          <a:xfrm>
            <a:off x="9006840" y="429768"/>
            <a:ext cx="2590495" cy="530352"/>
          </a:xfrm>
          <a:prstGeom prst="rect">
            <a:avLst/>
          </a:prstGeom>
          <a:noFill/>
          <a:ln/>
        </p:spPr>
        <p:txBody>
          <a:bodyPr wrap="square" lIns="0" tIns="0" rIns="0" bIns="0" rtlCol="0" anchor="ctr"/>
          <a:lstStyle/>
          <a:p>
            <a:pPr algn="r" indent="0" marL="0">
              <a:lnSpc>
                <a:spcPts val="1680"/>
              </a:lnSpc>
              <a:buNone/>
            </a:pPr>
            <a:r>
              <a:rPr lang="en-US" sz="1400" dirty="0">
                <a:solidFill>
                  <a:srgbClr val="516673"/>
                </a:solidFill>
                <a:latin typeface="Arial" pitchFamily="34" charset="0"/>
                <a:ea typeface="Arial" pitchFamily="34" charset="-122"/>
                <a:cs typeface="Arial" pitchFamily="34" charset="-120"/>
              </a:rPr>
              <a:t>Granit · 10:40–11:25</a:t>
            </a:r>
            <a:endParaRPr lang="en-US" sz="1400" dirty="0"/>
          </a:p>
        </p:txBody>
      </p:sp>
      <p:sp>
        <p:nvSpPr>
          <p:cNvPr id="6" name="Shape 4"/>
          <p:cNvSpPr/>
          <p:nvPr/>
        </p:nvSpPr>
        <p:spPr>
          <a:xfrm>
            <a:off x="594360" y="1664208"/>
            <a:ext cx="3520440" cy="2194560"/>
          </a:xfrm>
          <a:prstGeom prst="roundRect">
            <a:avLst>
              <a:gd name="adj" fmla="val 2500"/>
            </a:avLst>
          </a:prstGeom>
          <a:solidFill>
            <a:srgbClr val="FFFFFF"/>
          </a:solidFill>
          <a:ln w="9525">
            <a:solidFill>
              <a:srgbClr val="D3DEE4"/>
            </a:solidFill>
            <a:prstDash val="solid"/>
          </a:ln>
        </p:spPr>
      </p:sp>
      <p:sp>
        <p:nvSpPr>
          <p:cNvPr id="7" name="Text 5"/>
          <p:cNvSpPr txBox="1"/>
          <p:nvPr/>
        </p:nvSpPr>
        <p:spPr>
          <a:xfrm>
            <a:off x="850392" y="1810512"/>
            <a:ext cx="3008376" cy="512064"/>
          </a:xfrm>
          <a:prstGeom prst="rect">
            <a:avLst/>
          </a:prstGeom>
          <a:noFill/>
          <a:ln/>
        </p:spPr>
        <p:txBody>
          <a:bodyPr wrap="square" lIns="0" tIns="0" rIns="0" bIns="0" rtlCol="0" anchor="ctr"/>
          <a:lstStyle/>
          <a:p>
            <a:pPr algn="l" indent="0" marL="0">
              <a:lnSpc>
                <a:spcPts val="3600"/>
              </a:lnSpc>
              <a:buNone/>
            </a:pPr>
            <a:r>
              <a:rPr lang="en-US" sz="3000" b="1" dirty="0">
                <a:solidFill>
                  <a:srgbClr val="007C9F"/>
                </a:solidFill>
                <a:latin typeface="Arial" pitchFamily="34" charset="0"/>
                <a:ea typeface="Arial" pitchFamily="34" charset="-122"/>
                <a:cs typeface="Arial" pitchFamily="34" charset="-120"/>
              </a:rPr>
              <a:t>01</a:t>
            </a:r>
            <a:endParaRPr lang="en-US" sz="3000" dirty="0"/>
          </a:p>
        </p:txBody>
      </p:sp>
      <p:sp>
        <p:nvSpPr>
          <p:cNvPr id="8" name="Text 6"/>
          <p:cNvSpPr txBox="1"/>
          <p:nvPr/>
        </p:nvSpPr>
        <p:spPr>
          <a:xfrm>
            <a:off x="850392" y="2359152"/>
            <a:ext cx="3008376" cy="566928"/>
          </a:xfrm>
          <a:prstGeom prst="rect">
            <a:avLst/>
          </a:prstGeom>
          <a:noFill/>
          <a:ln/>
        </p:spPr>
        <p:txBody>
          <a:bodyPr wrap="square" lIns="0" tIns="0" rIns="0" bIns="0" rtlCol="0" anchor="t"/>
          <a:lstStyle/>
          <a:p>
            <a:pPr algn="l" indent="0" marL="0">
              <a:lnSpc>
                <a:spcPts val="2160"/>
              </a:lnSpc>
              <a:buNone/>
            </a:pPr>
            <a:r>
              <a:rPr lang="en-US" sz="1800" b="1" dirty="0">
                <a:solidFill>
                  <a:srgbClr val="142D3D"/>
                </a:solidFill>
                <a:latin typeface="Arial" pitchFamily="34" charset="0"/>
                <a:ea typeface="Arial" pitchFamily="34" charset="-122"/>
                <a:cs typeface="Arial" pitchFamily="34" charset="-120"/>
              </a:rPr>
              <a:t>Habilitar un ambiente controlado</a:t>
            </a:r>
            <a:endParaRPr lang="en-US" sz="1800" dirty="0"/>
          </a:p>
        </p:txBody>
      </p:sp>
      <p:sp>
        <p:nvSpPr>
          <p:cNvPr id="9" name="Text 7"/>
          <p:cNvSpPr txBox="1"/>
          <p:nvPr/>
        </p:nvSpPr>
        <p:spPr>
          <a:xfrm>
            <a:off x="850392" y="2999232"/>
            <a:ext cx="3008376" cy="1078992"/>
          </a:xfrm>
          <a:prstGeom prst="rect">
            <a:avLst/>
          </a:prstGeom>
          <a:noFill/>
          <a:ln/>
        </p:spPr>
        <p:txBody>
          <a:bodyPr wrap="square" lIns="0" tIns="0" rIns="0" bIns="0" rtlCol="0" anchor="t"/>
          <a:lstStyle/>
          <a:p>
            <a:pPr algn="l" indent="0" marL="0">
              <a:lnSpc>
                <a:spcPts val="1800"/>
              </a:lnSpc>
              <a:buNone/>
            </a:pPr>
            <a:r>
              <a:rPr lang="en-US" sz="1500" dirty="0">
                <a:solidFill>
                  <a:srgbClr val="516673"/>
                </a:solidFill>
                <a:latin typeface="Arial" pitchFamily="34" charset="0"/>
                <a:ea typeface="Arial" pitchFamily="34" charset="-122"/>
                <a:cs typeface="Arial" pitchFamily="34" charset="-120"/>
              </a:rPr>
              <a:t>Opciones completas · cupón vigente · pago de prueba · permisos · medición exportable</a:t>
            </a:r>
            <a:endParaRPr lang="en-US" sz="1500" dirty="0"/>
          </a:p>
        </p:txBody>
      </p:sp>
      <p:sp>
        <p:nvSpPr>
          <p:cNvPr id="10" name="Shape 8"/>
          <p:cNvSpPr/>
          <p:nvPr/>
        </p:nvSpPr>
        <p:spPr>
          <a:xfrm>
            <a:off x="4334256" y="1664208"/>
            <a:ext cx="3520440" cy="2194560"/>
          </a:xfrm>
          <a:prstGeom prst="roundRect">
            <a:avLst>
              <a:gd name="adj" fmla="val 2500"/>
            </a:avLst>
          </a:prstGeom>
          <a:solidFill>
            <a:srgbClr val="FFFFFF"/>
          </a:solidFill>
          <a:ln w="9525">
            <a:solidFill>
              <a:srgbClr val="D3DEE4"/>
            </a:solidFill>
            <a:prstDash val="solid"/>
          </a:ln>
        </p:spPr>
      </p:sp>
      <p:sp>
        <p:nvSpPr>
          <p:cNvPr id="11" name="Text 9"/>
          <p:cNvSpPr txBox="1"/>
          <p:nvPr/>
        </p:nvSpPr>
        <p:spPr>
          <a:xfrm>
            <a:off x="4590288" y="1810512"/>
            <a:ext cx="3008376" cy="512064"/>
          </a:xfrm>
          <a:prstGeom prst="rect">
            <a:avLst/>
          </a:prstGeom>
          <a:noFill/>
          <a:ln/>
        </p:spPr>
        <p:txBody>
          <a:bodyPr wrap="square" lIns="0" tIns="0" rIns="0" bIns="0" rtlCol="0" anchor="ctr"/>
          <a:lstStyle/>
          <a:p>
            <a:pPr algn="l" indent="0" marL="0">
              <a:lnSpc>
                <a:spcPts val="3600"/>
              </a:lnSpc>
              <a:buNone/>
            </a:pPr>
            <a:r>
              <a:rPr lang="en-US" sz="3000" b="1" dirty="0">
                <a:solidFill>
                  <a:srgbClr val="007C9F"/>
                </a:solidFill>
                <a:latin typeface="Arial" pitchFamily="34" charset="0"/>
                <a:ea typeface="Arial" pitchFamily="34" charset="-122"/>
                <a:cs typeface="Arial" pitchFamily="34" charset="-120"/>
              </a:rPr>
              <a:t>02</a:t>
            </a:r>
            <a:endParaRPr lang="en-US" sz="3000" dirty="0"/>
          </a:p>
        </p:txBody>
      </p:sp>
      <p:sp>
        <p:nvSpPr>
          <p:cNvPr id="12" name="Text 10"/>
          <p:cNvSpPr txBox="1"/>
          <p:nvPr/>
        </p:nvSpPr>
        <p:spPr>
          <a:xfrm>
            <a:off x="4590288" y="2359152"/>
            <a:ext cx="3008376" cy="566928"/>
          </a:xfrm>
          <a:prstGeom prst="rect">
            <a:avLst/>
          </a:prstGeom>
          <a:noFill/>
          <a:ln/>
        </p:spPr>
        <p:txBody>
          <a:bodyPr wrap="square" lIns="0" tIns="0" rIns="0" bIns="0" rtlCol="0" anchor="t"/>
          <a:lstStyle/>
          <a:p>
            <a:pPr algn="l" indent="0" marL="0">
              <a:lnSpc>
                <a:spcPts val="2160"/>
              </a:lnSpc>
              <a:buNone/>
            </a:pPr>
            <a:r>
              <a:rPr lang="en-US" sz="1800" b="1" dirty="0">
                <a:solidFill>
                  <a:srgbClr val="142D3D"/>
                </a:solidFill>
                <a:latin typeface="Arial" pitchFamily="34" charset="0"/>
                <a:ea typeface="Arial" pitchFamily="34" charset="-122"/>
                <a:cs typeface="Arial" pitchFamily="34" charset="-120"/>
              </a:rPr>
              <a:t>Reejecutar y repetir</a:t>
            </a:r>
            <a:endParaRPr lang="en-US" sz="1800" dirty="0"/>
          </a:p>
        </p:txBody>
      </p:sp>
      <p:sp>
        <p:nvSpPr>
          <p:cNvPr id="13" name="Text 11"/>
          <p:cNvSpPr txBox="1"/>
          <p:nvPr/>
        </p:nvSpPr>
        <p:spPr>
          <a:xfrm>
            <a:off x="4590288" y="2999232"/>
            <a:ext cx="3008376" cy="1078992"/>
          </a:xfrm>
          <a:prstGeom prst="rect">
            <a:avLst/>
          </a:prstGeom>
          <a:noFill/>
          <a:ln/>
        </p:spPr>
        <p:txBody>
          <a:bodyPr wrap="square" lIns="0" tIns="0" rIns="0" bIns="0" rtlCol="0" anchor="t"/>
          <a:lstStyle/>
          <a:p>
            <a:pPr algn="l" indent="0" marL="0">
              <a:lnSpc>
                <a:spcPts val="1800"/>
              </a:lnSpc>
              <a:buNone/>
            </a:pPr>
            <a:r>
              <a:rPr lang="en-US" sz="1500" dirty="0">
                <a:solidFill>
                  <a:srgbClr val="516673"/>
                </a:solidFill>
                <a:latin typeface="Arial" pitchFamily="34" charset="0"/>
                <a:ea typeface="Arial" pitchFamily="34" charset="-122"/>
                <a:cs typeface="Arial" pitchFamily="34" charset="-120"/>
              </a:rPr>
              <a:t>Los 9 bloqueados · los fallidos cuando haya corrección</a:t>
            </a:r>
            <a:endParaRPr lang="en-US" sz="1500" dirty="0"/>
          </a:p>
        </p:txBody>
      </p:sp>
      <p:sp>
        <p:nvSpPr>
          <p:cNvPr id="14" name="Shape 12"/>
          <p:cNvSpPr/>
          <p:nvPr/>
        </p:nvSpPr>
        <p:spPr>
          <a:xfrm>
            <a:off x="8074152" y="1664208"/>
            <a:ext cx="3520440" cy="2194560"/>
          </a:xfrm>
          <a:prstGeom prst="roundRect">
            <a:avLst>
              <a:gd name="adj" fmla="val 2500"/>
            </a:avLst>
          </a:prstGeom>
          <a:solidFill>
            <a:srgbClr val="FFFFFF"/>
          </a:solidFill>
          <a:ln w="9525">
            <a:solidFill>
              <a:srgbClr val="D3DEE4"/>
            </a:solidFill>
            <a:prstDash val="solid"/>
          </a:ln>
        </p:spPr>
      </p:sp>
      <p:sp>
        <p:nvSpPr>
          <p:cNvPr id="15" name="Text 13"/>
          <p:cNvSpPr txBox="1"/>
          <p:nvPr/>
        </p:nvSpPr>
        <p:spPr>
          <a:xfrm>
            <a:off x="8330184" y="1810512"/>
            <a:ext cx="3008376" cy="512064"/>
          </a:xfrm>
          <a:prstGeom prst="rect">
            <a:avLst/>
          </a:prstGeom>
          <a:noFill/>
          <a:ln/>
        </p:spPr>
        <p:txBody>
          <a:bodyPr wrap="square" lIns="0" tIns="0" rIns="0" bIns="0" rtlCol="0" anchor="ctr"/>
          <a:lstStyle/>
          <a:p>
            <a:pPr algn="l" indent="0" marL="0">
              <a:lnSpc>
                <a:spcPts val="3600"/>
              </a:lnSpc>
              <a:buNone/>
            </a:pPr>
            <a:r>
              <a:rPr lang="en-US" sz="3000" b="1" dirty="0">
                <a:solidFill>
                  <a:srgbClr val="007C9F"/>
                </a:solidFill>
                <a:latin typeface="Arial" pitchFamily="34" charset="0"/>
                <a:ea typeface="Arial" pitchFamily="34" charset="-122"/>
                <a:cs typeface="Arial" pitchFamily="34" charset="-120"/>
              </a:rPr>
              <a:t>03</a:t>
            </a:r>
            <a:endParaRPr lang="en-US" sz="3000" dirty="0"/>
          </a:p>
        </p:txBody>
      </p:sp>
      <p:sp>
        <p:nvSpPr>
          <p:cNvPr id="16" name="Text 14"/>
          <p:cNvSpPr txBox="1"/>
          <p:nvPr/>
        </p:nvSpPr>
        <p:spPr>
          <a:xfrm>
            <a:off x="8330184" y="2359152"/>
            <a:ext cx="3008376" cy="566928"/>
          </a:xfrm>
          <a:prstGeom prst="rect">
            <a:avLst/>
          </a:prstGeom>
          <a:noFill/>
          <a:ln/>
        </p:spPr>
        <p:txBody>
          <a:bodyPr wrap="square" lIns="0" tIns="0" rIns="0" bIns="0" rtlCol="0" anchor="t"/>
          <a:lstStyle/>
          <a:p>
            <a:pPr algn="l" indent="0" marL="0">
              <a:lnSpc>
                <a:spcPts val="2160"/>
              </a:lnSpc>
              <a:buNone/>
            </a:pPr>
            <a:r>
              <a:rPr lang="en-US" sz="1800" b="1" dirty="0">
                <a:solidFill>
                  <a:srgbClr val="142D3D"/>
                </a:solidFill>
                <a:latin typeface="Arial" pitchFamily="34" charset="0"/>
                <a:ea typeface="Arial" pitchFamily="34" charset="-122"/>
                <a:cs typeface="Arial" pitchFamily="34" charset="-120"/>
              </a:rPr>
              <a:t>Regresión y recálculo</a:t>
            </a:r>
            <a:endParaRPr lang="en-US" sz="1800" dirty="0"/>
          </a:p>
        </p:txBody>
      </p:sp>
      <p:sp>
        <p:nvSpPr>
          <p:cNvPr id="17" name="Text 15"/>
          <p:cNvSpPr txBox="1"/>
          <p:nvPr/>
        </p:nvSpPr>
        <p:spPr>
          <a:xfrm>
            <a:off x="8330184" y="2999232"/>
            <a:ext cx="3008376" cy="1078992"/>
          </a:xfrm>
          <a:prstGeom prst="rect">
            <a:avLst/>
          </a:prstGeom>
          <a:noFill/>
          <a:ln/>
        </p:spPr>
        <p:txBody>
          <a:bodyPr wrap="square" lIns="0" tIns="0" rIns="0" bIns="0" rtlCol="0" anchor="t"/>
          <a:lstStyle/>
          <a:p>
            <a:pPr algn="l" indent="0" marL="0">
              <a:lnSpc>
                <a:spcPts val="1800"/>
              </a:lnSpc>
              <a:buNone/>
            </a:pPr>
            <a:r>
              <a:rPr lang="en-US" sz="1500" dirty="0">
                <a:solidFill>
                  <a:srgbClr val="516673"/>
                </a:solidFill>
                <a:latin typeface="Arial" pitchFamily="34" charset="0"/>
                <a:ea typeface="Arial" pitchFamily="34" charset="-122"/>
                <a:cs typeface="Arial" pitchFamily="34" charset="-120"/>
              </a:rPr>
              <a:t>Carrito, checkout y pedidos · recalcular indicadores</a:t>
            </a:r>
            <a:endParaRPr lang="en-US" sz="1500" dirty="0"/>
          </a:p>
        </p:txBody>
      </p:sp>
      <p:sp>
        <p:nvSpPr>
          <p:cNvPr id="18" name="Shape 16"/>
          <p:cNvSpPr/>
          <p:nvPr/>
        </p:nvSpPr>
        <p:spPr>
          <a:xfrm>
            <a:off x="594360" y="4041648"/>
            <a:ext cx="11002975" cy="841248"/>
          </a:xfrm>
          <a:prstGeom prst="roundRect">
            <a:avLst>
              <a:gd name="adj" fmla="val 6522"/>
            </a:avLst>
          </a:prstGeom>
          <a:solidFill>
            <a:srgbClr val="E3EDF1"/>
          </a:solidFill>
          <a:ln/>
        </p:spPr>
      </p:sp>
      <p:sp>
        <p:nvSpPr>
          <p:cNvPr id="19" name="Shape 17"/>
          <p:cNvSpPr/>
          <p:nvPr/>
        </p:nvSpPr>
        <p:spPr>
          <a:xfrm>
            <a:off x="850392" y="4251960"/>
            <a:ext cx="3204305" cy="301752"/>
          </a:xfrm>
          <a:prstGeom prst="roundRect">
            <a:avLst>
              <a:gd name="adj" fmla="val 15152"/>
            </a:avLst>
          </a:prstGeom>
          <a:solidFill>
            <a:srgbClr val="007C9F"/>
          </a:solidFill>
          <a:ln/>
        </p:spPr>
      </p:sp>
      <p:sp>
        <p:nvSpPr>
          <p:cNvPr id="20" name="Text 18"/>
          <p:cNvSpPr txBox="1"/>
          <p:nvPr/>
        </p:nvSpPr>
        <p:spPr>
          <a:xfrm>
            <a:off x="850392" y="4251960"/>
            <a:ext cx="3204305" cy="301752"/>
          </a:xfrm>
          <a:prstGeom prst="rect">
            <a:avLst/>
          </a:prstGeom>
          <a:noFill/>
          <a:ln/>
        </p:spPr>
        <p:txBody>
          <a:bodyPr wrap="square" lIns="25400" tIns="0" rIns="25400" bIns="0" rtlCol="0" anchor="ctr"/>
          <a:lstStyle/>
          <a:p>
            <a:pPr algn="ctr" indent="0" marL="0">
              <a:lnSpc>
                <a:spcPts val="1680"/>
              </a:lnSpc>
              <a:buNone/>
            </a:pPr>
            <a:r>
              <a:rPr lang="en-US" sz="1400" b="1" dirty="0">
                <a:solidFill>
                  <a:srgbClr val="FFFFFF"/>
                </a:solidFill>
                <a:latin typeface="Arial" pitchFamily="34" charset="0"/>
                <a:ea typeface="Arial" pitchFamily="34" charset="-122"/>
                <a:cs typeface="Arial" pitchFamily="34" charset="-120"/>
              </a:rPr>
              <a:t>GESTIÓN DE LA CONFIGURACIÓN</a:t>
            </a:r>
            <a:endParaRPr lang="en-US" sz="1400" dirty="0"/>
          </a:p>
        </p:txBody>
      </p:sp>
      <p:sp>
        <p:nvSpPr>
          <p:cNvPr id="21" name="Text 19"/>
          <p:cNvSpPr txBox="1"/>
          <p:nvPr/>
        </p:nvSpPr>
        <p:spPr>
          <a:xfrm>
            <a:off x="4283297" y="4251960"/>
            <a:ext cx="7021430" cy="420624"/>
          </a:xfrm>
          <a:prstGeom prst="rect">
            <a:avLst/>
          </a:prstGeom>
          <a:noFill/>
          <a:ln/>
        </p:spPr>
        <p:txBody>
          <a:bodyPr wrap="square" lIns="0" tIns="0" rIns="0" bIns="0" rtlCol="0" anchor="ctr"/>
          <a:lstStyle/>
          <a:p>
            <a:pPr algn="l" indent="0" marL="0">
              <a:lnSpc>
                <a:spcPts val="2040"/>
              </a:lnSpc>
              <a:buNone/>
            </a:pPr>
            <a:r>
              <a:rPr lang="en-US" sz="1700" dirty="0">
                <a:solidFill>
                  <a:srgbClr val="142D3D"/>
                </a:solidFill>
                <a:latin typeface="Arial" pitchFamily="34" charset="0"/>
                <a:ea typeface="Arial" pitchFamily="34" charset="-122"/>
                <a:cs typeface="Arial" pitchFamily="34" charset="-120"/>
              </a:rPr>
              <a:t>Se conserva la evidencia anterior y se registra cada corrida del testware.</a:t>
            </a:r>
            <a:endParaRPr lang="en-US" sz="1700" dirty="0"/>
          </a:p>
        </p:txBody>
      </p:sp>
      <p:sp>
        <p:nvSpPr>
          <p:cNvPr id="22" name="Shape 20"/>
          <p:cNvSpPr/>
          <p:nvPr/>
        </p:nvSpPr>
        <p:spPr>
          <a:xfrm>
            <a:off x="594360" y="5047488"/>
            <a:ext cx="11002975" cy="749808"/>
          </a:xfrm>
          <a:prstGeom prst="roundRect">
            <a:avLst>
              <a:gd name="adj" fmla="val 7317"/>
            </a:avLst>
          </a:prstGeom>
          <a:solidFill>
            <a:srgbClr val="FFFFFF"/>
          </a:solidFill>
          <a:ln w="9525">
            <a:solidFill>
              <a:srgbClr val="D3DEE4"/>
            </a:solidFill>
            <a:prstDash val="solid"/>
          </a:ln>
        </p:spPr>
      </p:sp>
      <p:sp>
        <p:nvSpPr>
          <p:cNvPr id="23" name="Text 21"/>
          <p:cNvSpPr txBox="1"/>
          <p:nvPr/>
        </p:nvSpPr>
        <p:spPr>
          <a:xfrm>
            <a:off x="850392" y="5047488"/>
            <a:ext cx="10490911" cy="749808"/>
          </a:xfrm>
          <a:prstGeom prst="rect">
            <a:avLst/>
          </a:prstGeom>
          <a:noFill/>
          <a:ln/>
        </p:spPr>
        <p:txBody>
          <a:bodyPr wrap="square" lIns="0" tIns="0" rIns="0" bIns="0" rtlCol="0" anchor="ctr"/>
          <a:lstStyle/>
          <a:p>
            <a:pPr algn="l" indent="0" marL="0">
              <a:lnSpc>
                <a:spcPts val="2040"/>
              </a:lnSpc>
              <a:buNone/>
            </a:pPr>
            <a:r>
              <a:rPr lang="en-US" sz="1700" b="1" dirty="0">
                <a:solidFill>
                  <a:srgbClr val="142D3D"/>
                </a:solidFill>
                <a:latin typeface="Arial" pitchFamily="34" charset="0"/>
                <a:ea typeface="Arial" pitchFamily="34" charset="-122"/>
                <a:cs typeface="Arial" pitchFamily="34" charset="-120"/>
              </a:rPr>
              <a:t>Así un cambio en los datos del demo no se confunde con una corrección del sistema.</a:t>
            </a:r>
            <a:endParaRPr lang="en-US" sz="1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42D3D"/>
        </a:solidFill>
      </p:bgPr>
    </p:bg>
    <p:spTree>
      <p:nvGrpSpPr>
        <p:cNvPr id="1" name=""/>
        <p:cNvGrpSpPr/>
        <p:nvPr/>
      </p:nvGrpSpPr>
      <p:grpSpPr>
        <a:xfrm>
          <a:off x="0" y="0"/>
          <a:ext cx="0" cy="0"/>
          <a:chOff x="0" y="0"/>
          <a:chExt cx="0" cy="0"/>
        </a:xfrm>
      </p:grpSpPr>
      <p:sp>
        <p:nvSpPr>
          <p:cNvPr id="2" name="Shape 0"/>
          <p:cNvSpPr/>
          <p:nvPr/>
        </p:nvSpPr>
        <p:spPr>
          <a:xfrm>
            <a:off x="594360" y="457200"/>
            <a:ext cx="457200" cy="457200"/>
          </a:xfrm>
          <a:prstGeom prst="ellipse">
            <a:avLst/>
          </a:prstGeom>
          <a:solidFill>
            <a:srgbClr val="007C9F"/>
          </a:solidFill>
          <a:ln/>
        </p:spPr>
      </p:sp>
      <p:sp>
        <p:nvSpPr>
          <p:cNvPr id="3" name="Text 1"/>
          <p:cNvSpPr txBox="1"/>
          <p:nvPr/>
        </p:nvSpPr>
        <p:spPr>
          <a:xfrm>
            <a:off x="594360" y="457200"/>
            <a:ext cx="457200" cy="457200"/>
          </a:xfrm>
          <a:prstGeom prst="rect">
            <a:avLst/>
          </a:prstGeom>
          <a:noFill/>
          <a:ln/>
        </p:spPr>
        <p:txBody>
          <a:bodyPr wrap="square" lIns="0" tIns="0" rIns="0" bIns="0" rtlCol="0" anchor="ctr"/>
          <a:lstStyle/>
          <a:p>
            <a:pPr algn="ctr" indent="0" marL="0">
              <a:lnSpc>
                <a:spcPts val="1920"/>
              </a:lnSpc>
              <a:buNone/>
            </a:pPr>
            <a:r>
              <a:rPr lang="en-US" sz="1600" b="1" dirty="0">
                <a:solidFill>
                  <a:srgbClr val="FFFFFF"/>
                </a:solidFill>
                <a:latin typeface="Arial" pitchFamily="34" charset="0"/>
                <a:ea typeface="Arial" pitchFamily="34" charset="-122"/>
                <a:cs typeface="Arial" pitchFamily="34" charset="-120"/>
              </a:rPr>
              <a:t>16</a:t>
            </a:r>
            <a:endParaRPr lang="en-US" sz="1600" dirty="0"/>
          </a:p>
        </p:txBody>
      </p:sp>
      <p:sp>
        <p:nvSpPr>
          <p:cNvPr id="4" name="Text 2"/>
          <p:cNvSpPr txBox="1"/>
          <p:nvPr/>
        </p:nvSpPr>
        <p:spPr>
          <a:xfrm>
            <a:off x="1207008" y="429768"/>
            <a:ext cx="7726680" cy="530352"/>
          </a:xfrm>
          <a:prstGeom prst="rect">
            <a:avLst/>
          </a:prstGeom>
          <a:noFill/>
          <a:ln/>
        </p:spPr>
        <p:txBody>
          <a:bodyPr wrap="square" lIns="0" tIns="0" rIns="0" bIns="0" rtlCol="0" anchor="ctr"/>
          <a:lstStyle/>
          <a:p>
            <a:pPr algn="l" indent="0" marL="0">
              <a:lnSpc>
                <a:spcPts val="3360"/>
              </a:lnSpc>
              <a:buNone/>
            </a:pPr>
            <a:r>
              <a:rPr lang="en-US" sz="2800" b="1" dirty="0">
                <a:solidFill>
                  <a:srgbClr val="FFFFFF"/>
                </a:solidFill>
                <a:latin typeface="Arial" pitchFamily="34" charset="0"/>
                <a:ea typeface="Arial" pitchFamily="34" charset="-122"/>
                <a:cs typeface="Arial" pitchFamily="34" charset="-120"/>
              </a:rPr>
              <a:t>Conclusión</a:t>
            </a:r>
            <a:endParaRPr lang="en-US" sz="2800" dirty="0"/>
          </a:p>
        </p:txBody>
      </p:sp>
      <p:sp>
        <p:nvSpPr>
          <p:cNvPr id="5" name="Text 3"/>
          <p:cNvSpPr txBox="1"/>
          <p:nvPr/>
        </p:nvSpPr>
        <p:spPr>
          <a:xfrm>
            <a:off x="9006840" y="429768"/>
            <a:ext cx="2590495" cy="530352"/>
          </a:xfrm>
          <a:prstGeom prst="rect">
            <a:avLst/>
          </a:prstGeom>
          <a:noFill/>
          <a:ln/>
        </p:spPr>
        <p:txBody>
          <a:bodyPr wrap="square" lIns="0" tIns="0" rIns="0" bIns="0" rtlCol="0" anchor="ctr"/>
          <a:lstStyle/>
          <a:p>
            <a:pPr algn="r" indent="0" marL="0">
              <a:lnSpc>
                <a:spcPts val="1680"/>
              </a:lnSpc>
              <a:buNone/>
            </a:pPr>
            <a:r>
              <a:rPr lang="en-US" sz="1400" dirty="0">
                <a:solidFill>
                  <a:srgbClr val="AEC2CD"/>
                </a:solidFill>
                <a:latin typeface="Arial" pitchFamily="34" charset="0"/>
                <a:ea typeface="Arial" pitchFamily="34" charset="-122"/>
                <a:cs typeface="Arial" pitchFamily="34" charset="-120"/>
              </a:rPr>
              <a:t>Granit · 11:25–12:00</a:t>
            </a:r>
            <a:endParaRPr lang="en-US" sz="1400" dirty="0"/>
          </a:p>
        </p:txBody>
      </p:sp>
      <p:sp>
        <p:nvSpPr>
          <p:cNvPr id="6" name="Shape 4"/>
          <p:cNvSpPr/>
          <p:nvPr/>
        </p:nvSpPr>
        <p:spPr>
          <a:xfrm>
            <a:off x="594360" y="1664208"/>
            <a:ext cx="3520440" cy="1417320"/>
          </a:xfrm>
          <a:prstGeom prst="roundRect">
            <a:avLst>
              <a:gd name="adj" fmla="val 3871"/>
            </a:avLst>
          </a:prstGeom>
          <a:solidFill>
            <a:srgbClr val="1E3F52"/>
          </a:solidFill>
          <a:ln/>
        </p:spPr>
      </p:sp>
      <p:sp>
        <p:nvSpPr>
          <p:cNvPr id="7" name="Text 5"/>
          <p:cNvSpPr txBox="1"/>
          <p:nvPr/>
        </p:nvSpPr>
        <p:spPr>
          <a:xfrm>
            <a:off x="850392" y="1792224"/>
            <a:ext cx="3008376" cy="566928"/>
          </a:xfrm>
          <a:prstGeom prst="rect">
            <a:avLst/>
          </a:prstGeom>
          <a:noFill/>
          <a:ln/>
        </p:spPr>
        <p:txBody>
          <a:bodyPr wrap="square" lIns="0" tIns="0" rIns="0" bIns="0" rtlCol="0" anchor="ctr"/>
          <a:lstStyle/>
          <a:p>
            <a:pPr algn="l" indent="0" marL="0">
              <a:lnSpc>
                <a:spcPts val="3840"/>
              </a:lnSpc>
              <a:buNone/>
            </a:pPr>
            <a:r>
              <a:rPr lang="en-US" sz="3200" b="1" dirty="0">
                <a:solidFill>
                  <a:srgbClr val="5FB4CE"/>
                </a:solidFill>
                <a:latin typeface="Arial" pitchFamily="34" charset="0"/>
                <a:ea typeface="Arial" pitchFamily="34" charset="-122"/>
                <a:cs typeface="Arial" pitchFamily="34" charset="-120"/>
              </a:rPr>
              <a:t>18</a:t>
            </a:r>
            <a:endParaRPr lang="en-US" sz="3200" dirty="0"/>
          </a:p>
        </p:txBody>
      </p:sp>
      <p:sp>
        <p:nvSpPr>
          <p:cNvPr id="8" name="Text 6"/>
          <p:cNvSpPr txBox="1"/>
          <p:nvPr/>
        </p:nvSpPr>
        <p:spPr>
          <a:xfrm>
            <a:off x="850392" y="2395728"/>
            <a:ext cx="3008376" cy="566928"/>
          </a:xfrm>
          <a:prstGeom prst="rect">
            <a:avLst/>
          </a:prstGeom>
          <a:noFill/>
          <a:ln/>
        </p:spPr>
        <p:txBody>
          <a:bodyPr wrap="square" lIns="0" tIns="0" rIns="0" bIns="0" rtlCol="0" anchor="t"/>
          <a:lstStyle/>
          <a:p>
            <a:pPr algn="l" indent="0" marL="0">
              <a:lnSpc>
                <a:spcPts val="1800"/>
              </a:lnSpc>
              <a:buNone/>
            </a:pPr>
            <a:r>
              <a:rPr lang="en-US" sz="1500" dirty="0">
                <a:solidFill>
                  <a:srgbClr val="C7D6DE"/>
                </a:solidFill>
                <a:latin typeface="Arial" pitchFamily="34" charset="0"/>
                <a:ea typeface="Arial" pitchFamily="34" charset="-122"/>
                <a:cs typeface="Arial" pitchFamily="34" charset="-120"/>
              </a:rPr>
              <a:t>casos diseñados, todos trazables</a:t>
            </a:r>
            <a:endParaRPr lang="en-US" sz="1500" dirty="0"/>
          </a:p>
        </p:txBody>
      </p:sp>
      <p:sp>
        <p:nvSpPr>
          <p:cNvPr id="9" name="Shape 7"/>
          <p:cNvSpPr/>
          <p:nvPr/>
        </p:nvSpPr>
        <p:spPr>
          <a:xfrm>
            <a:off x="4334256" y="1664208"/>
            <a:ext cx="3520440" cy="1417320"/>
          </a:xfrm>
          <a:prstGeom prst="roundRect">
            <a:avLst>
              <a:gd name="adj" fmla="val 3871"/>
            </a:avLst>
          </a:prstGeom>
          <a:solidFill>
            <a:srgbClr val="1E3F52"/>
          </a:solidFill>
          <a:ln/>
        </p:spPr>
      </p:sp>
      <p:sp>
        <p:nvSpPr>
          <p:cNvPr id="10" name="Text 8"/>
          <p:cNvSpPr txBox="1"/>
          <p:nvPr/>
        </p:nvSpPr>
        <p:spPr>
          <a:xfrm>
            <a:off x="4590288" y="1792224"/>
            <a:ext cx="3008376" cy="566928"/>
          </a:xfrm>
          <a:prstGeom prst="rect">
            <a:avLst/>
          </a:prstGeom>
          <a:noFill/>
          <a:ln/>
        </p:spPr>
        <p:txBody>
          <a:bodyPr wrap="square" lIns="0" tIns="0" rIns="0" bIns="0" rtlCol="0" anchor="ctr"/>
          <a:lstStyle/>
          <a:p>
            <a:pPr algn="l" indent="0" marL="0">
              <a:lnSpc>
                <a:spcPts val="3840"/>
              </a:lnSpc>
              <a:buNone/>
            </a:pPr>
            <a:r>
              <a:rPr lang="en-US" sz="3200" b="1" dirty="0">
                <a:solidFill>
                  <a:srgbClr val="5FB4CE"/>
                </a:solidFill>
                <a:latin typeface="Arial" pitchFamily="34" charset="0"/>
                <a:ea typeface="Arial" pitchFamily="34" charset="-122"/>
                <a:cs typeface="Arial" pitchFamily="34" charset="-120"/>
              </a:rPr>
              <a:t>9 de 14</a:t>
            </a:r>
            <a:endParaRPr lang="en-US" sz="3200" dirty="0"/>
          </a:p>
        </p:txBody>
      </p:sp>
      <p:sp>
        <p:nvSpPr>
          <p:cNvPr id="11" name="Text 9"/>
          <p:cNvSpPr txBox="1"/>
          <p:nvPr/>
        </p:nvSpPr>
        <p:spPr>
          <a:xfrm>
            <a:off x="4590288" y="2395728"/>
            <a:ext cx="3008376" cy="566928"/>
          </a:xfrm>
          <a:prstGeom prst="rect">
            <a:avLst/>
          </a:prstGeom>
          <a:noFill/>
          <a:ln/>
        </p:spPr>
        <p:txBody>
          <a:bodyPr wrap="square" lIns="0" tIns="0" rIns="0" bIns="0" rtlCol="0" anchor="t"/>
          <a:lstStyle/>
          <a:p>
            <a:pPr algn="l" indent="0" marL="0">
              <a:lnSpc>
                <a:spcPts val="1800"/>
              </a:lnSpc>
              <a:buNone/>
            </a:pPr>
            <a:r>
              <a:rPr lang="en-US" sz="1500" dirty="0">
                <a:solidFill>
                  <a:srgbClr val="C7D6DE"/>
                </a:solidFill>
                <a:latin typeface="Arial" pitchFamily="34" charset="0"/>
                <a:ea typeface="Arial" pitchFamily="34" charset="-122"/>
                <a:cs typeface="Arial" pitchFamily="34" charset="-120"/>
              </a:rPr>
              <a:t>casos Alta Bloqueados, con causa registrada</a:t>
            </a:r>
            <a:endParaRPr lang="en-US" sz="1500" dirty="0"/>
          </a:p>
        </p:txBody>
      </p:sp>
      <p:sp>
        <p:nvSpPr>
          <p:cNvPr id="12" name="Shape 10"/>
          <p:cNvSpPr/>
          <p:nvPr/>
        </p:nvSpPr>
        <p:spPr>
          <a:xfrm>
            <a:off x="8074152" y="1664208"/>
            <a:ext cx="3520440" cy="1417320"/>
          </a:xfrm>
          <a:prstGeom prst="roundRect">
            <a:avLst>
              <a:gd name="adj" fmla="val 3871"/>
            </a:avLst>
          </a:prstGeom>
          <a:solidFill>
            <a:srgbClr val="1E3F52"/>
          </a:solidFill>
          <a:ln/>
        </p:spPr>
      </p:sp>
      <p:sp>
        <p:nvSpPr>
          <p:cNvPr id="13" name="Text 11"/>
          <p:cNvSpPr txBox="1"/>
          <p:nvPr/>
        </p:nvSpPr>
        <p:spPr>
          <a:xfrm>
            <a:off x="8330184" y="1792224"/>
            <a:ext cx="3008376" cy="566928"/>
          </a:xfrm>
          <a:prstGeom prst="rect">
            <a:avLst/>
          </a:prstGeom>
          <a:noFill/>
          <a:ln/>
        </p:spPr>
        <p:txBody>
          <a:bodyPr wrap="square" lIns="0" tIns="0" rIns="0" bIns="0" rtlCol="0" anchor="ctr"/>
          <a:lstStyle/>
          <a:p>
            <a:pPr algn="l" indent="0" marL="0">
              <a:lnSpc>
                <a:spcPts val="3840"/>
              </a:lnSpc>
              <a:buNone/>
            </a:pPr>
            <a:r>
              <a:rPr lang="en-US" sz="3200" b="1" dirty="0">
                <a:solidFill>
                  <a:srgbClr val="5FB4CE"/>
                </a:solidFill>
                <a:latin typeface="Arial" pitchFamily="34" charset="0"/>
                <a:ea typeface="Arial" pitchFamily="34" charset="-122"/>
                <a:cs typeface="Arial" pitchFamily="34" charset="-120"/>
              </a:rPr>
              <a:t>2</a:t>
            </a:r>
            <a:endParaRPr lang="en-US" sz="3200" dirty="0"/>
          </a:p>
        </p:txBody>
      </p:sp>
      <p:sp>
        <p:nvSpPr>
          <p:cNvPr id="14" name="Text 12"/>
          <p:cNvSpPr txBox="1"/>
          <p:nvPr/>
        </p:nvSpPr>
        <p:spPr>
          <a:xfrm>
            <a:off x="8330184" y="2395728"/>
            <a:ext cx="3008376" cy="566928"/>
          </a:xfrm>
          <a:prstGeom prst="rect">
            <a:avLst/>
          </a:prstGeom>
          <a:noFill/>
          <a:ln/>
        </p:spPr>
        <p:txBody>
          <a:bodyPr wrap="square" lIns="0" tIns="0" rIns="0" bIns="0" rtlCol="0" anchor="t"/>
          <a:lstStyle/>
          <a:p>
            <a:pPr algn="l" indent="0" marL="0">
              <a:lnSpc>
                <a:spcPts val="1800"/>
              </a:lnSpc>
              <a:buNone/>
            </a:pPr>
            <a:r>
              <a:rPr lang="en-US" sz="1500" dirty="0">
                <a:solidFill>
                  <a:srgbClr val="C7D6DE"/>
                </a:solidFill>
                <a:latin typeface="Arial" pitchFamily="34" charset="0"/>
                <a:ea typeface="Arial" pitchFamily="34" charset="-122"/>
                <a:cs typeface="Arial" pitchFamily="34" charset="-120"/>
              </a:rPr>
              <a:t>defectos abiertos: DEF-01 y DEF-04</a:t>
            </a:r>
            <a:endParaRPr lang="en-US" sz="1500" dirty="0"/>
          </a:p>
        </p:txBody>
      </p:sp>
      <p:sp>
        <p:nvSpPr>
          <p:cNvPr id="15" name="Shape 13"/>
          <p:cNvSpPr/>
          <p:nvPr/>
        </p:nvSpPr>
        <p:spPr>
          <a:xfrm>
            <a:off x="594360" y="3364992"/>
            <a:ext cx="4343733" cy="301752"/>
          </a:xfrm>
          <a:prstGeom prst="roundRect">
            <a:avLst>
              <a:gd name="adj" fmla="val 15152"/>
            </a:avLst>
          </a:prstGeom>
          <a:solidFill>
            <a:srgbClr val="007C9F"/>
          </a:solidFill>
          <a:ln/>
        </p:spPr>
      </p:sp>
      <p:sp>
        <p:nvSpPr>
          <p:cNvPr id="16" name="Text 14"/>
          <p:cNvSpPr txBox="1"/>
          <p:nvPr/>
        </p:nvSpPr>
        <p:spPr>
          <a:xfrm>
            <a:off x="594360" y="3364992"/>
            <a:ext cx="4343733" cy="301752"/>
          </a:xfrm>
          <a:prstGeom prst="rect">
            <a:avLst/>
          </a:prstGeom>
          <a:noFill/>
          <a:ln/>
        </p:spPr>
        <p:txBody>
          <a:bodyPr wrap="square" lIns="25400" tIns="0" rIns="25400" bIns="0" rtlCol="0" anchor="ctr"/>
          <a:lstStyle/>
          <a:p>
            <a:pPr algn="ctr" indent="0" marL="0">
              <a:lnSpc>
                <a:spcPts val="1680"/>
              </a:lnSpc>
              <a:buNone/>
            </a:pPr>
            <a:r>
              <a:rPr lang="en-US" sz="1400" b="1" dirty="0">
                <a:solidFill>
                  <a:srgbClr val="FFFFFF"/>
                </a:solidFill>
                <a:latin typeface="Arial" pitchFamily="34" charset="0"/>
                <a:ea typeface="Arial" pitchFamily="34" charset="-122"/>
                <a:cs typeface="Arial" pitchFamily="34" charset="-120"/>
              </a:rPr>
              <a:t>ESTADO FRENTE A LOS CRITERIOS DE SALIDA</a:t>
            </a:r>
            <a:endParaRPr lang="en-US" sz="1400" dirty="0"/>
          </a:p>
        </p:txBody>
      </p:sp>
      <p:sp>
        <p:nvSpPr>
          <p:cNvPr id="17" name="Text 15"/>
          <p:cNvSpPr txBox="1"/>
          <p:nvPr/>
        </p:nvSpPr>
        <p:spPr>
          <a:xfrm>
            <a:off x="594360" y="3822192"/>
            <a:ext cx="11002975" cy="1188720"/>
          </a:xfrm>
          <a:prstGeom prst="rect">
            <a:avLst/>
          </a:prstGeom>
          <a:noFill/>
          <a:ln/>
        </p:spPr>
        <p:txBody>
          <a:bodyPr wrap="square" lIns="0" tIns="0" rIns="0" bIns="0" rtlCol="0" anchor="t"/>
          <a:lstStyle/>
          <a:p>
            <a:pPr algn="l" indent="0" marL="0">
              <a:lnSpc>
                <a:spcPts val="3600"/>
              </a:lnSpc>
              <a:buNone/>
            </a:pPr>
            <a:r>
              <a:rPr lang="en-US" sz="3000" b="1" dirty="0">
                <a:solidFill>
                  <a:srgbClr val="FFFFFF"/>
                </a:solidFill>
                <a:latin typeface="Arial" pitchFamily="34" charset="0"/>
                <a:ea typeface="Arial" pitchFamily="34" charset="-122"/>
                <a:cs typeface="Arial" pitchFamily="34" charset="-120"/>
              </a:rPr>
              <a:t>Los resultados no son suficientes para recomendar el sistema para producción.</a:t>
            </a:r>
            <a:endParaRPr lang="en-US" sz="3000" dirty="0"/>
          </a:p>
        </p:txBody>
      </p:sp>
      <p:sp>
        <p:nvSpPr>
          <p:cNvPr id="18" name="Text 16"/>
          <p:cNvSpPr txBox="1"/>
          <p:nvPr/>
        </p:nvSpPr>
        <p:spPr>
          <a:xfrm>
            <a:off x="594360" y="5138928"/>
            <a:ext cx="11002975" cy="402336"/>
          </a:xfrm>
          <a:prstGeom prst="rect">
            <a:avLst/>
          </a:prstGeom>
          <a:noFill/>
          <a:ln/>
        </p:spPr>
        <p:txBody>
          <a:bodyPr wrap="square" lIns="0" tIns="0" rIns="0" bIns="0" rtlCol="0" anchor="ctr"/>
          <a:lstStyle/>
          <a:p>
            <a:pPr algn="l" indent="0" marL="0">
              <a:lnSpc>
                <a:spcPts val="2040"/>
              </a:lnSpc>
              <a:buNone/>
            </a:pPr>
            <a:r>
              <a:rPr lang="en-US" sz="1700" dirty="0">
                <a:solidFill>
                  <a:srgbClr val="C7D6DE"/>
                </a:solidFill>
                <a:latin typeface="Arial" pitchFamily="34" charset="0"/>
                <a:ea typeface="Arial" pitchFamily="34" charset="-122"/>
                <a:cs typeface="Arial" pitchFamily="34" charset="-120"/>
              </a:rPr>
              <a:t>El informe deja registrado qué volver a probar y bajo qué condiciones.</a:t>
            </a:r>
            <a:endParaRPr lang="en-US" sz="1700" dirty="0"/>
          </a:p>
        </p:txBody>
      </p:sp>
      <p:sp>
        <p:nvSpPr>
          <p:cNvPr id="19" name="Text 17"/>
          <p:cNvSpPr txBox="1"/>
          <p:nvPr/>
        </p:nvSpPr>
        <p:spPr>
          <a:xfrm>
            <a:off x="594360" y="5623560"/>
            <a:ext cx="11002975" cy="402336"/>
          </a:xfrm>
          <a:prstGeom prst="rect">
            <a:avLst/>
          </a:prstGeom>
          <a:noFill/>
          <a:ln/>
        </p:spPr>
        <p:txBody>
          <a:bodyPr wrap="square" lIns="0" tIns="0" rIns="0" bIns="0" rtlCol="0" anchor="ctr"/>
          <a:lstStyle/>
          <a:p>
            <a:pPr algn="l" indent="0" marL="0">
              <a:lnSpc>
                <a:spcPts val="2040"/>
              </a:lnSpc>
              <a:buNone/>
            </a:pPr>
            <a:r>
              <a:rPr lang="en-US" sz="1700" dirty="0">
                <a:solidFill>
                  <a:srgbClr val="AEC2CD"/>
                </a:solidFill>
                <a:latin typeface="Arial" pitchFamily="34" charset="0"/>
                <a:ea typeface="Arial" pitchFamily="34" charset="-122"/>
                <a:cs typeface="Arial" pitchFamily="34" charset="-120"/>
              </a:rPr>
              <a:t>El ambiente donde se prueba es parte del trabajo, no un supuesto.</a:t>
            </a:r>
            <a:endParaRPr lang="en-US" sz="1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42D3D"/>
        </a:solidFill>
      </p:bgPr>
    </p:bg>
    <p:spTree>
      <p:nvGrpSpPr>
        <p:cNvPr id="1" name=""/>
        <p:cNvGrpSpPr/>
        <p:nvPr/>
      </p:nvGrpSpPr>
      <p:grpSpPr>
        <a:xfrm>
          <a:off x="0" y="0"/>
          <a:ext cx="0" cy="0"/>
          <a:chOff x="0" y="0"/>
          <a:chExt cx="0" cy="0"/>
        </a:xfrm>
      </p:grpSpPr>
      <p:sp>
        <p:nvSpPr>
          <p:cNvPr id="2" name="Shape 0"/>
          <p:cNvSpPr/>
          <p:nvPr/>
        </p:nvSpPr>
        <p:spPr>
          <a:xfrm>
            <a:off x="822960" y="1783080"/>
            <a:ext cx="1069991" cy="301752"/>
          </a:xfrm>
          <a:prstGeom prst="roundRect">
            <a:avLst>
              <a:gd name="adj" fmla="val 15152"/>
            </a:avLst>
          </a:prstGeom>
          <a:solidFill>
            <a:srgbClr val="007C9F"/>
          </a:solidFill>
          <a:ln/>
        </p:spPr>
      </p:sp>
      <p:sp>
        <p:nvSpPr>
          <p:cNvPr id="3" name="Text 1"/>
          <p:cNvSpPr txBox="1"/>
          <p:nvPr/>
        </p:nvSpPr>
        <p:spPr>
          <a:xfrm>
            <a:off x="822960" y="1783080"/>
            <a:ext cx="1069991" cy="301752"/>
          </a:xfrm>
          <a:prstGeom prst="rect">
            <a:avLst/>
          </a:prstGeom>
          <a:noFill/>
          <a:ln/>
        </p:spPr>
        <p:txBody>
          <a:bodyPr wrap="square" lIns="25400" tIns="0" rIns="25400" bIns="0" rtlCol="0" anchor="ctr"/>
          <a:lstStyle/>
          <a:p>
            <a:pPr algn="ctr" indent="0" marL="0">
              <a:lnSpc>
                <a:spcPts val="1680"/>
              </a:lnSpc>
              <a:buNone/>
            </a:pPr>
            <a:r>
              <a:rPr lang="en-US" sz="1400" b="1" dirty="0">
                <a:solidFill>
                  <a:srgbClr val="FFFFFF"/>
                </a:solidFill>
                <a:latin typeface="Arial" pitchFamily="34" charset="0"/>
                <a:ea typeface="Arial" pitchFamily="34" charset="-122"/>
                <a:cs typeface="Arial" pitchFamily="34" charset="-120"/>
              </a:rPr>
              <a:t>GRUPO 5</a:t>
            </a:r>
            <a:endParaRPr lang="en-US" sz="1400" dirty="0"/>
          </a:p>
        </p:txBody>
      </p:sp>
      <p:sp>
        <p:nvSpPr>
          <p:cNvPr id="4" name="Text 2"/>
          <p:cNvSpPr txBox="1"/>
          <p:nvPr/>
        </p:nvSpPr>
        <p:spPr>
          <a:xfrm>
            <a:off x="822960" y="2267712"/>
            <a:ext cx="10515600" cy="1051560"/>
          </a:xfrm>
          <a:prstGeom prst="rect">
            <a:avLst/>
          </a:prstGeom>
          <a:noFill/>
          <a:ln/>
        </p:spPr>
        <p:txBody>
          <a:bodyPr wrap="square" lIns="0" tIns="0" rIns="0" bIns="0" rtlCol="0" anchor="ctr"/>
          <a:lstStyle/>
          <a:p>
            <a:pPr algn="l" indent="0" marL="0">
              <a:lnSpc>
                <a:spcPts val="6240"/>
              </a:lnSpc>
              <a:buNone/>
            </a:pPr>
            <a:r>
              <a:rPr lang="en-US" sz="5200" b="1" dirty="0">
                <a:solidFill>
                  <a:srgbClr val="FFFFFF"/>
                </a:solidFill>
                <a:latin typeface="Arial" pitchFamily="34" charset="0"/>
                <a:ea typeface="Arial" pitchFamily="34" charset="-122"/>
                <a:cs typeface="Arial" pitchFamily="34" charset="-120"/>
              </a:rPr>
              <a:t>Preguntas</a:t>
            </a:r>
            <a:endParaRPr lang="en-US" sz="5200" dirty="0"/>
          </a:p>
        </p:txBody>
      </p:sp>
      <p:sp>
        <p:nvSpPr>
          <p:cNvPr id="5" name="Text 3"/>
          <p:cNvSpPr txBox="1"/>
          <p:nvPr/>
        </p:nvSpPr>
        <p:spPr>
          <a:xfrm>
            <a:off x="822960" y="3401568"/>
            <a:ext cx="10515600" cy="411480"/>
          </a:xfrm>
          <a:prstGeom prst="rect">
            <a:avLst/>
          </a:prstGeom>
          <a:noFill/>
          <a:ln/>
        </p:spPr>
        <p:txBody>
          <a:bodyPr wrap="square" lIns="0" tIns="0" rIns="0" bIns="0" rtlCol="0" anchor="ctr"/>
          <a:lstStyle/>
          <a:p>
            <a:pPr algn="l" indent="0" marL="0">
              <a:lnSpc>
                <a:spcPts val="2400"/>
              </a:lnSpc>
              <a:buNone/>
            </a:pPr>
            <a:r>
              <a:rPr lang="en-US" sz="2000" dirty="0">
                <a:solidFill>
                  <a:srgbClr val="C7D6DE"/>
                </a:solidFill>
                <a:latin typeface="Arial" pitchFamily="34" charset="0"/>
                <a:ea typeface="Arial" pitchFamily="34" charset="-122"/>
                <a:cs typeface="Arial" pitchFamily="34" charset="-120"/>
              </a:rPr>
              <a:t>Franco Roque Castillo · Granit Espinoza Salazar</a:t>
            </a:r>
            <a:endParaRPr lang="en-US" sz="2000" dirty="0"/>
          </a:p>
        </p:txBody>
      </p:sp>
      <p:sp>
        <p:nvSpPr>
          <p:cNvPr id="6" name="Shape 4"/>
          <p:cNvSpPr/>
          <p:nvPr/>
        </p:nvSpPr>
        <p:spPr>
          <a:xfrm>
            <a:off x="822960" y="4251960"/>
            <a:ext cx="2579703" cy="475488"/>
          </a:xfrm>
          <a:prstGeom prst="roundRect">
            <a:avLst>
              <a:gd name="adj" fmla="val 11538"/>
            </a:avLst>
          </a:prstGeom>
          <a:ln w="12700">
            <a:solidFill>
              <a:srgbClr val="5FB4CE"/>
            </a:solidFill>
            <a:prstDash val="solid"/>
          </a:ln>
        </p:spPr>
      </p:sp>
      <p:sp>
        <p:nvSpPr>
          <p:cNvPr id="7" name="Text 5"/>
          <p:cNvSpPr txBox="1"/>
          <p:nvPr/>
        </p:nvSpPr>
        <p:spPr>
          <a:xfrm>
            <a:off x="822960" y="4251960"/>
            <a:ext cx="2579703" cy="475488"/>
          </a:xfrm>
          <a:prstGeom prst="rect">
            <a:avLst/>
          </a:prstGeom>
          <a:noFill/>
          <a:ln/>
        </p:spPr>
        <p:txBody>
          <a:bodyPr wrap="square" lIns="0" tIns="0" rIns="0" bIns="0" rtlCol="0" anchor="ctr"/>
          <a:lstStyle/>
          <a:p>
            <a:pPr algn="ctr" indent="0" marL="0">
              <a:lnSpc>
                <a:spcPts val="1920"/>
              </a:lnSpc>
              <a:buNone/>
            </a:pPr>
            <a:r>
              <a:rPr lang="en-US" sz="1600" b="1" dirty="0">
                <a:solidFill>
                  <a:srgbClr val="5FB4CE"/>
                </a:solidFill>
                <a:latin typeface="Arial" pitchFamily="34" charset="0"/>
                <a:ea typeface="Arial" pitchFamily="34" charset="-122"/>
                <a:cs typeface="Arial" pitchFamily="34" charset="-120"/>
              </a:rPr>
              <a:t>Contra qué medimos</a:t>
            </a:r>
            <a:endParaRPr lang="en-US" sz="1600" dirty="0"/>
          </a:p>
        </p:txBody>
      </p:sp>
      <p:sp>
        <p:nvSpPr>
          <p:cNvPr id="8" name="Shape 6"/>
          <p:cNvSpPr/>
          <p:nvPr/>
        </p:nvSpPr>
        <p:spPr>
          <a:xfrm>
            <a:off x="3603831" y="4251960"/>
            <a:ext cx="2284857" cy="475488"/>
          </a:xfrm>
          <a:prstGeom prst="roundRect">
            <a:avLst>
              <a:gd name="adj" fmla="val 11538"/>
            </a:avLst>
          </a:prstGeom>
          <a:ln w="12700">
            <a:solidFill>
              <a:srgbClr val="5FB4CE"/>
            </a:solidFill>
            <a:prstDash val="solid"/>
          </a:ln>
        </p:spPr>
      </p:sp>
      <p:sp>
        <p:nvSpPr>
          <p:cNvPr id="9" name="Text 7"/>
          <p:cNvSpPr txBox="1"/>
          <p:nvPr/>
        </p:nvSpPr>
        <p:spPr>
          <a:xfrm>
            <a:off x="3603831" y="4251960"/>
            <a:ext cx="2284857" cy="475488"/>
          </a:xfrm>
          <a:prstGeom prst="rect">
            <a:avLst/>
          </a:prstGeom>
          <a:noFill/>
          <a:ln/>
        </p:spPr>
        <p:txBody>
          <a:bodyPr wrap="square" lIns="0" tIns="0" rIns="0" bIns="0" rtlCol="0" anchor="ctr"/>
          <a:lstStyle/>
          <a:p>
            <a:pPr algn="ctr" indent="0" marL="0">
              <a:lnSpc>
                <a:spcPts val="1920"/>
              </a:lnSpc>
              <a:buNone/>
            </a:pPr>
            <a:r>
              <a:rPr lang="en-US" sz="1600" b="1" dirty="0">
                <a:solidFill>
                  <a:srgbClr val="5FB4CE"/>
                </a:solidFill>
                <a:latin typeface="Arial" pitchFamily="34" charset="0"/>
                <a:ea typeface="Arial" pitchFamily="34" charset="-122"/>
                <a:cs typeface="Arial" pitchFamily="34" charset="-120"/>
              </a:rPr>
              <a:t>Qué encontramos</a:t>
            </a:r>
            <a:endParaRPr lang="en-US" sz="1600" dirty="0"/>
          </a:p>
        </p:txBody>
      </p:sp>
      <p:sp>
        <p:nvSpPr>
          <p:cNvPr id="10" name="Shape 8"/>
          <p:cNvSpPr/>
          <p:nvPr/>
        </p:nvSpPr>
        <p:spPr>
          <a:xfrm>
            <a:off x="6089856" y="4251960"/>
            <a:ext cx="2012490" cy="475488"/>
          </a:xfrm>
          <a:prstGeom prst="roundRect">
            <a:avLst>
              <a:gd name="adj" fmla="val 11538"/>
            </a:avLst>
          </a:prstGeom>
          <a:ln w="12700">
            <a:solidFill>
              <a:srgbClr val="5FB4CE"/>
            </a:solidFill>
            <a:prstDash val="solid"/>
          </a:ln>
        </p:spPr>
      </p:sp>
      <p:sp>
        <p:nvSpPr>
          <p:cNvPr id="11" name="Text 9"/>
          <p:cNvSpPr txBox="1"/>
          <p:nvPr/>
        </p:nvSpPr>
        <p:spPr>
          <a:xfrm>
            <a:off x="6089856" y="4251960"/>
            <a:ext cx="2012490" cy="475488"/>
          </a:xfrm>
          <a:prstGeom prst="rect">
            <a:avLst/>
          </a:prstGeom>
          <a:noFill/>
          <a:ln/>
        </p:spPr>
        <p:txBody>
          <a:bodyPr wrap="square" lIns="0" tIns="0" rIns="0" bIns="0" rtlCol="0" anchor="ctr"/>
          <a:lstStyle/>
          <a:p>
            <a:pPr algn="ctr" indent="0" marL="0">
              <a:lnSpc>
                <a:spcPts val="1920"/>
              </a:lnSpc>
              <a:buNone/>
            </a:pPr>
            <a:r>
              <a:rPr lang="en-US" sz="1600" b="1" dirty="0">
                <a:solidFill>
                  <a:srgbClr val="5FB4CE"/>
                </a:solidFill>
                <a:latin typeface="Arial" pitchFamily="34" charset="0"/>
                <a:ea typeface="Arial" pitchFamily="34" charset="-122"/>
                <a:cs typeface="Arial" pitchFamily="34" charset="-120"/>
              </a:rPr>
              <a:t>Qué decidimos</a:t>
            </a:r>
            <a:endParaRPr lang="en-US" sz="1600" dirty="0"/>
          </a:p>
        </p:txBody>
      </p:sp>
      <p:sp>
        <p:nvSpPr>
          <p:cNvPr id="12" name="Text 10"/>
          <p:cNvSpPr txBox="1"/>
          <p:nvPr/>
        </p:nvSpPr>
        <p:spPr>
          <a:xfrm>
            <a:off x="822960" y="5257800"/>
            <a:ext cx="10515600" cy="365760"/>
          </a:xfrm>
          <a:prstGeom prst="rect">
            <a:avLst/>
          </a:prstGeom>
          <a:noFill/>
          <a:ln/>
        </p:spPr>
        <p:txBody>
          <a:bodyPr wrap="square" lIns="0" tIns="0" rIns="0" bIns="0" rtlCol="0" anchor="ctr"/>
          <a:lstStyle/>
          <a:p>
            <a:pPr algn="l" indent="0" marL="0">
              <a:lnSpc>
                <a:spcPts val="1800"/>
              </a:lnSpc>
              <a:buNone/>
            </a:pPr>
            <a:r>
              <a:rPr lang="en-US" sz="1500" dirty="0">
                <a:solidFill>
                  <a:srgbClr val="AEC2CD"/>
                </a:solidFill>
                <a:latin typeface="Arial" pitchFamily="34" charset="0"/>
                <a:ea typeface="Arial" pitchFamily="34" charset="-122"/>
                <a:cs typeface="Arial" pitchFamily="34" charset="-120"/>
              </a:rPr>
              <a:t>Proyecto 1 · Caso 3 · OpenCart Demo 4.0.2.3 · 25/09/2026</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CS5383 - Pruebas y Verificacion de Software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Proyecto 1 - Caso 3 - Grupo 5 - Exposicion final</dc:title>
  <dc:subject>PptxGenJS Presentation</dc:subject>
  <dc:creator>Grupo 5 - Franco Roque Castillo, Granit Espinoza Salazar</dc:creator>
  <cp:lastModifiedBy>Grupo 5 - Franco Roque Castillo, Granit Espinoza Salazar</cp:lastModifiedBy>
  <cp:revision>1</cp:revision>
  <dcterms:created xsi:type="dcterms:W3CDTF">2026-09-26T00:31:22Z</dcterms:created>
  <dcterms:modified xsi:type="dcterms:W3CDTF">2026-09-26T00:31:22Z</dcterms:modified>
</cp:coreProperties>
</file>